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schemas.openxmlformats.org/officeDocument/2006/relationships/slide" Target="slides/slide20.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de15cde0f9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de15cde0f9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g3de15cde0f9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5C"/>
        </a:solidFill>
      </p:bgPr>
    </p:bg>
    <p:spTree>
      <p:nvGrpSpPr>
        <p:cNvPr id="15" name="Shape 15"/>
        <p:cNvGrpSpPr/>
        <p:nvPr/>
      </p:nvGrpSpPr>
      <p:grpSpPr>
        <a:xfrm>
          <a:off x="0" y="0"/>
          <a:ext cx="0" cy="0"/>
          <a:chOff x="0" y="0"/>
          <a:chExt cx="0" cy="0"/>
        </a:xfrm>
      </p:grpSpPr>
      <p:sp>
        <p:nvSpPr>
          <p:cNvPr id="16" name="Google Shape;16;p3"/>
          <p:cNvSpPr/>
          <p:nvPr/>
        </p:nvSpPr>
        <p:spPr>
          <a:xfrm>
            <a:off x="5943600" y="-457200"/>
            <a:ext cx="3657600" cy="6057900"/>
          </a:xfrm>
          <a:prstGeom prst="rect">
            <a:avLst/>
          </a:prstGeom>
          <a:solidFill>
            <a:srgbClr val="2A4E72"/>
          </a:solidFill>
          <a:ln cap="flat" cmpd="sng" w="12700">
            <a:solidFill>
              <a:srgbClr val="2A4E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4389120"/>
            <a:ext cx="9144000" cy="754380"/>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457200" y="1737360"/>
            <a:ext cx="73152" cy="192024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685800" y="1691640"/>
            <a:ext cx="5029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PARTCAST</a:t>
            </a:r>
            <a:endParaRPr b="0" i="0" sz="5200" u="none" cap="none" strike="noStrike">
              <a:solidFill>
                <a:schemeClr val="dk1"/>
              </a:solidFill>
              <a:latin typeface="Calibri"/>
              <a:ea typeface="Calibri"/>
              <a:cs typeface="Calibri"/>
              <a:sym typeface="Calibri"/>
            </a:endParaRPr>
          </a:p>
        </p:txBody>
      </p:sp>
      <p:sp>
        <p:nvSpPr>
          <p:cNvPr id="20" name="Google Shape;20;p3"/>
          <p:cNvSpPr/>
          <p:nvPr/>
        </p:nvSpPr>
        <p:spPr>
          <a:xfrm>
            <a:off x="685800" y="2542032"/>
            <a:ext cx="512064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C4DC"/>
              </a:buClr>
              <a:buSzPts val="1300"/>
              <a:buFont typeface="Calibri"/>
              <a:buNone/>
            </a:pPr>
            <a:r>
              <a:rPr b="0" i="0" lang="en-US" sz="1300" u="none" cap="none" strike="noStrike">
                <a:solidFill>
                  <a:srgbClr val="A8C4DC"/>
                </a:solidFill>
                <a:latin typeface="Calibri"/>
                <a:ea typeface="Calibri"/>
                <a:cs typeface="Calibri"/>
                <a:sym typeface="Calibri"/>
              </a:rPr>
              <a:t>AI-native demand planning for Aerospace</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A8C4DC"/>
              </a:buClr>
              <a:buSzPts val="1300"/>
              <a:buFont typeface="Calibri"/>
              <a:buNone/>
            </a:pPr>
            <a:r>
              <a:rPr b="0" i="0" lang="en-US" sz="1300" u="none" cap="none" strike="noStrike">
                <a:solidFill>
                  <a:srgbClr val="A8C4DC"/>
                </a:solidFill>
                <a:latin typeface="Calibri"/>
                <a:ea typeface="Calibri"/>
                <a:cs typeface="Calibri"/>
                <a:sym typeface="Calibri"/>
              </a:rPr>
              <a:t>Maintenance, Repair, and Overhaul (MRO)</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A8C4DC"/>
              </a:buClr>
              <a:buSzPts val="1300"/>
              <a:buFont typeface="Calibri"/>
              <a:buNone/>
            </a:pPr>
            <a:r>
              <a:rPr b="0" i="0" lang="en-US" sz="1300" u="none" cap="none" strike="noStrike">
                <a:solidFill>
                  <a:srgbClr val="A8C4DC"/>
                </a:solidFill>
                <a:latin typeface="Calibri"/>
                <a:ea typeface="Calibri"/>
                <a:cs typeface="Calibri"/>
                <a:sym typeface="Calibri"/>
              </a:rPr>
              <a:t>spare parts</a:t>
            </a:r>
            <a:endParaRPr b="0" i="0" sz="1300" u="none" cap="none" strike="noStrike">
              <a:solidFill>
                <a:schemeClr val="dk1"/>
              </a:solidFill>
              <a:latin typeface="Calibri"/>
              <a:ea typeface="Calibri"/>
              <a:cs typeface="Calibri"/>
              <a:sym typeface="Calibri"/>
            </a:endParaRPr>
          </a:p>
        </p:txBody>
      </p:sp>
      <p:cxnSp>
        <p:nvCxnSpPr>
          <p:cNvPr id="21" name="Google Shape;21;p3"/>
          <p:cNvCxnSpPr/>
          <p:nvPr/>
        </p:nvCxnSpPr>
        <p:spPr>
          <a:xfrm>
            <a:off x="685800" y="3657600"/>
            <a:ext cx="5029200" cy="0"/>
          </a:xfrm>
          <a:prstGeom prst="straightConnector1">
            <a:avLst/>
          </a:prstGeom>
          <a:noFill/>
          <a:ln cap="flat" cmpd="sng" w="12700">
            <a:solidFill>
              <a:srgbClr val="2A4E72"/>
            </a:solidFill>
            <a:prstDash val="solid"/>
            <a:round/>
            <a:headEnd len="sm" w="sm" type="none"/>
            <a:tailEnd len="sm" w="sm" type="none"/>
          </a:ln>
        </p:spPr>
      </p:cxnSp>
      <p:sp>
        <p:nvSpPr>
          <p:cNvPr id="22" name="Google Shape;22;p3"/>
          <p:cNvSpPr/>
          <p:nvPr/>
        </p:nvSpPr>
        <p:spPr>
          <a:xfrm>
            <a:off x="685800" y="3749040"/>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A8C9"/>
              </a:buClr>
              <a:buSzPts val="1000"/>
              <a:buFont typeface="Calibri"/>
              <a:buNone/>
            </a:pPr>
            <a:r>
              <a:rPr b="0" i="0" lang="en-US" sz="1000" u="none" cap="none" strike="noStrike">
                <a:solidFill>
                  <a:srgbClr val="7FA8C9"/>
                </a:solidFill>
                <a:latin typeface="Calibri"/>
                <a:ea typeface="Calibri"/>
                <a:cs typeface="Calibri"/>
                <a:sym typeface="Calibri"/>
              </a:rPr>
              <a:t>PM Assignment  ·  Arad Adler</a:t>
            </a:r>
            <a:endParaRPr b="0" i="0" sz="1000" u="none" cap="none" strike="noStrike">
              <a:solidFill>
                <a:schemeClr val="dk1"/>
              </a:solidFill>
              <a:latin typeface="Calibri"/>
              <a:ea typeface="Calibri"/>
              <a:cs typeface="Calibri"/>
              <a:sym typeface="Calibri"/>
            </a:endParaRPr>
          </a:p>
        </p:txBody>
      </p:sp>
      <p:sp>
        <p:nvSpPr>
          <p:cNvPr id="23" name="Google Shape;23;p3"/>
          <p:cNvSpPr/>
          <p:nvPr/>
        </p:nvSpPr>
        <p:spPr>
          <a:xfrm>
            <a:off x="685800" y="4005072"/>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A8C9"/>
              </a:buClr>
              <a:buSzPts val="1000"/>
              <a:buFont typeface="Calibri"/>
              <a:buNone/>
            </a:pPr>
            <a:r>
              <a:rPr b="0" i="0" lang="en-US" sz="1000" u="none" cap="none" strike="noStrike">
                <a:solidFill>
                  <a:srgbClr val="7FA8C9"/>
                </a:solidFill>
                <a:latin typeface="Calibri"/>
                <a:ea typeface="Calibri"/>
                <a:cs typeface="Calibri"/>
                <a:sym typeface="Calibri"/>
              </a:rPr>
              <a:t>Submitted for: Avaton  ·  April 2026</a:t>
            </a:r>
            <a:endParaRPr b="0" i="0" sz="1000" u="none" cap="none" strike="noStrike">
              <a:solidFill>
                <a:schemeClr val="dk1"/>
              </a:solidFill>
              <a:latin typeface="Calibri"/>
              <a:ea typeface="Calibri"/>
              <a:cs typeface="Calibri"/>
              <a:sym typeface="Calibri"/>
            </a:endParaRPr>
          </a:p>
        </p:txBody>
      </p:sp>
      <p:sp>
        <p:nvSpPr>
          <p:cNvPr id="24" name="Google Shape;24;p3"/>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0" name="Shape 30"/>
        <p:cNvGrpSpPr/>
        <p:nvPr/>
      </p:nvGrpSpPr>
      <p:grpSpPr>
        <a:xfrm>
          <a:off x="0" y="0"/>
          <a:ext cx="0" cy="0"/>
          <a:chOff x="0" y="0"/>
          <a:chExt cx="0" cy="0"/>
        </a:xfrm>
      </p:grpSpPr>
      <p:sp>
        <p:nvSpPr>
          <p:cNvPr id="31" name="Google Shape;31;p4"/>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Problem Statement</a:t>
            </a:r>
            <a:endParaRPr b="0" i="0" sz="2000" u="none" cap="none" strike="noStrike">
              <a:solidFill>
                <a:schemeClr val="dk1"/>
              </a:solidFill>
              <a:latin typeface="Calibri"/>
              <a:ea typeface="Calibri"/>
              <a:cs typeface="Calibri"/>
              <a:sym typeface="Calibri"/>
            </a:endParaRPr>
          </a:p>
        </p:txBody>
      </p:sp>
      <p:sp>
        <p:nvSpPr>
          <p:cNvPr id="34" name="Google Shape;34;p4"/>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36" name="Google Shape;36;p4"/>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2</a:t>
            </a:r>
            <a:endParaRPr b="0" i="0" sz="750" u="none" cap="none" strike="noStrike">
              <a:solidFill>
                <a:schemeClr val="dk1"/>
              </a:solidFill>
              <a:latin typeface="Calibri"/>
              <a:ea typeface="Calibri"/>
              <a:cs typeface="Calibri"/>
              <a:sym typeface="Calibri"/>
            </a:endParaRPr>
          </a:p>
        </p:txBody>
      </p:sp>
      <p:sp>
        <p:nvSpPr>
          <p:cNvPr id="37" name="Google Shape;37;p4"/>
          <p:cNvSpPr/>
          <p:nvPr/>
        </p:nvSpPr>
        <p:spPr>
          <a:xfrm>
            <a:off x="274325" y="749800"/>
            <a:ext cx="8595300" cy="13440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274325" y="749800"/>
            <a:ext cx="54900" cy="13440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420624" y="841248"/>
            <a:ext cx="41148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01</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868680" y="841248"/>
            <a:ext cx="7863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100"/>
              <a:buFont typeface="Calibri"/>
              <a:buNone/>
            </a:pPr>
            <a:r>
              <a:rPr b="1" i="0" lang="en-US" sz="1100" u="none" cap="none" strike="noStrike">
                <a:solidFill>
                  <a:srgbClr val="1B3A5C"/>
                </a:solidFill>
                <a:latin typeface="Calibri"/>
                <a:ea typeface="Calibri"/>
                <a:cs typeface="Calibri"/>
                <a:sym typeface="Calibri"/>
              </a:rPr>
              <a:t>MRO demand is forward-deterministic, not probabilistic.</a:t>
            </a:r>
            <a:endParaRPr b="0" i="0" sz="1100" u="none" cap="none" strike="noStrike">
              <a:solidFill>
                <a:schemeClr val="dk1"/>
              </a:solidFill>
              <a:latin typeface="Calibri"/>
              <a:ea typeface="Calibri"/>
              <a:cs typeface="Calibri"/>
              <a:sym typeface="Calibri"/>
            </a:endParaRPr>
          </a:p>
        </p:txBody>
      </p:sp>
      <p:sp>
        <p:nvSpPr>
          <p:cNvPr id="41" name="Google Shape;41;p4"/>
          <p:cNvSpPr/>
          <p:nvPr/>
        </p:nvSpPr>
        <p:spPr>
          <a:xfrm>
            <a:off x="868680" y="1143000"/>
            <a:ext cx="7863840" cy="62179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20"/>
              <a:buFont typeface="Calibri"/>
              <a:buNone/>
            </a:pPr>
            <a:r>
              <a:rPr b="0" i="0" lang="en-US" sz="820" u="none" cap="none" strike="noStrike">
                <a:solidFill>
                  <a:srgbClr val="2E3A47"/>
                </a:solidFill>
                <a:latin typeface="Calibri"/>
                <a:ea typeface="Calibri"/>
                <a:cs typeface="Calibri"/>
                <a:sym typeface="Calibri"/>
              </a:rPr>
              <a:t>A large share of future spare parts demand in aerospace Maintenance, Repair, and Overhaul (MRO) is knowable in advance. When an aircraft approaches a C-check, a scheduled heavy maintenance event, the required parts are already encoded in the maintenance program, the aircraft's flight-hours log, the airworthiness directives governing that airframe type, and the flight schedule driving its utilization rate. Compliance deadlines on those directives create hard replacement triggers on specific part numbers. Contract SLAs define which operators must be served and with what turnaround commitments. </a:t>
            </a:r>
            <a:endParaRPr b="0" i="0" sz="820" u="none" cap="none" strike="noStrike">
              <a:solidFill>
                <a:srgbClr val="2E3A47"/>
              </a:solidFill>
              <a:latin typeface="Calibri"/>
              <a:ea typeface="Calibri"/>
              <a:cs typeface="Calibri"/>
              <a:sym typeface="Calibri"/>
            </a:endParaRPr>
          </a:p>
          <a:p>
            <a:pPr indent="0" lvl="0" marL="0" marR="0" rtl="0" algn="l">
              <a:lnSpc>
                <a:spcPct val="125000"/>
              </a:lnSpc>
              <a:spcBef>
                <a:spcPts val="0"/>
              </a:spcBef>
              <a:spcAft>
                <a:spcPts val="0"/>
              </a:spcAft>
              <a:buClr>
                <a:srgbClr val="2E3A47"/>
              </a:buClr>
              <a:buSzPts val="820"/>
              <a:buFont typeface="Calibri"/>
              <a:buNone/>
            </a:pPr>
            <a:r>
              <a:rPr b="0" i="0" lang="en-US" sz="820" u="none" cap="none" strike="noStrike">
                <a:solidFill>
                  <a:srgbClr val="2E3A47"/>
                </a:solidFill>
                <a:latin typeface="Calibri"/>
                <a:ea typeface="Calibri"/>
                <a:cs typeface="Calibri"/>
                <a:sym typeface="Calibri"/>
              </a:rPr>
              <a:t>The demand trigger is an engineering event with a known time horizon and a specific parts list attached. That makes it categorically different from the consumer or industrial demand that incumbent planning tools were built to sense.</a:t>
            </a:r>
            <a:endParaRPr b="0" i="0" sz="820" u="none" cap="none" strike="noStrike">
              <a:solidFill>
                <a:schemeClr val="dk1"/>
              </a:solidFill>
              <a:latin typeface="Calibri"/>
              <a:ea typeface="Calibri"/>
              <a:cs typeface="Calibri"/>
              <a:sym typeface="Calibri"/>
            </a:endParaRPr>
          </a:p>
        </p:txBody>
      </p:sp>
      <p:sp>
        <p:nvSpPr>
          <p:cNvPr id="42" name="Google Shape;42;p4"/>
          <p:cNvSpPr/>
          <p:nvPr/>
        </p:nvSpPr>
        <p:spPr>
          <a:xfrm>
            <a:off x="274320" y="2209121"/>
            <a:ext cx="8595300" cy="1069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274320" y="2209121"/>
            <a:ext cx="54900" cy="10698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420624" y="2300561"/>
            <a:ext cx="4116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02</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868680" y="2300561"/>
            <a:ext cx="7863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100"/>
              <a:buFont typeface="Calibri"/>
              <a:buNone/>
            </a:pPr>
            <a:r>
              <a:rPr b="1" i="0" lang="en-US" sz="1100" u="none" cap="none" strike="noStrike">
                <a:solidFill>
                  <a:srgbClr val="1B3A5C"/>
                </a:solidFill>
                <a:latin typeface="Calibri"/>
                <a:ea typeface="Calibri"/>
                <a:cs typeface="Calibri"/>
                <a:sym typeface="Calibri"/>
              </a:rPr>
              <a:t>Planners spend 60-70% of their review cycle on data reconciliation, not judgment.</a:t>
            </a:r>
            <a:endParaRPr b="0" i="0" sz="1100" u="none" cap="none" strike="noStrike">
              <a:solidFill>
                <a:schemeClr val="dk1"/>
              </a:solidFill>
              <a:latin typeface="Calibri"/>
              <a:ea typeface="Calibri"/>
              <a:cs typeface="Calibri"/>
              <a:sym typeface="Calibri"/>
            </a:endParaRPr>
          </a:p>
        </p:txBody>
      </p:sp>
      <p:sp>
        <p:nvSpPr>
          <p:cNvPr id="46" name="Google Shape;46;p4"/>
          <p:cNvSpPr/>
          <p:nvPr/>
        </p:nvSpPr>
        <p:spPr>
          <a:xfrm>
            <a:off x="868680" y="2602313"/>
            <a:ext cx="7863900" cy="62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20"/>
              <a:buFont typeface="Calibri"/>
              <a:buNone/>
            </a:pPr>
            <a:r>
              <a:rPr b="0" i="0" lang="en-US" sz="820" u="none" cap="none" strike="noStrike">
                <a:solidFill>
                  <a:srgbClr val="2E3A47"/>
                </a:solidFill>
                <a:latin typeface="Calibri"/>
                <a:ea typeface="Calibri"/>
                <a:cs typeface="Calibri"/>
                <a:sym typeface="Calibri"/>
              </a:rPr>
              <a:t>Instead of evaluating demand signals, analysts spend the majority of every planning cycle manually pulling ERP exports, airline schedule feeds, FAA and EASA AD portals, supplier portals, and accumulated spreadsheets and reconciling them into a consensus forecast by hand. By the time that forecast reaches the supply chain team, it is already stale. A new AD was issued. A tail had an unscheduled removal. A supplier moved a delivery date. No one updated the plan. The process fails not because planners are bad at their jobs. It fails because the architecture of the tooling they use was designed around a consumption-history model of demand.</a:t>
            </a:r>
            <a:endParaRPr b="0" i="0" sz="820" u="none" cap="none" strike="noStrike">
              <a:solidFill>
                <a:schemeClr val="dk1"/>
              </a:solidFill>
              <a:latin typeface="Calibri"/>
              <a:ea typeface="Calibri"/>
              <a:cs typeface="Calibri"/>
              <a:sym typeface="Calibri"/>
            </a:endParaRPr>
          </a:p>
        </p:txBody>
      </p:sp>
      <p:sp>
        <p:nvSpPr>
          <p:cNvPr id="47" name="Google Shape;47;p4"/>
          <p:cNvSpPr/>
          <p:nvPr/>
        </p:nvSpPr>
        <p:spPr>
          <a:xfrm>
            <a:off x="274320" y="3379553"/>
            <a:ext cx="8595300" cy="1069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274320" y="3379553"/>
            <a:ext cx="54900" cy="10698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420624" y="3470993"/>
            <a:ext cx="4116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03</a:t>
            </a:r>
            <a:endParaRPr b="0" i="0" sz="1300" u="none" cap="none" strike="noStrike">
              <a:solidFill>
                <a:schemeClr val="dk1"/>
              </a:solidFill>
              <a:latin typeface="Calibri"/>
              <a:ea typeface="Calibri"/>
              <a:cs typeface="Calibri"/>
              <a:sym typeface="Calibri"/>
            </a:endParaRPr>
          </a:p>
        </p:txBody>
      </p:sp>
      <p:sp>
        <p:nvSpPr>
          <p:cNvPr id="50" name="Google Shape;50;p4"/>
          <p:cNvSpPr/>
          <p:nvPr/>
        </p:nvSpPr>
        <p:spPr>
          <a:xfrm>
            <a:off x="868680" y="3470993"/>
            <a:ext cx="7863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100"/>
              <a:buFont typeface="Calibri"/>
              <a:buNone/>
            </a:pPr>
            <a:r>
              <a:rPr b="1" i="0" lang="en-US" sz="1100" u="none" cap="none" strike="noStrike">
                <a:solidFill>
                  <a:srgbClr val="1B3A5C"/>
                </a:solidFill>
                <a:latin typeface="Calibri"/>
                <a:ea typeface="Calibri"/>
                <a:cs typeface="Calibri"/>
                <a:sym typeface="Calibri"/>
              </a:rPr>
              <a:t>The consequence of getting it wrong is binary and catastrophic.</a:t>
            </a:r>
            <a:endParaRPr b="0" i="0" sz="1100" u="none" cap="none" strike="noStrike">
              <a:solidFill>
                <a:schemeClr val="dk1"/>
              </a:solidFill>
              <a:latin typeface="Calibri"/>
              <a:ea typeface="Calibri"/>
              <a:cs typeface="Calibri"/>
              <a:sym typeface="Calibri"/>
            </a:endParaRPr>
          </a:p>
        </p:txBody>
      </p:sp>
      <p:sp>
        <p:nvSpPr>
          <p:cNvPr id="51" name="Google Shape;51;p4"/>
          <p:cNvSpPr/>
          <p:nvPr/>
        </p:nvSpPr>
        <p:spPr>
          <a:xfrm>
            <a:off x="868680" y="3772745"/>
            <a:ext cx="7863900" cy="62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20"/>
              <a:buFont typeface="Calibri"/>
              <a:buNone/>
            </a:pPr>
            <a:r>
              <a:rPr b="0" i="0" lang="en-US" sz="820" u="none" cap="none" strike="noStrike">
                <a:solidFill>
                  <a:srgbClr val="2E3A47"/>
                </a:solidFill>
                <a:latin typeface="Calibri"/>
                <a:ea typeface="Calibri"/>
                <a:cs typeface="Calibri"/>
                <a:sym typeface="Calibri"/>
              </a:rPr>
              <a:t>In most supply chains, a forecast miss degrades service levels, orders are delayed, customers are frustrated. In MRO, running out of a critical part grounds an aircraft. A grounded commercial aircraft costs an operator $150,000 or more per hour in lost revenue, crew costs, and passenger compensation. Many critical parts are single-source with 12-18 month lead times, no spot market, and in some cases export licensing requirements that add weeks to the procurement timeline. When you are out of the part, you are out. The cost of a forecast miss is not a premium freight charge, it is an aircraft on the ground for weeks.</a:t>
            </a:r>
            <a:endParaRPr b="0" i="0" sz="82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6" name="Shape 56"/>
        <p:cNvGrpSpPr/>
        <p:nvPr/>
      </p:nvGrpSpPr>
      <p:grpSpPr>
        <a:xfrm>
          <a:off x="0" y="0"/>
          <a:ext cx="0" cy="0"/>
          <a:chOff x="0" y="0"/>
          <a:chExt cx="0" cy="0"/>
        </a:xfrm>
      </p:grpSpPr>
      <p:sp>
        <p:nvSpPr>
          <p:cNvPr id="57" name="Google Shape;57;p5"/>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Where Traditional Planning Tools Break Down</a:t>
            </a:r>
            <a:endParaRPr b="0" i="0" sz="2000" u="none" cap="none" strike="noStrike">
              <a:solidFill>
                <a:schemeClr val="dk1"/>
              </a:solidFill>
              <a:latin typeface="Calibri"/>
              <a:ea typeface="Calibri"/>
              <a:cs typeface="Calibri"/>
              <a:sym typeface="Calibri"/>
            </a:endParaRPr>
          </a:p>
        </p:txBody>
      </p:sp>
      <p:sp>
        <p:nvSpPr>
          <p:cNvPr id="60" name="Google Shape;60;p5"/>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62" name="Google Shape;62;p5"/>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3</a:t>
            </a:r>
            <a:endParaRPr b="0" i="0" sz="750" u="none" cap="none" strike="noStrike">
              <a:solidFill>
                <a:schemeClr val="dk1"/>
              </a:solidFill>
              <a:latin typeface="Calibri"/>
              <a:ea typeface="Calibri"/>
              <a:cs typeface="Calibri"/>
              <a:sym typeface="Calibri"/>
            </a:endParaRPr>
          </a:p>
        </p:txBody>
      </p:sp>
      <p:sp>
        <p:nvSpPr>
          <p:cNvPr id="63" name="Google Shape;63;p5"/>
          <p:cNvSpPr/>
          <p:nvPr/>
        </p:nvSpPr>
        <p:spPr>
          <a:xfrm>
            <a:off x="274320" y="713232"/>
            <a:ext cx="8595360" cy="3291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B7A8D"/>
              </a:buClr>
              <a:buSzPts val="880"/>
              <a:buFont typeface="Calibri"/>
              <a:buNone/>
            </a:pPr>
            <a:r>
              <a:rPr b="0" i="1" lang="en-US" sz="880" u="none" cap="none" strike="noStrike">
                <a:solidFill>
                  <a:srgbClr val="6B7A8D"/>
                </a:solidFill>
                <a:latin typeface="Calibri"/>
                <a:ea typeface="Calibri"/>
                <a:cs typeface="Calibri"/>
                <a:sym typeface="Calibri"/>
              </a:rPr>
              <a:t>Traditional planning applications (such as Kinaxis and others) are powerful platforms built for industries where demand flows through point-of-sale systems and distributor orders. Their core architectural assumption that demand is a statistical property of time series does not fit well for aerospace MRO.</a:t>
            </a:r>
            <a:endParaRPr b="0" i="0" sz="880" u="none" cap="none" strike="noStrike">
              <a:solidFill>
                <a:schemeClr val="dk1"/>
              </a:solidFill>
              <a:latin typeface="Calibri"/>
              <a:ea typeface="Calibri"/>
              <a:cs typeface="Calibri"/>
              <a:sym typeface="Calibri"/>
            </a:endParaRPr>
          </a:p>
        </p:txBody>
      </p:sp>
      <p:sp>
        <p:nvSpPr>
          <p:cNvPr id="64" name="Google Shape;64;p5"/>
          <p:cNvSpPr/>
          <p:nvPr/>
        </p:nvSpPr>
        <p:spPr>
          <a:xfrm>
            <a:off x="274320" y="1115568"/>
            <a:ext cx="2011680" cy="347472"/>
          </a:xfrm>
          <a:prstGeom prst="rect">
            <a:avLst/>
          </a:prstGeom>
          <a:solidFill>
            <a:srgbClr val="1B3A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347472" y="1115568"/>
            <a:ext cx="19202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1150" u="none" cap="none" strike="noStrike">
                <a:solidFill>
                  <a:srgbClr val="FFFFFF"/>
                </a:solidFill>
                <a:latin typeface="Calibri"/>
                <a:ea typeface="Calibri"/>
                <a:cs typeface="Calibri"/>
                <a:sym typeface="Calibri"/>
              </a:rPr>
              <a:t>Capability</a:t>
            </a:r>
            <a:endParaRPr b="0" i="0" sz="1150" u="none" cap="none" strike="noStrike">
              <a:solidFill>
                <a:schemeClr val="dk1"/>
              </a:solidFill>
              <a:latin typeface="Calibri"/>
              <a:ea typeface="Calibri"/>
              <a:cs typeface="Calibri"/>
              <a:sym typeface="Calibri"/>
            </a:endParaRPr>
          </a:p>
        </p:txBody>
      </p:sp>
      <p:sp>
        <p:nvSpPr>
          <p:cNvPr id="66" name="Google Shape;66;p5"/>
          <p:cNvSpPr/>
          <p:nvPr/>
        </p:nvSpPr>
        <p:spPr>
          <a:xfrm>
            <a:off x="2331720" y="1115568"/>
            <a:ext cx="3200400" cy="347472"/>
          </a:xfrm>
          <a:prstGeom prst="rect">
            <a:avLst/>
          </a:prstGeom>
          <a:solidFill>
            <a:srgbClr val="2A4E7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2404872" y="1115568"/>
            <a:ext cx="31089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1150" u="none" cap="none" strike="noStrike">
                <a:solidFill>
                  <a:srgbClr val="FFFFFF"/>
                </a:solidFill>
                <a:latin typeface="Calibri"/>
                <a:ea typeface="Calibri"/>
                <a:cs typeface="Calibri"/>
                <a:sym typeface="Calibri"/>
              </a:rPr>
              <a:t>What Aerospace MRO Requires</a:t>
            </a:r>
            <a:endParaRPr b="0" i="0" sz="1150" u="none" cap="none" strike="noStrike">
              <a:solidFill>
                <a:schemeClr val="dk1"/>
              </a:solidFill>
              <a:latin typeface="Calibri"/>
              <a:ea typeface="Calibri"/>
              <a:cs typeface="Calibri"/>
              <a:sym typeface="Calibri"/>
            </a:endParaRPr>
          </a:p>
        </p:txBody>
      </p:sp>
      <p:sp>
        <p:nvSpPr>
          <p:cNvPr id="68" name="Google Shape;68;p5"/>
          <p:cNvSpPr/>
          <p:nvPr/>
        </p:nvSpPr>
        <p:spPr>
          <a:xfrm>
            <a:off x="5577840" y="1115568"/>
            <a:ext cx="3291840" cy="347472"/>
          </a:xfrm>
          <a:prstGeom prst="rect">
            <a:avLst/>
          </a:prstGeom>
          <a:solidFill>
            <a:srgbClr val="3D5C6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5650992" y="1115568"/>
            <a:ext cx="32004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1150" u="none" cap="none" strike="noStrike">
                <a:solidFill>
                  <a:srgbClr val="FFFFFF"/>
                </a:solidFill>
                <a:latin typeface="Calibri"/>
                <a:ea typeface="Calibri"/>
                <a:cs typeface="Calibri"/>
                <a:sym typeface="Calibri"/>
              </a:rPr>
              <a:t>What Traditional Planning Systems Deliver</a:t>
            </a:r>
            <a:endParaRPr b="0" i="0" sz="1150" u="none" cap="none" strike="noStrike">
              <a:solidFill>
                <a:schemeClr val="dk1"/>
              </a:solidFill>
              <a:latin typeface="Calibri"/>
              <a:ea typeface="Calibri"/>
              <a:cs typeface="Calibri"/>
              <a:sym typeface="Calibri"/>
            </a:endParaRPr>
          </a:p>
        </p:txBody>
      </p:sp>
      <p:sp>
        <p:nvSpPr>
          <p:cNvPr id="70" name="Google Shape;70;p5"/>
          <p:cNvSpPr/>
          <p:nvPr/>
        </p:nvSpPr>
        <p:spPr>
          <a:xfrm>
            <a:off x="274320" y="1463040"/>
            <a:ext cx="2011680" cy="676656"/>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2331720" y="1463040"/>
            <a:ext cx="3200400" cy="676656"/>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5577840" y="1463040"/>
            <a:ext cx="3291840" cy="676656"/>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365760" y="1463040"/>
            <a:ext cx="18745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20"/>
              <a:buFont typeface="Calibri"/>
              <a:buNone/>
            </a:pPr>
            <a:r>
              <a:rPr b="1" i="0" lang="en-US" sz="1020" u="none" cap="none" strike="noStrike">
                <a:solidFill>
                  <a:srgbClr val="1B3A5C"/>
                </a:solidFill>
                <a:latin typeface="Calibri"/>
                <a:ea typeface="Calibri"/>
                <a:cs typeface="Calibri"/>
                <a:sym typeface="Calibri"/>
              </a:rPr>
              <a:t>Demand signal type</a:t>
            </a:r>
            <a:endParaRPr b="0" i="0" sz="1020" u="none" cap="none" strike="noStrike">
              <a:solidFill>
                <a:schemeClr val="dk1"/>
              </a:solidFill>
              <a:latin typeface="Calibri"/>
              <a:ea typeface="Calibri"/>
              <a:cs typeface="Calibri"/>
              <a:sym typeface="Calibri"/>
            </a:endParaRPr>
          </a:p>
        </p:txBody>
      </p:sp>
      <p:sp>
        <p:nvSpPr>
          <p:cNvPr id="74" name="Google Shape;74;p5"/>
          <p:cNvSpPr/>
          <p:nvPr/>
        </p:nvSpPr>
        <p:spPr>
          <a:xfrm>
            <a:off x="2423160" y="1517904"/>
            <a:ext cx="306324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Forward-deterministic: maintenance events, AD compliance deadlines, flight schedules, and contract SLAs create knowable future demand before it occurs</a:t>
            </a:r>
            <a:endParaRPr b="0" i="0" sz="780" u="none" cap="none" strike="noStrike">
              <a:solidFill>
                <a:schemeClr val="dk1"/>
              </a:solidFill>
              <a:latin typeface="Calibri"/>
              <a:ea typeface="Calibri"/>
              <a:cs typeface="Calibri"/>
              <a:sym typeface="Calibri"/>
            </a:endParaRPr>
          </a:p>
        </p:txBody>
      </p:sp>
      <p:sp>
        <p:nvSpPr>
          <p:cNvPr id="75" name="Google Shape;75;p5"/>
          <p:cNvSpPr/>
          <p:nvPr/>
        </p:nvSpPr>
        <p:spPr>
          <a:xfrm>
            <a:off x="5669280" y="1517904"/>
            <a:ext cx="315468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Consumption-history model: statistical pattern detection on historical actuals, designed to extrapolate past behavior, not reason about future scheduled events</a:t>
            </a:r>
            <a:endParaRPr b="0" i="0" sz="780" u="none" cap="none" strike="noStrike">
              <a:solidFill>
                <a:schemeClr val="dk1"/>
              </a:solidFill>
              <a:latin typeface="Calibri"/>
              <a:ea typeface="Calibri"/>
              <a:cs typeface="Calibri"/>
              <a:sym typeface="Calibri"/>
            </a:endParaRPr>
          </a:p>
        </p:txBody>
      </p:sp>
      <p:sp>
        <p:nvSpPr>
          <p:cNvPr id="76" name="Google Shape;76;p5"/>
          <p:cNvSpPr/>
          <p:nvPr/>
        </p:nvSpPr>
        <p:spPr>
          <a:xfrm>
            <a:off x="274320" y="2139696"/>
            <a:ext cx="2011680" cy="676656"/>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2331720" y="2139696"/>
            <a:ext cx="3200400" cy="676656"/>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5577840" y="2139696"/>
            <a:ext cx="3291840" cy="676656"/>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365760" y="2139696"/>
            <a:ext cx="18745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20"/>
              <a:buFont typeface="Calibri"/>
              <a:buNone/>
            </a:pPr>
            <a:r>
              <a:rPr b="1" i="0" lang="en-US" sz="1020" u="none" cap="none" strike="noStrike">
                <a:solidFill>
                  <a:srgbClr val="1B3A5C"/>
                </a:solidFill>
                <a:latin typeface="Calibri"/>
                <a:ea typeface="Calibri"/>
                <a:cs typeface="Calibri"/>
                <a:sym typeface="Calibri"/>
              </a:rPr>
              <a:t>Inventory unit</a:t>
            </a:r>
            <a:endParaRPr b="0" i="0" sz="1020" u="none" cap="none" strike="noStrike">
              <a:solidFill>
                <a:schemeClr val="dk1"/>
              </a:solidFill>
              <a:latin typeface="Calibri"/>
              <a:ea typeface="Calibri"/>
              <a:cs typeface="Calibri"/>
              <a:sym typeface="Calibri"/>
            </a:endParaRPr>
          </a:p>
        </p:txBody>
      </p:sp>
      <p:sp>
        <p:nvSpPr>
          <p:cNvPr id="80" name="Google Shape;80;p5"/>
          <p:cNvSpPr/>
          <p:nvPr/>
        </p:nvSpPr>
        <p:spPr>
          <a:xfrm>
            <a:off x="2423160" y="2194560"/>
            <a:ext cx="306324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Serialized unit: each part carries a serial number, maintenance history, airworthiness certification status, and documentation chain required for installation</a:t>
            </a:r>
            <a:endParaRPr b="0" i="0" sz="780" u="none" cap="none" strike="noStrike">
              <a:solidFill>
                <a:schemeClr val="dk1"/>
              </a:solidFill>
              <a:latin typeface="Calibri"/>
              <a:ea typeface="Calibri"/>
              <a:cs typeface="Calibri"/>
              <a:sym typeface="Calibri"/>
            </a:endParaRPr>
          </a:p>
        </p:txBody>
      </p:sp>
      <p:sp>
        <p:nvSpPr>
          <p:cNvPr id="81" name="Google Shape;81;p5"/>
          <p:cNvSpPr/>
          <p:nvPr/>
        </p:nvSpPr>
        <p:spPr>
          <a:xfrm>
            <a:off x="5669280" y="2194560"/>
            <a:ext cx="315468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Fungible SKU: aggregate quantities with no individual unit tracking, no certification status, no airworthiness documentation requirement</a:t>
            </a:r>
            <a:endParaRPr b="0" i="0" sz="780" u="none" cap="none" strike="noStrike">
              <a:solidFill>
                <a:schemeClr val="dk1"/>
              </a:solidFill>
              <a:latin typeface="Calibri"/>
              <a:ea typeface="Calibri"/>
              <a:cs typeface="Calibri"/>
              <a:sym typeface="Calibri"/>
            </a:endParaRPr>
          </a:p>
        </p:txBody>
      </p:sp>
      <p:sp>
        <p:nvSpPr>
          <p:cNvPr id="82" name="Google Shape;82;p5"/>
          <p:cNvSpPr/>
          <p:nvPr/>
        </p:nvSpPr>
        <p:spPr>
          <a:xfrm>
            <a:off x="274320" y="2816352"/>
            <a:ext cx="2011680" cy="676656"/>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2331720" y="2816352"/>
            <a:ext cx="3200400" cy="676656"/>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5577840" y="2816352"/>
            <a:ext cx="3291840" cy="676656"/>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365760" y="2816352"/>
            <a:ext cx="18745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20"/>
              <a:buFont typeface="Calibri"/>
              <a:buNone/>
            </a:pPr>
            <a:r>
              <a:rPr b="1" i="0" lang="en-US" sz="1020" u="none" cap="none" strike="noStrike">
                <a:solidFill>
                  <a:srgbClr val="1B3A5C"/>
                </a:solidFill>
                <a:latin typeface="Calibri"/>
                <a:ea typeface="Calibri"/>
                <a:cs typeface="Calibri"/>
                <a:sym typeface="Calibri"/>
              </a:rPr>
              <a:t>Stockout consequence</a:t>
            </a:r>
            <a:endParaRPr b="0" i="0" sz="1020" u="none" cap="none" strike="noStrike">
              <a:solidFill>
                <a:schemeClr val="dk1"/>
              </a:solidFill>
              <a:latin typeface="Calibri"/>
              <a:ea typeface="Calibri"/>
              <a:cs typeface="Calibri"/>
              <a:sym typeface="Calibri"/>
            </a:endParaRPr>
          </a:p>
        </p:txBody>
      </p:sp>
      <p:sp>
        <p:nvSpPr>
          <p:cNvPr id="86" name="Google Shape;86;p5"/>
          <p:cNvSpPr/>
          <p:nvPr/>
        </p:nvSpPr>
        <p:spPr>
          <a:xfrm>
            <a:off x="2423160" y="2871216"/>
            <a:ext cx="306324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A stockout grounds an aircraft (AOG -- Aircraft on Ground) at $150K+ per hour. Holding an extra unit is a carrying cost. Running out is a crisis. These are not equivalent outcomes.</a:t>
            </a:r>
            <a:endParaRPr b="0" i="0" sz="780" u="none" cap="none" strike="noStrike">
              <a:solidFill>
                <a:schemeClr val="dk1"/>
              </a:solidFill>
              <a:latin typeface="Calibri"/>
              <a:ea typeface="Calibri"/>
              <a:cs typeface="Calibri"/>
              <a:sym typeface="Calibri"/>
            </a:endParaRPr>
          </a:p>
        </p:txBody>
      </p:sp>
      <p:sp>
        <p:nvSpPr>
          <p:cNvPr id="87" name="Google Shape;87;p5"/>
          <p:cNvSpPr/>
          <p:nvPr/>
        </p:nvSpPr>
        <p:spPr>
          <a:xfrm>
            <a:off x="5669280" y="2871216"/>
            <a:ext cx="315468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A stockout is a delayed order. Expedite routes and spot markets exist as a fallback. A miss is recoverable, just more expensive.</a:t>
            </a:r>
            <a:endParaRPr b="0" i="0" sz="780" u="none" cap="none" strike="noStrike">
              <a:solidFill>
                <a:schemeClr val="dk1"/>
              </a:solidFill>
              <a:latin typeface="Calibri"/>
              <a:ea typeface="Calibri"/>
              <a:cs typeface="Calibri"/>
              <a:sym typeface="Calibri"/>
            </a:endParaRPr>
          </a:p>
        </p:txBody>
      </p:sp>
      <p:sp>
        <p:nvSpPr>
          <p:cNvPr id="88" name="Google Shape;88;p5"/>
          <p:cNvSpPr/>
          <p:nvPr/>
        </p:nvSpPr>
        <p:spPr>
          <a:xfrm>
            <a:off x="274320" y="3493008"/>
            <a:ext cx="2011680" cy="676656"/>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2331720" y="3493008"/>
            <a:ext cx="3200400" cy="676656"/>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577840" y="3493008"/>
            <a:ext cx="3291840" cy="676656"/>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365760" y="3493008"/>
            <a:ext cx="18745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20"/>
              <a:buFont typeface="Calibri"/>
              <a:buNone/>
            </a:pPr>
            <a:r>
              <a:rPr b="1" i="0" lang="en-US" sz="1020" u="none" cap="none" strike="noStrike">
                <a:solidFill>
                  <a:srgbClr val="1B3A5C"/>
                </a:solidFill>
                <a:latin typeface="Calibri"/>
                <a:ea typeface="Calibri"/>
                <a:cs typeface="Calibri"/>
                <a:sym typeface="Calibri"/>
              </a:rPr>
              <a:t>Supplier structure</a:t>
            </a:r>
            <a:endParaRPr b="0" i="0" sz="1020" u="none" cap="none" strike="noStrike">
              <a:solidFill>
                <a:schemeClr val="dk1"/>
              </a:solidFill>
              <a:latin typeface="Calibri"/>
              <a:ea typeface="Calibri"/>
              <a:cs typeface="Calibri"/>
              <a:sym typeface="Calibri"/>
            </a:endParaRPr>
          </a:p>
        </p:txBody>
      </p:sp>
      <p:sp>
        <p:nvSpPr>
          <p:cNvPr id="92" name="Google Shape;92;p5"/>
          <p:cNvSpPr/>
          <p:nvPr/>
        </p:nvSpPr>
        <p:spPr>
          <a:xfrm>
            <a:off x="2423160" y="3547872"/>
            <a:ext cx="306324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Single-source with 12-18 month lead times, no spot market, potential export licensing requirements, when supply is exhausted, no alternative procurement path exists</a:t>
            </a:r>
            <a:endParaRPr b="0" i="0" sz="780" u="none" cap="none" strike="noStrike">
              <a:solidFill>
                <a:schemeClr val="dk1"/>
              </a:solidFill>
              <a:latin typeface="Calibri"/>
              <a:ea typeface="Calibri"/>
              <a:cs typeface="Calibri"/>
              <a:sym typeface="Calibri"/>
            </a:endParaRPr>
          </a:p>
        </p:txBody>
      </p:sp>
      <p:sp>
        <p:nvSpPr>
          <p:cNvPr id="93" name="Google Shape;93;p5"/>
          <p:cNvSpPr/>
          <p:nvPr/>
        </p:nvSpPr>
        <p:spPr>
          <a:xfrm>
            <a:off x="5669280" y="3547872"/>
            <a:ext cx="315468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Multi-source assumption: spot procurement and expedite are treated as available recovery options; lead time variability is a cost, not an absolute constraint</a:t>
            </a:r>
            <a:endParaRPr b="0" i="0" sz="780" u="none" cap="none" strike="noStrike">
              <a:solidFill>
                <a:schemeClr val="dk1"/>
              </a:solidFill>
              <a:latin typeface="Calibri"/>
              <a:ea typeface="Calibri"/>
              <a:cs typeface="Calibri"/>
              <a:sym typeface="Calibri"/>
            </a:endParaRPr>
          </a:p>
        </p:txBody>
      </p:sp>
      <p:sp>
        <p:nvSpPr>
          <p:cNvPr id="94" name="Google Shape;94;p5"/>
          <p:cNvSpPr/>
          <p:nvPr/>
        </p:nvSpPr>
        <p:spPr>
          <a:xfrm>
            <a:off x="274320" y="4169664"/>
            <a:ext cx="2011680" cy="676656"/>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2331720" y="4169664"/>
            <a:ext cx="3200400" cy="676656"/>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5577840" y="4169664"/>
            <a:ext cx="3291840" cy="676656"/>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365760" y="4169664"/>
            <a:ext cx="18745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20"/>
              <a:buFont typeface="Calibri"/>
              <a:buNone/>
            </a:pPr>
            <a:r>
              <a:rPr b="1" i="0" lang="en-US" sz="1020" u="none" cap="none" strike="noStrike">
                <a:solidFill>
                  <a:srgbClr val="1B3A5C"/>
                </a:solidFill>
                <a:latin typeface="Calibri"/>
                <a:ea typeface="Calibri"/>
                <a:cs typeface="Calibri"/>
                <a:sym typeface="Calibri"/>
              </a:rPr>
              <a:t>Org topology</a:t>
            </a:r>
            <a:endParaRPr b="0" i="0" sz="1020" u="none" cap="none" strike="noStrike">
              <a:solidFill>
                <a:schemeClr val="dk1"/>
              </a:solidFill>
              <a:latin typeface="Calibri"/>
              <a:ea typeface="Calibri"/>
              <a:cs typeface="Calibri"/>
              <a:sym typeface="Calibri"/>
            </a:endParaRPr>
          </a:p>
        </p:txBody>
      </p:sp>
      <p:sp>
        <p:nvSpPr>
          <p:cNvPr id="98" name="Google Shape;98;p5"/>
          <p:cNvSpPr/>
          <p:nvPr/>
        </p:nvSpPr>
        <p:spPr>
          <a:xfrm>
            <a:off x="2423160" y="4224528"/>
            <a:ext cx="306324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Split demand and supply ownership: the airline knows the demand (maintenance program, tail utilization) and the MRO provider owns the supply obligation, demand signals must cross an organizational boundary</a:t>
            </a:r>
            <a:endParaRPr b="0" i="0" sz="780" u="none" cap="none" strike="noStrike">
              <a:solidFill>
                <a:schemeClr val="dk1"/>
              </a:solidFill>
              <a:latin typeface="Calibri"/>
              <a:ea typeface="Calibri"/>
              <a:cs typeface="Calibri"/>
              <a:sym typeface="Calibri"/>
            </a:endParaRPr>
          </a:p>
        </p:txBody>
      </p:sp>
      <p:sp>
        <p:nvSpPr>
          <p:cNvPr id="99" name="Google Shape;99;p5"/>
          <p:cNvSpPr/>
          <p:nvPr/>
        </p:nvSpPr>
        <p:spPr>
          <a:xfrm>
            <a:off x="5669280" y="4224528"/>
            <a:ext cx="3154680" cy="58521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Single-org assumption: demand planner and supply planner share data within one ERP instance; no designed-in support for cross-organizational demand signal handoff</a:t>
            </a:r>
            <a:endParaRPr b="0" i="0" sz="78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04" name="Shape 104"/>
        <p:cNvGrpSpPr/>
        <p:nvPr/>
      </p:nvGrpSpPr>
      <p:grpSpPr>
        <a:xfrm>
          <a:off x="0" y="0"/>
          <a:ext cx="0" cy="0"/>
          <a:chOff x="0" y="0"/>
          <a:chExt cx="0" cy="0"/>
        </a:xfrm>
      </p:grpSpPr>
      <p:sp>
        <p:nvSpPr>
          <p:cNvPr id="105" name="Google Shape;105;p6"/>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Why Now?</a:t>
            </a:r>
            <a:endParaRPr b="0" i="0" sz="2000" u="none" cap="none" strike="noStrike">
              <a:solidFill>
                <a:schemeClr val="dk1"/>
              </a:solidFill>
              <a:latin typeface="Calibri"/>
              <a:ea typeface="Calibri"/>
              <a:cs typeface="Calibri"/>
              <a:sym typeface="Calibri"/>
            </a:endParaRPr>
          </a:p>
        </p:txBody>
      </p:sp>
      <p:sp>
        <p:nvSpPr>
          <p:cNvPr id="108" name="Google Shape;108;p6"/>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110" name="Google Shape;110;p6"/>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4</a:t>
            </a:r>
            <a:endParaRPr b="0" i="0" sz="750" u="none" cap="none" strike="noStrike">
              <a:solidFill>
                <a:schemeClr val="dk1"/>
              </a:solidFill>
              <a:latin typeface="Calibri"/>
              <a:ea typeface="Calibri"/>
              <a:cs typeface="Calibri"/>
              <a:sym typeface="Calibri"/>
            </a:endParaRPr>
          </a:p>
        </p:txBody>
      </p:sp>
      <p:sp>
        <p:nvSpPr>
          <p:cNvPr id="111" name="Google Shape;111;p6"/>
          <p:cNvSpPr/>
          <p:nvPr/>
        </p:nvSpPr>
        <p:spPr>
          <a:xfrm>
            <a:off x="274320" y="713232"/>
            <a:ext cx="85953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8D"/>
              </a:buClr>
              <a:buSzPts val="950"/>
              <a:buFont typeface="Calibri"/>
              <a:buNone/>
            </a:pPr>
            <a:r>
              <a:rPr b="0" i="1" lang="en-US" sz="950" u="none" cap="none" strike="noStrike">
                <a:solidFill>
                  <a:srgbClr val="6B7A8D"/>
                </a:solidFill>
                <a:latin typeface="Calibri"/>
                <a:ea typeface="Calibri"/>
                <a:cs typeface="Calibri"/>
                <a:sym typeface="Calibri"/>
              </a:rPr>
              <a:t>Three converging forces make solving this problem urgent and viable today.</a:t>
            </a:r>
            <a:endParaRPr b="0" i="0" sz="950" u="none" cap="none" strike="noStrike">
              <a:solidFill>
                <a:schemeClr val="dk1"/>
              </a:solidFill>
              <a:latin typeface="Calibri"/>
              <a:ea typeface="Calibri"/>
              <a:cs typeface="Calibri"/>
              <a:sym typeface="Calibri"/>
            </a:endParaRPr>
          </a:p>
        </p:txBody>
      </p:sp>
      <p:sp>
        <p:nvSpPr>
          <p:cNvPr id="112" name="Google Shape;112;p6"/>
          <p:cNvSpPr/>
          <p:nvPr/>
        </p:nvSpPr>
        <p:spPr>
          <a:xfrm>
            <a:off x="274320" y="1042416"/>
            <a:ext cx="8595360" cy="1078992"/>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274320" y="1042416"/>
            <a:ext cx="54864" cy="10789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420624" y="1133856"/>
            <a:ext cx="38404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01</a:t>
            </a:r>
            <a:endParaRPr b="0" i="0" sz="1300" u="none" cap="none" strike="noStrike">
              <a:solidFill>
                <a:schemeClr val="dk1"/>
              </a:solidFill>
              <a:latin typeface="Calibri"/>
              <a:ea typeface="Calibri"/>
              <a:cs typeface="Calibri"/>
              <a:sym typeface="Calibri"/>
            </a:endParaRPr>
          </a:p>
        </p:txBody>
      </p:sp>
      <p:sp>
        <p:nvSpPr>
          <p:cNvPr id="115" name="Google Shape;115;p6"/>
          <p:cNvSpPr/>
          <p:nvPr/>
        </p:nvSpPr>
        <p:spPr>
          <a:xfrm>
            <a:off x="868680" y="1133856"/>
            <a:ext cx="5486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100"/>
              <a:buFont typeface="Calibri"/>
              <a:buNone/>
            </a:pPr>
            <a:r>
              <a:rPr b="1" i="0" lang="en-US" sz="1100" u="none" cap="none" strike="noStrike">
                <a:solidFill>
                  <a:srgbClr val="1B3A5C"/>
                </a:solidFill>
                <a:latin typeface="Calibri"/>
                <a:ea typeface="Calibri"/>
                <a:cs typeface="Calibri"/>
                <a:sym typeface="Calibri"/>
              </a:rPr>
              <a:t>Post-2020 supply chain fragility</a:t>
            </a:r>
            <a:endParaRPr b="0" i="0" sz="1100" u="none" cap="none" strike="noStrike">
              <a:solidFill>
                <a:schemeClr val="dk1"/>
              </a:solidFill>
              <a:latin typeface="Calibri"/>
              <a:ea typeface="Calibri"/>
              <a:cs typeface="Calibri"/>
              <a:sym typeface="Calibri"/>
            </a:endParaRPr>
          </a:p>
        </p:txBody>
      </p:sp>
      <p:sp>
        <p:nvSpPr>
          <p:cNvPr id="116" name="Google Shape;116;p6"/>
          <p:cNvSpPr/>
          <p:nvPr/>
        </p:nvSpPr>
        <p:spPr>
          <a:xfrm>
            <a:off x="868680" y="1444752"/>
            <a:ext cx="5486400" cy="62179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20"/>
              <a:buFont typeface="Calibri"/>
              <a:buNone/>
            </a:pPr>
            <a:r>
              <a:rPr b="0" i="0" lang="en-US" sz="820" u="none" cap="none" strike="noStrike">
                <a:solidFill>
                  <a:srgbClr val="2E3A47"/>
                </a:solidFill>
                <a:latin typeface="Calibri"/>
                <a:ea typeface="Calibri"/>
                <a:cs typeface="Calibri"/>
                <a:sym typeface="Calibri"/>
              </a:rPr>
              <a:t>The 2020 disruption exposed the fragility of lean MRO inventory strategies. Lead times that were measured in weeks stretched to 18 months. The industry spent two years in reactive mode and many operators are still rebuilding buffer stock. There is now genuine urgency around planning visibility that simply did not exist before 2020.</a:t>
            </a:r>
            <a:endParaRPr b="0" i="0" sz="820" u="none" cap="none" strike="noStrike">
              <a:solidFill>
                <a:schemeClr val="dk1"/>
              </a:solidFill>
              <a:latin typeface="Calibri"/>
              <a:ea typeface="Calibri"/>
              <a:cs typeface="Calibri"/>
              <a:sym typeface="Calibri"/>
            </a:endParaRPr>
          </a:p>
        </p:txBody>
      </p:sp>
      <p:sp>
        <p:nvSpPr>
          <p:cNvPr id="117" name="Google Shape;117;p6"/>
          <p:cNvSpPr/>
          <p:nvPr/>
        </p:nvSpPr>
        <p:spPr>
          <a:xfrm>
            <a:off x="6537960" y="1133856"/>
            <a:ext cx="2057400" cy="74980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6537960" y="1133856"/>
            <a:ext cx="45720" cy="74980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6583680" y="1152144"/>
            <a:ext cx="2011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18 months</a:t>
            </a:r>
            <a:endParaRPr b="0" i="0" sz="1500" u="none" cap="none" strike="noStrike">
              <a:solidFill>
                <a:schemeClr val="dk1"/>
              </a:solidFill>
              <a:latin typeface="Calibri"/>
              <a:ea typeface="Calibri"/>
              <a:cs typeface="Calibri"/>
              <a:sym typeface="Calibri"/>
            </a:endParaRPr>
          </a:p>
        </p:txBody>
      </p:sp>
      <p:sp>
        <p:nvSpPr>
          <p:cNvPr id="120" name="Google Shape;120;p6"/>
          <p:cNvSpPr/>
          <p:nvPr/>
        </p:nvSpPr>
        <p:spPr>
          <a:xfrm>
            <a:off x="6583680" y="1517904"/>
            <a:ext cx="20116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A8C4DC"/>
              </a:buClr>
              <a:buSzPts val="750"/>
              <a:buFont typeface="Calibri"/>
              <a:buNone/>
            </a:pPr>
            <a:r>
              <a:rPr b="0" i="0" lang="en-US" sz="750" u="none" cap="none" strike="noStrike">
                <a:solidFill>
                  <a:srgbClr val="A8C4DC"/>
                </a:solidFill>
                <a:latin typeface="Calibri"/>
                <a:ea typeface="Calibri"/>
                <a:cs typeface="Calibri"/>
                <a:sym typeface="Calibri"/>
              </a:rPr>
              <a:t>lead times at peak disruption</a:t>
            </a:r>
            <a:endParaRPr b="0" i="0" sz="750" u="none" cap="none" strike="noStrike">
              <a:solidFill>
                <a:schemeClr val="dk1"/>
              </a:solidFill>
              <a:latin typeface="Calibri"/>
              <a:ea typeface="Calibri"/>
              <a:cs typeface="Calibri"/>
              <a:sym typeface="Calibri"/>
            </a:endParaRPr>
          </a:p>
        </p:txBody>
      </p:sp>
      <p:sp>
        <p:nvSpPr>
          <p:cNvPr id="121" name="Google Shape;121;p6"/>
          <p:cNvSpPr/>
          <p:nvPr/>
        </p:nvSpPr>
        <p:spPr>
          <a:xfrm>
            <a:off x="274320" y="2249424"/>
            <a:ext cx="8595360" cy="1078992"/>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274320" y="2249424"/>
            <a:ext cx="54864" cy="10789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420624" y="2340864"/>
            <a:ext cx="38404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02</a:t>
            </a:r>
            <a:endParaRPr b="0" i="0" sz="1300" u="none" cap="none" strike="noStrike">
              <a:solidFill>
                <a:schemeClr val="dk1"/>
              </a:solidFill>
              <a:latin typeface="Calibri"/>
              <a:ea typeface="Calibri"/>
              <a:cs typeface="Calibri"/>
              <a:sym typeface="Calibri"/>
            </a:endParaRPr>
          </a:p>
        </p:txBody>
      </p:sp>
      <p:sp>
        <p:nvSpPr>
          <p:cNvPr id="124" name="Google Shape;124;p6"/>
          <p:cNvSpPr/>
          <p:nvPr/>
        </p:nvSpPr>
        <p:spPr>
          <a:xfrm>
            <a:off x="868680" y="2340864"/>
            <a:ext cx="5486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100"/>
              <a:buFont typeface="Calibri"/>
              <a:buNone/>
            </a:pPr>
            <a:r>
              <a:rPr b="1" i="0" lang="en-US" sz="1100" u="none" cap="none" strike="noStrike">
                <a:solidFill>
                  <a:srgbClr val="1B3A5C"/>
                </a:solidFill>
                <a:latin typeface="Calibri"/>
                <a:ea typeface="Calibri"/>
                <a:cs typeface="Calibri"/>
                <a:sym typeface="Calibri"/>
              </a:rPr>
              <a:t>2025 tariff volatility</a:t>
            </a:r>
            <a:endParaRPr b="0" i="0" sz="1100" u="none" cap="none" strike="noStrike">
              <a:solidFill>
                <a:schemeClr val="dk1"/>
              </a:solidFill>
              <a:latin typeface="Calibri"/>
              <a:ea typeface="Calibri"/>
              <a:cs typeface="Calibri"/>
              <a:sym typeface="Calibri"/>
            </a:endParaRPr>
          </a:p>
        </p:txBody>
      </p:sp>
      <p:sp>
        <p:nvSpPr>
          <p:cNvPr id="125" name="Google Shape;125;p6"/>
          <p:cNvSpPr/>
          <p:nvPr/>
        </p:nvSpPr>
        <p:spPr>
          <a:xfrm>
            <a:off x="868680" y="2651760"/>
            <a:ext cx="5486400" cy="62179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20"/>
              <a:buFont typeface="Calibri"/>
              <a:buNone/>
            </a:pPr>
            <a:r>
              <a:rPr b="0" i="0" lang="en-US" sz="820" u="none" cap="none" strike="noStrike">
                <a:solidFill>
                  <a:srgbClr val="2E3A47"/>
                </a:solidFill>
                <a:latin typeface="Calibri"/>
                <a:ea typeface="Calibri"/>
                <a:cs typeface="Calibri"/>
                <a:sym typeface="Calibri"/>
              </a:rPr>
              <a:t>Components sourced from international suppliers face cost uncertainty that makes procurement planning harder. Demand accuracy, knowing what you will actually need before you have to order it, has become more valuable than it has ever been. Getting the forecast wrong now carries a higher dollar cost per miss.</a:t>
            </a:r>
            <a:endParaRPr b="0" i="0" sz="820" u="none" cap="none" strike="noStrike">
              <a:solidFill>
                <a:schemeClr val="dk1"/>
              </a:solidFill>
              <a:latin typeface="Calibri"/>
              <a:ea typeface="Calibri"/>
              <a:cs typeface="Calibri"/>
              <a:sym typeface="Calibri"/>
            </a:endParaRPr>
          </a:p>
        </p:txBody>
      </p:sp>
      <p:sp>
        <p:nvSpPr>
          <p:cNvPr id="126" name="Google Shape;126;p6"/>
          <p:cNvSpPr/>
          <p:nvPr/>
        </p:nvSpPr>
        <p:spPr>
          <a:xfrm>
            <a:off x="6537960" y="2340864"/>
            <a:ext cx="2057400" cy="74980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6537960" y="2340864"/>
            <a:ext cx="45720" cy="74980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6583680" y="2359152"/>
            <a:ext cx="2011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$150K+/hr</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583680" y="2724912"/>
            <a:ext cx="20116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A8C4DC"/>
              </a:buClr>
              <a:buSzPts val="750"/>
              <a:buFont typeface="Calibri"/>
              <a:buNone/>
            </a:pPr>
            <a:r>
              <a:rPr b="0" i="0" lang="en-US" sz="750" u="none" cap="none" strike="noStrike">
                <a:solidFill>
                  <a:srgbClr val="A8C4DC"/>
                </a:solidFill>
                <a:latin typeface="Calibri"/>
                <a:ea typeface="Calibri"/>
                <a:cs typeface="Calibri"/>
                <a:sym typeface="Calibri"/>
              </a:rPr>
              <a:t>cost of grounding one aircraft</a:t>
            </a:r>
            <a:endParaRPr b="0" i="0" sz="750" u="none" cap="none" strike="noStrike">
              <a:solidFill>
                <a:schemeClr val="dk1"/>
              </a:solidFill>
              <a:latin typeface="Calibri"/>
              <a:ea typeface="Calibri"/>
              <a:cs typeface="Calibri"/>
              <a:sym typeface="Calibri"/>
            </a:endParaRPr>
          </a:p>
        </p:txBody>
      </p:sp>
      <p:sp>
        <p:nvSpPr>
          <p:cNvPr id="130" name="Google Shape;130;p6"/>
          <p:cNvSpPr/>
          <p:nvPr/>
        </p:nvSpPr>
        <p:spPr>
          <a:xfrm>
            <a:off x="274320" y="3456432"/>
            <a:ext cx="8595360" cy="1078992"/>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274320" y="3456432"/>
            <a:ext cx="54864" cy="10789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420624" y="3547872"/>
            <a:ext cx="38404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03</a:t>
            </a:r>
            <a:endParaRPr b="0" i="0" sz="1300" u="none" cap="none" strike="noStrike">
              <a:solidFill>
                <a:schemeClr val="dk1"/>
              </a:solidFill>
              <a:latin typeface="Calibri"/>
              <a:ea typeface="Calibri"/>
              <a:cs typeface="Calibri"/>
              <a:sym typeface="Calibri"/>
            </a:endParaRPr>
          </a:p>
        </p:txBody>
      </p:sp>
      <p:sp>
        <p:nvSpPr>
          <p:cNvPr id="133" name="Google Shape;133;p6"/>
          <p:cNvSpPr/>
          <p:nvPr/>
        </p:nvSpPr>
        <p:spPr>
          <a:xfrm>
            <a:off x="868680" y="3547872"/>
            <a:ext cx="5486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1100"/>
              <a:buFont typeface="Calibri"/>
              <a:buNone/>
            </a:pPr>
            <a:r>
              <a:rPr b="1" i="0" lang="en-US" sz="1100" u="none" cap="none" strike="noStrike">
                <a:solidFill>
                  <a:srgbClr val="1B3A5C"/>
                </a:solidFill>
                <a:latin typeface="Calibri"/>
                <a:ea typeface="Calibri"/>
                <a:cs typeface="Calibri"/>
                <a:sym typeface="Calibri"/>
              </a:rPr>
              <a:t>700,000 technician shortage by 2043</a:t>
            </a:r>
            <a:endParaRPr b="0" i="0" sz="1100" u="none" cap="none" strike="noStrike">
              <a:solidFill>
                <a:schemeClr val="dk1"/>
              </a:solidFill>
              <a:latin typeface="Calibri"/>
              <a:ea typeface="Calibri"/>
              <a:cs typeface="Calibri"/>
              <a:sym typeface="Calibri"/>
            </a:endParaRPr>
          </a:p>
        </p:txBody>
      </p:sp>
      <p:sp>
        <p:nvSpPr>
          <p:cNvPr id="134" name="Google Shape;134;p6"/>
          <p:cNvSpPr/>
          <p:nvPr/>
        </p:nvSpPr>
        <p:spPr>
          <a:xfrm>
            <a:off x="868680" y="3858768"/>
            <a:ext cx="5486400" cy="62179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20"/>
              <a:buFont typeface="Calibri"/>
              <a:buNone/>
            </a:pPr>
            <a:r>
              <a:rPr b="0" i="0" lang="en-US" sz="820" u="none" cap="none" strike="noStrike">
                <a:solidFill>
                  <a:srgbClr val="2E3A47"/>
                </a:solidFill>
                <a:latin typeface="Calibri"/>
                <a:ea typeface="Calibri"/>
                <a:cs typeface="Calibri"/>
                <a:sym typeface="Calibri"/>
              </a:rPr>
              <a:t>The industry will not come close to filling the projected technician gap. Every hour a technician spends waiting for a part that should have been on the shelf is an hour of productive capacity permanently lost. Demand planning accuracy is now a workforce productivity problem, not just a logistics problem.</a:t>
            </a:r>
            <a:endParaRPr b="0" i="0" sz="820" u="none" cap="none" strike="noStrike">
              <a:solidFill>
                <a:schemeClr val="dk1"/>
              </a:solidFill>
              <a:latin typeface="Calibri"/>
              <a:ea typeface="Calibri"/>
              <a:cs typeface="Calibri"/>
              <a:sym typeface="Calibri"/>
            </a:endParaRPr>
          </a:p>
        </p:txBody>
      </p:sp>
      <p:sp>
        <p:nvSpPr>
          <p:cNvPr id="135" name="Google Shape;135;p6"/>
          <p:cNvSpPr/>
          <p:nvPr/>
        </p:nvSpPr>
        <p:spPr>
          <a:xfrm>
            <a:off x="6537960" y="3547872"/>
            <a:ext cx="2057400" cy="74980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6537960" y="3547872"/>
            <a:ext cx="45720" cy="74980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6583680" y="3566160"/>
            <a:ext cx="2011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700,000</a:t>
            </a:r>
            <a:endParaRPr b="0" i="0" sz="1500" u="none" cap="none" strike="noStrike">
              <a:solidFill>
                <a:schemeClr val="dk1"/>
              </a:solidFill>
              <a:latin typeface="Calibri"/>
              <a:ea typeface="Calibri"/>
              <a:cs typeface="Calibri"/>
              <a:sym typeface="Calibri"/>
            </a:endParaRPr>
          </a:p>
        </p:txBody>
      </p:sp>
      <p:sp>
        <p:nvSpPr>
          <p:cNvPr id="138" name="Google Shape;138;p6"/>
          <p:cNvSpPr/>
          <p:nvPr/>
        </p:nvSpPr>
        <p:spPr>
          <a:xfrm>
            <a:off x="6583680" y="3931920"/>
            <a:ext cx="20116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A8C4DC"/>
              </a:buClr>
              <a:buSzPts val="750"/>
              <a:buFont typeface="Calibri"/>
              <a:buNone/>
            </a:pPr>
            <a:r>
              <a:rPr b="0" i="0" lang="en-US" sz="750" u="none" cap="none" strike="noStrike">
                <a:solidFill>
                  <a:srgbClr val="A8C4DC"/>
                </a:solidFill>
                <a:latin typeface="Calibri"/>
                <a:ea typeface="Calibri"/>
                <a:cs typeface="Calibri"/>
                <a:sym typeface="Calibri"/>
              </a:rPr>
              <a:t>additional technicians needed by 2043</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43" name="Shape 143"/>
        <p:cNvGrpSpPr/>
        <p:nvPr/>
      </p:nvGrpSpPr>
      <p:grpSpPr>
        <a:xfrm>
          <a:off x="0" y="0"/>
          <a:ext cx="0" cy="0"/>
          <a:chOff x="0" y="0"/>
          <a:chExt cx="0" cy="0"/>
        </a:xfrm>
      </p:grpSpPr>
      <p:sp>
        <p:nvSpPr>
          <p:cNvPr id="144" name="Google Shape;144;p7"/>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Who We Build For</a:t>
            </a:r>
            <a:endParaRPr b="0" i="0" sz="2000" u="none" cap="none" strike="noStrike">
              <a:solidFill>
                <a:schemeClr val="dk1"/>
              </a:solidFill>
              <a:latin typeface="Calibri"/>
              <a:ea typeface="Calibri"/>
              <a:cs typeface="Calibri"/>
              <a:sym typeface="Calibri"/>
            </a:endParaRPr>
          </a:p>
        </p:txBody>
      </p:sp>
      <p:sp>
        <p:nvSpPr>
          <p:cNvPr id="147" name="Google Shape;147;p7"/>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149" name="Google Shape;149;p7"/>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5</a:t>
            </a:r>
            <a:endParaRPr b="0" i="0" sz="750" u="none" cap="none" strike="noStrike">
              <a:solidFill>
                <a:schemeClr val="dk1"/>
              </a:solidFill>
              <a:latin typeface="Calibri"/>
              <a:ea typeface="Calibri"/>
              <a:cs typeface="Calibri"/>
              <a:sym typeface="Calibri"/>
            </a:endParaRPr>
          </a:p>
        </p:txBody>
      </p:sp>
      <p:sp>
        <p:nvSpPr>
          <p:cNvPr id="150" name="Google Shape;150;p7"/>
          <p:cNvSpPr/>
          <p:nvPr/>
        </p:nvSpPr>
        <p:spPr>
          <a:xfrm>
            <a:off x="274320" y="713232"/>
            <a:ext cx="85953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8D"/>
              </a:buClr>
              <a:buSzPts val="880"/>
              <a:buFont typeface="Calibri"/>
              <a:buNone/>
            </a:pPr>
            <a:r>
              <a:rPr b="0" i="1" lang="en-US" sz="880" u="none" cap="none" strike="noStrike">
                <a:solidFill>
                  <a:srgbClr val="6B7A8D"/>
                </a:solidFill>
                <a:latin typeface="Calibri"/>
                <a:ea typeface="Calibri"/>
                <a:cs typeface="Calibri"/>
                <a:sym typeface="Calibri"/>
              </a:rPr>
              <a:t>We focus on the demand planning loop, where fragmented signals, cross-organizational handoffs, and manual reconciliation create the highest operational risk.</a:t>
            </a:r>
            <a:endParaRPr b="0" i="0" sz="880" u="none" cap="none" strike="noStrike">
              <a:solidFill>
                <a:schemeClr val="dk1"/>
              </a:solidFill>
              <a:latin typeface="Calibri"/>
              <a:ea typeface="Calibri"/>
              <a:cs typeface="Calibri"/>
              <a:sym typeface="Calibri"/>
            </a:endParaRPr>
          </a:p>
        </p:txBody>
      </p:sp>
      <p:sp>
        <p:nvSpPr>
          <p:cNvPr id="151" name="Google Shape;151;p7"/>
          <p:cNvSpPr/>
          <p:nvPr/>
        </p:nvSpPr>
        <p:spPr>
          <a:xfrm>
            <a:off x="274320" y="1024128"/>
            <a:ext cx="1417320" cy="292608"/>
          </a:xfrm>
          <a:prstGeom prst="rect">
            <a:avLst/>
          </a:prstGeom>
          <a:solidFill>
            <a:srgbClr val="1B3A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347472" y="1024128"/>
            <a:ext cx="1325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Persona</a:t>
            </a:r>
            <a:endParaRPr b="0" i="0" sz="800" u="none" cap="none" strike="noStrike">
              <a:solidFill>
                <a:schemeClr val="dk1"/>
              </a:solidFill>
              <a:latin typeface="Calibri"/>
              <a:ea typeface="Calibri"/>
              <a:cs typeface="Calibri"/>
              <a:sym typeface="Calibri"/>
            </a:endParaRPr>
          </a:p>
        </p:txBody>
      </p:sp>
      <p:sp>
        <p:nvSpPr>
          <p:cNvPr id="153" name="Google Shape;153;p7"/>
          <p:cNvSpPr/>
          <p:nvPr/>
        </p:nvSpPr>
        <p:spPr>
          <a:xfrm>
            <a:off x="1737360" y="1024128"/>
            <a:ext cx="2880360" cy="292608"/>
          </a:xfrm>
          <a:prstGeom prst="rect">
            <a:avLst/>
          </a:prstGeom>
          <a:solidFill>
            <a:srgbClr val="2A4E7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1810512" y="1024128"/>
            <a:ext cx="2788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Current Daily Reality</a:t>
            </a:r>
            <a:endParaRPr b="0" i="0" sz="800" u="none" cap="none" strike="noStrike">
              <a:solidFill>
                <a:schemeClr val="dk1"/>
              </a:solidFill>
              <a:latin typeface="Calibri"/>
              <a:ea typeface="Calibri"/>
              <a:cs typeface="Calibri"/>
              <a:sym typeface="Calibri"/>
            </a:endParaRPr>
          </a:p>
        </p:txBody>
      </p:sp>
      <p:sp>
        <p:nvSpPr>
          <p:cNvPr id="155" name="Google Shape;155;p7"/>
          <p:cNvSpPr/>
          <p:nvPr/>
        </p:nvSpPr>
        <p:spPr>
          <a:xfrm>
            <a:off x="4663440" y="1024128"/>
            <a:ext cx="4206240" cy="292608"/>
          </a:xfrm>
          <a:prstGeom prst="rect">
            <a:avLst/>
          </a:prstGeom>
          <a:solidFill>
            <a:srgbClr val="3D5C6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4736592" y="1024128"/>
            <a:ext cx="41148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What Changes with Partcast</a:t>
            </a:r>
            <a:endParaRPr b="0" i="0" sz="800" u="none" cap="none" strike="noStrike">
              <a:solidFill>
                <a:schemeClr val="dk1"/>
              </a:solidFill>
              <a:latin typeface="Calibri"/>
              <a:ea typeface="Calibri"/>
              <a:cs typeface="Calibri"/>
              <a:sym typeface="Calibri"/>
            </a:endParaRPr>
          </a:p>
        </p:txBody>
      </p:sp>
      <p:sp>
        <p:nvSpPr>
          <p:cNvPr id="157" name="Google Shape;157;p7"/>
          <p:cNvSpPr/>
          <p:nvPr/>
        </p:nvSpPr>
        <p:spPr>
          <a:xfrm>
            <a:off x="274320" y="1316736"/>
            <a:ext cx="1417320" cy="530352"/>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1737360" y="1316736"/>
            <a:ext cx="2880360" cy="530352"/>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4663440" y="1316736"/>
            <a:ext cx="4206240" cy="530352"/>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365760" y="1316736"/>
            <a:ext cx="1280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00"/>
              <a:buFont typeface="Calibri"/>
              <a:buNone/>
            </a:pPr>
            <a:r>
              <a:rPr b="1" i="0" lang="en-US" sz="800" u="none" cap="none" strike="noStrike">
                <a:solidFill>
                  <a:srgbClr val="1B3A5C"/>
                </a:solidFill>
                <a:latin typeface="Calibri"/>
                <a:ea typeface="Calibri"/>
                <a:cs typeface="Calibri"/>
                <a:sym typeface="Calibri"/>
              </a:rPr>
              <a:t>Demand Analyst</a:t>
            </a:r>
            <a:endParaRPr b="0" i="0" sz="800" u="none" cap="none" strike="noStrike">
              <a:solidFill>
                <a:schemeClr val="dk1"/>
              </a:solidFill>
              <a:latin typeface="Calibri"/>
              <a:ea typeface="Calibri"/>
              <a:cs typeface="Calibri"/>
              <a:sym typeface="Calibri"/>
            </a:endParaRPr>
          </a:p>
        </p:txBody>
      </p:sp>
      <p:sp>
        <p:nvSpPr>
          <p:cNvPr id="161" name="Google Shape;161;p7"/>
          <p:cNvSpPr/>
          <p:nvPr/>
        </p:nvSpPr>
        <p:spPr>
          <a:xfrm>
            <a:off x="1828800" y="1362456"/>
            <a:ext cx="274320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Spends 60-70% of the planning cycle manually reconciling flight schedules, AD portals, ERP exports, and spreadsheets, producing a forecast that is stale before it reaches supply.</a:t>
            </a:r>
            <a:endParaRPr b="0" i="0" sz="750" u="none" cap="none" strike="noStrike">
              <a:solidFill>
                <a:schemeClr val="dk1"/>
              </a:solidFill>
              <a:latin typeface="Calibri"/>
              <a:ea typeface="Calibri"/>
              <a:cs typeface="Calibri"/>
              <a:sym typeface="Calibri"/>
            </a:endParaRPr>
          </a:p>
        </p:txBody>
      </p:sp>
      <p:sp>
        <p:nvSpPr>
          <p:cNvPr id="162" name="Google Shape;162;p7"/>
          <p:cNvSpPr/>
          <p:nvPr/>
        </p:nvSpPr>
        <p:spPr>
          <a:xfrm>
            <a:off x="4754880" y="1362456"/>
            <a:ext cx="406908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Arrives at the demand review with a draft forecast pre-generated, top signals already surfaced, and changes since last cycle flagged with explanations. The job shifts from data assembly to signal evaluation.</a:t>
            </a:r>
            <a:endParaRPr b="0" i="0" sz="750" u="none" cap="none" strike="noStrike">
              <a:solidFill>
                <a:schemeClr val="dk1"/>
              </a:solidFill>
              <a:latin typeface="Calibri"/>
              <a:ea typeface="Calibri"/>
              <a:cs typeface="Calibri"/>
              <a:sym typeface="Calibri"/>
            </a:endParaRPr>
          </a:p>
        </p:txBody>
      </p:sp>
      <p:sp>
        <p:nvSpPr>
          <p:cNvPr id="163" name="Google Shape;163;p7"/>
          <p:cNvSpPr/>
          <p:nvPr/>
        </p:nvSpPr>
        <p:spPr>
          <a:xfrm>
            <a:off x="274320" y="1847088"/>
            <a:ext cx="1417320" cy="530352"/>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1737360" y="1847088"/>
            <a:ext cx="2880360" cy="530352"/>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4663440" y="1847088"/>
            <a:ext cx="4206240" cy="530352"/>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365760" y="1847088"/>
            <a:ext cx="1280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00"/>
              <a:buFont typeface="Calibri"/>
              <a:buNone/>
            </a:pPr>
            <a:r>
              <a:rPr b="1" i="0" lang="en-US" sz="800" u="none" cap="none" strike="noStrike">
                <a:solidFill>
                  <a:srgbClr val="1B3A5C"/>
                </a:solidFill>
                <a:latin typeface="Calibri"/>
                <a:ea typeface="Calibri"/>
                <a:cs typeface="Calibri"/>
                <a:sym typeface="Calibri"/>
              </a:rPr>
              <a:t>Supply Planner</a:t>
            </a:r>
            <a:endParaRPr b="0" i="0" sz="800" u="none" cap="none" strike="noStrike">
              <a:solidFill>
                <a:schemeClr val="dk1"/>
              </a:solidFill>
              <a:latin typeface="Calibri"/>
              <a:ea typeface="Calibri"/>
              <a:cs typeface="Calibri"/>
              <a:sym typeface="Calibri"/>
            </a:endParaRPr>
          </a:p>
        </p:txBody>
      </p:sp>
      <p:sp>
        <p:nvSpPr>
          <p:cNvPr id="167" name="Google Shape;167;p7"/>
          <p:cNvSpPr/>
          <p:nvPr/>
        </p:nvSpPr>
        <p:spPr>
          <a:xfrm>
            <a:off x="1828800" y="1892808"/>
            <a:ext cx="274320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Receives a consensus demand plan that is already stale; spends significant time in reactive mode expediting after AOG events occur rather than positioning inventory in advance of them.</a:t>
            </a:r>
            <a:endParaRPr b="0" i="0" sz="750" u="none" cap="none" strike="noStrike">
              <a:solidFill>
                <a:schemeClr val="dk1"/>
              </a:solidFill>
              <a:latin typeface="Calibri"/>
              <a:ea typeface="Calibri"/>
              <a:cs typeface="Calibri"/>
              <a:sym typeface="Calibri"/>
            </a:endParaRPr>
          </a:p>
        </p:txBody>
      </p:sp>
      <p:sp>
        <p:nvSpPr>
          <p:cNvPr id="168" name="Google Shape;168;p7"/>
          <p:cNvSpPr/>
          <p:nvPr/>
        </p:nvSpPr>
        <p:spPr>
          <a:xfrm>
            <a:off x="4754880" y="1892808"/>
            <a:ext cx="406908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Sees live AOG risk scores by tail number, immediately knows when an approved demand update changes their inventory position, and gets ranked repositioning recommendations with downstream trade-off analysis.</a:t>
            </a:r>
            <a:endParaRPr b="0" i="0" sz="750" u="none" cap="none" strike="noStrike">
              <a:solidFill>
                <a:schemeClr val="dk1"/>
              </a:solidFill>
              <a:latin typeface="Calibri"/>
              <a:ea typeface="Calibri"/>
              <a:cs typeface="Calibri"/>
              <a:sym typeface="Calibri"/>
            </a:endParaRPr>
          </a:p>
        </p:txBody>
      </p:sp>
      <p:sp>
        <p:nvSpPr>
          <p:cNvPr id="169" name="Google Shape;169;p7"/>
          <p:cNvSpPr/>
          <p:nvPr/>
        </p:nvSpPr>
        <p:spPr>
          <a:xfrm>
            <a:off x="274320" y="2377440"/>
            <a:ext cx="1417320" cy="530352"/>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1737360" y="2377440"/>
            <a:ext cx="2880360" cy="530352"/>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4663440" y="2377440"/>
            <a:ext cx="4206240" cy="530352"/>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365760" y="2377440"/>
            <a:ext cx="1280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00"/>
              <a:buFont typeface="Calibri"/>
              <a:buNone/>
            </a:pPr>
            <a:r>
              <a:rPr b="1" i="0" lang="en-US" sz="800" u="none" cap="none" strike="noStrike">
                <a:solidFill>
                  <a:srgbClr val="1B3A5C"/>
                </a:solidFill>
                <a:latin typeface="Calibri"/>
                <a:ea typeface="Calibri"/>
                <a:cs typeface="Calibri"/>
                <a:sym typeface="Calibri"/>
              </a:rPr>
              <a:t>S&amp;OP Leader</a:t>
            </a:r>
            <a:endParaRPr b="0" i="0" sz="800" u="none" cap="none" strike="noStrike">
              <a:solidFill>
                <a:schemeClr val="dk1"/>
              </a:solidFill>
              <a:latin typeface="Calibri"/>
              <a:ea typeface="Calibri"/>
              <a:cs typeface="Calibri"/>
              <a:sym typeface="Calibri"/>
            </a:endParaRPr>
          </a:p>
        </p:txBody>
      </p:sp>
      <p:sp>
        <p:nvSpPr>
          <p:cNvPr id="173" name="Google Shape;173;p7"/>
          <p:cNvSpPr/>
          <p:nvPr/>
        </p:nvSpPr>
        <p:spPr>
          <a:xfrm>
            <a:off x="1828800" y="2423160"/>
            <a:ext cx="274320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Spends the first hour of every S&amp;OP meeting reconciling data, figuring out what the current plan actually is and why it changed, instead of making forward-looking allocation decisions.</a:t>
            </a:r>
            <a:endParaRPr b="0" i="0" sz="750" u="none" cap="none" strike="noStrike">
              <a:solidFill>
                <a:schemeClr val="dk1"/>
              </a:solidFill>
              <a:latin typeface="Calibri"/>
              <a:ea typeface="Calibri"/>
              <a:cs typeface="Calibri"/>
              <a:sym typeface="Calibri"/>
            </a:endParaRPr>
          </a:p>
        </p:txBody>
      </p:sp>
      <p:sp>
        <p:nvSpPr>
          <p:cNvPr id="174" name="Google Shape;174;p7"/>
          <p:cNvSpPr/>
          <p:nvPr/>
        </p:nvSpPr>
        <p:spPr>
          <a:xfrm>
            <a:off x="4754880" y="2423160"/>
            <a:ext cx="406908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Receives an AI-generated S&amp;OP package 48 hours before the meeting: FVA history, root-cause attribution, AOG risk summary, and forward plan. The meeting becomes a decision forum, not a data reconciliation session.</a:t>
            </a:r>
            <a:endParaRPr b="0" i="0" sz="750" u="none" cap="none" strike="noStrike">
              <a:solidFill>
                <a:schemeClr val="dk1"/>
              </a:solidFill>
              <a:latin typeface="Calibri"/>
              <a:ea typeface="Calibri"/>
              <a:cs typeface="Calibri"/>
              <a:sym typeface="Calibri"/>
            </a:endParaRPr>
          </a:p>
        </p:txBody>
      </p:sp>
      <p:sp>
        <p:nvSpPr>
          <p:cNvPr id="175" name="Google Shape;175;p7"/>
          <p:cNvSpPr/>
          <p:nvPr/>
        </p:nvSpPr>
        <p:spPr>
          <a:xfrm>
            <a:off x="274320" y="2907792"/>
            <a:ext cx="1417320" cy="530352"/>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1737360" y="2907792"/>
            <a:ext cx="2880360" cy="530352"/>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4663440" y="2907792"/>
            <a:ext cx="4206240" cy="530352"/>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365760" y="2907792"/>
            <a:ext cx="1280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800"/>
              <a:buFont typeface="Calibri"/>
              <a:buNone/>
            </a:pPr>
            <a:r>
              <a:rPr b="1" i="0" lang="en-US" sz="800" u="none" cap="none" strike="noStrike">
                <a:solidFill>
                  <a:srgbClr val="1B3A5C"/>
                </a:solidFill>
                <a:latin typeface="Calibri"/>
                <a:ea typeface="Calibri"/>
                <a:cs typeface="Calibri"/>
                <a:sym typeface="Calibri"/>
              </a:rPr>
              <a:t>VP MRO Operations</a:t>
            </a:r>
            <a:endParaRPr b="0" i="0" sz="800" u="none" cap="none" strike="noStrike">
              <a:solidFill>
                <a:schemeClr val="dk1"/>
              </a:solidFill>
              <a:latin typeface="Calibri"/>
              <a:ea typeface="Calibri"/>
              <a:cs typeface="Calibri"/>
              <a:sym typeface="Calibri"/>
            </a:endParaRPr>
          </a:p>
        </p:txBody>
      </p:sp>
      <p:sp>
        <p:nvSpPr>
          <p:cNvPr id="179" name="Google Shape;179;p7"/>
          <p:cNvSpPr/>
          <p:nvPr/>
        </p:nvSpPr>
        <p:spPr>
          <a:xfrm>
            <a:off x="1828800" y="2953512"/>
            <a:ext cx="274320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Learns about AOG risk when an aircraft is already grounded, not 30-60 days before. The leading indicators, a tail approaching C-check with a critical part not yet on order, are buried in systems no one is synthesizing.</a:t>
            </a:r>
            <a:endParaRPr b="0" i="0" sz="750" u="none" cap="none" strike="noStrike">
              <a:solidFill>
                <a:schemeClr val="dk1"/>
              </a:solidFill>
              <a:latin typeface="Calibri"/>
              <a:ea typeface="Calibri"/>
              <a:cs typeface="Calibri"/>
              <a:sym typeface="Calibri"/>
            </a:endParaRPr>
          </a:p>
        </p:txBody>
      </p:sp>
      <p:sp>
        <p:nvSpPr>
          <p:cNvPr id="180" name="Google Shape;180;p7"/>
          <p:cNvSpPr/>
          <p:nvPr/>
        </p:nvSpPr>
        <p:spPr>
          <a:xfrm>
            <a:off x="4754880" y="2953512"/>
            <a:ext cx="406908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Has a live view of tails ranked by AOG risk with the specific demand and inventory factors driving each score. Escalations arrive before events, not after. Forward planning position is visible without depending on the planning team to surface it.</a:t>
            </a:r>
            <a:endParaRPr b="0" i="0" sz="750" u="none" cap="none" strike="noStrike">
              <a:solidFill>
                <a:schemeClr val="dk1"/>
              </a:solidFill>
              <a:latin typeface="Calibri"/>
              <a:ea typeface="Calibri"/>
              <a:cs typeface="Calibri"/>
              <a:sym typeface="Calibri"/>
            </a:endParaRPr>
          </a:p>
        </p:txBody>
      </p:sp>
      <p:sp>
        <p:nvSpPr>
          <p:cNvPr id="181" name="Google Shape;181;p7"/>
          <p:cNvSpPr/>
          <p:nvPr/>
        </p:nvSpPr>
        <p:spPr>
          <a:xfrm>
            <a:off x="274320" y="3511296"/>
            <a:ext cx="8595360" cy="20116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365760" y="3511296"/>
            <a:ext cx="8412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Calibri"/>
              <a:buNone/>
            </a:pPr>
            <a:r>
              <a:rPr b="1" i="0" lang="en-US" sz="1000" u="none" cap="none" strike="noStrike">
                <a:solidFill>
                  <a:srgbClr val="FFFFFF"/>
                </a:solidFill>
                <a:latin typeface="Calibri"/>
                <a:ea typeface="Calibri"/>
                <a:cs typeface="Calibri"/>
                <a:sym typeface="Calibri"/>
              </a:rPr>
              <a:t>Agentic layer supporting the above workflows</a:t>
            </a:r>
            <a:endParaRPr b="0" i="0" sz="1000" u="none" cap="none" strike="noStrike">
              <a:solidFill>
                <a:schemeClr val="dk1"/>
              </a:solidFill>
              <a:latin typeface="Calibri"/>
              <a:ea typeface="Calibri"/>
              <a:cs typeface="Calibri"/>
              <a:sym typeface="Calibri"/>
            </a:endParaRPr>
          </a:p>
        </p:txBody>
      </p:sp>
      <p:sp>
        <p:nvSpPr>
          <p:cNvPr id="183" name="Google Shape;183;p7"/>
          <p:cNvSpPr/>
          <p:nvPr/>
        </p:nvSpPr>
        <p:spPr>
          <a:xfrm>
            <a:off x="274320" y="3749040"/>
            <a:ext cx="2743200" cy="987552"/>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274320" y="3749040"/>
            <a:ext cx="2743200" cy="201168"/>
          </a:xfrm>
          <a:prstGeom prst="rect">
            <a:avLst/>
          </a:prstGeom>
          <a:solidFill>
            <a:srgbClr val="2A4E72"/>
          </a:solidFill>
          <a:ln cap="flat" cmpd="sng" w="12700">
            <a:solidFill>
              <a:srgbClr val="2A4E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365760" y="3749040"/>
            <a:ext cx="2606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AD Compliance Demand Agent</a:t>
            </a:r>
            <a:endParaRPr b="0" i="0" sz="750" u="none" cap="none" strike="noStrike">
              <a:solidFill>
                <a:schemeClr val="dk1"/>
              </a:solidFill>
              <a:latin typeface="Calibri"/>
              <a:ea typeface="Calibri"/>
              <a:cs typeface="Calibri"/>
              <a:sym typeface="Calibri"/>
            </a:endParaRPr>
          </a:p>
        </p:txBody>
      </p:sp>
      <p:sp>
        <p:nvSpPr>
          <p:cNvPr id="186" name="Google Shape;186;p7"/>
          <p:cNvSpPr/>
          <p:nvPr/>
        </p:nvSpPr>
        <p:spPr>
          <a:xfrm>
            <a:off x="365760" y="3977640"/>
            <a:ext cx="2606040" cy="3474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680"/>
              <a:buFont typeface="Calibri"/>
              <a:buNone/>
            </a:pPr>
            <a:r>
              <a:rPr b="1" i="0" lang="en-US" sz="680" u="none" cap="none" strike="noStrike">
                <a:solidFill>
                  <a:srgbClr val="1B3A5C"/>
                </a:solidFill>
                <a:latin typeface="Calibri"/>
                <a:ea typeface="Calibri"/>
                <a:cs typeface="Calibri"/>
                <a:sym typeface="Calibri"/>
              </a:rPr>
              <a:t>Autonomous: </a:t>
            </a:r>
            <a:r>
              <a:rPr b="0" i="0" lang="en-US" sz="680" u="none" cap="none" strike="noStrike">
                <a:solidFill>
                  <a:srgbClr val="2E3A47"/>
                </a:solidFill>
                <a:latin typeface="Calibri"/>
                <a:ea typeface="Calibri"/>
                <a:cs typeface="Calibri"/>
                <a:sym typeface="Calibri"/>
              </a:rPr>
              <a:t>Parses new ADs, identifies in-scope tails, calculates time-to-compliance and demand gap, and queues a recommendation to the planner.</a:t>
            </a:r>
            <a:endParaRPr b="0" i="0" sz="680" u="none" cap="none" strike="noStrike">
              <a:solidFill>
                <a:schemeClr val="dk1"/>
              </a:solidFill>
              <a:latin typeface="Calibri"/>
              <a:ea typeface="Calibri"/>
              <a:cs typeface="Calibri"/>
              <a:sym typeface="Calibri"/>
            </a:endParaRPr>
          </a:p>
        </p:txBody>
      </p:sp>
      <p:cxnSp>
        <p:nvCxnSpPr>
          <p:cNvPr id="187" name="Google Shape;187;p7"/>
          <p:cNvCxnSpPr/>
          <p:nvPr/>
        </p:nvCxnSpPr>
        <p:spPr>
          <a:xfrm>
            <a:off x="365760" y="4343400"/>
            <a:ext cx="2560320" cy="0"/>
          </a:xfrm>
          <a:prstGeom prst="straightConnector1">
            <a:avLst/>
          </a:prstGeom>
          <a:noFill/>
          <a:ln cap="flat" cmpd="sng" w="9525">
            <a:solidFill>
              <a:srgbClr val="D8DFE8"/>
            </a:solidFill>
            <a:prstDash val="solid"/>
            <a:round/>
            <a:headEnd len="sm" w="sm" type="none"/>
            <a:tailEnd len="sm" w="sm" type="none"/>
          </a:ln>
        </p:spPr>
      </p:cxnSp>
      <p:sp>
        <p:nvSpPr>
          <p:cNvPr id="188" name="Google Shape;188;p7"/>
          <p:cNvSpPr/>
          <p:nvPr/>
        </p:nvSpPr>
        <p:spPr>
          <a:xfrm>
            <a:off x="365760" y="4370832"/>
            <a:ext cx="2606040"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0392B"/>
              </a:buClr>
              <a:buSzPts val="680"/>
              <a:buFont typeface="Calibri"/>
              <a:buNone/>
            </a:pPr>
            <a:r>
              <a:rPr b="1" i="0" lang="en-US" sz="680" u="none" cap="none" strike="noStrike">
                <a:solidFill>
                  <a:srgbClr val="C0392B"/>
                </a:solidFill>
                <a:latin typeface="Calibri"/>
                <a:ea typeface="Calibri"/>
                <a:cs typeface="Calibri"/>
                <a:sym typeface="Calibri"/>
              </a:rPr>
              <a:t>Handoff: </a:t>
            </a:r>
            <a:r>
              <a:rPr b="0" i="0" lang="en-US" sz="680" u="none" cap="none" strike="noStrike">
                <a:solidFill>
                  <a:srgbClr val="2E3A47"/>
                </a:solidFill>
                <a:latin typeface="Calibri"/>
                <a:ea typeface="Calibri"/>
                <a:cs typeface="Calibri"/>
                <a:sym typeface="Calibri"/>
              </a:rPr>
              <a:t>Hands off when the demand gap requires a procurement decision -- planner sees the full reasoning chain, per-tail calculations, and confidence flags before approving.</a:t>
            </a:r>
            <a:endParaRPr b="0" i="0" sz="680" u="none" cap="none" strike="noStrike">
              <a:solidFill>
                <a:schemeClr val="dk1"/>
              </a:solidFill>
              <a:latin typeface="Calibri"/>
              <a:ea typeface="Calibri"/>
              <a:cs typeface="Calibri"/>
              <a:sym typeface="Calibri"/>
            </a:endParaRPr>
          </a:p>
        </p:txBody>
      </p:sp>
      <p:sp>
        <p:nvSpPr>
          <p:cNvPr id="189" name="Google Shape;189;p7"/>
          <p:cNvSpPr/>
          <p:nvPr/>
        </p:nvSpPr>
        <p:spPr>
          <a:xfrm>
            <a:off x="3200400" y="3749040"/>
            <a:ext cx="2743200" cy="987552"/>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3200400" y="3749040"/>
            <a:ext cx="2743200" cy="201168"/>
          </a:xfrm>
          <a:prstGeom prst="rect">
            <a:avLst/>
          </a:prstGeom>
          <a:solidFill>
            <a:srgbClr val="2A4E72"/>
          </a:solidFill>
          <a:ln cap="flat" cmpd="sng" w="12700">
            <a:solidFill>
              <a:srgbClr val="2A4E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3291840" y="3749040"/>
            <a:ext cx="2606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AOG Risk Scoring Agent</a:t>
            </a:r>
            <a:endParaRPr b="0" i="0" sz="750" u="none" cap="none" strike="noStrike">
              <a:solidFill>
                <a:schemeClr val="dk1"/>
              </a:solidFill>
              <a:latin typeface="Calibri"/>
              <a:ea typeface="Calibri"/>
              <a:cs typeface="Calibri"/>
              <a:sym typeface="Calibri"/>
            </a:endParaRPr>
          </a:p>
        </p:txBody>
      </p:sp>
      <p:sp>
        <p:nvSpPr>
          <p:cNvPr id="192" name="Google Shape;192;p7"/>
          <p:cNvSpPr/>
          <p:nvPr/>
        </p:nvSpPr>
        <p:spPr>
          <a:xfrm>
            <a:off x="3291840" y="3977640"/>
            <a:ext cx="2606040" cy="3474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680"/>
              <a:buFont typeface="Calibri"/>
              <a:buNone/>
            </a:pPr>
            <a:r>
              <a:rPr b="1" i="0" lang="en-US" sz="680" u="none" cap="none" strike="noStrike">
                <a:solidFill>
                  <a:srgbClr val="1B3A5C"/>
                </a:solidFill>
                <a:latin typeface="Calibri"/>
                <a:ea typeface="Calibri"/>
                <a:cs typeface="Calibri"/>
                <a:sym typeface="Calibri"/>
              </a:rPr>
              <a:t>Autonomous: </a:t>
            </a:r>
            <a:r>
              <a:rPr b="0" i="0" lang="en-US" sz="680" u="none" cap="none" strike="noStrike">
                <a:solidFill>
                  <a:srgbClr val="2E3A47"/>
                </a:solidFill>
                <a:latin typeface="Calibri"/>
                <a:ea typeface="Calibri"/>
                <a:cs typeface="Calibri"/>
                <a:sym typeface="Calibri"/>
              </a:rPr>
              <a:t>Re-scores AOG risk for every tail on a 6-hour cadence and immediately on unscheduled removal events, supplier lead time changes, or flight schedule shifts.</a:t>
            </a:r>
            <a:endParaRPr b="0" i="0" sz="680" u="none" cap="none" strike="noStrike">
              <a:solidFill>
                <a:schemeClr val="dk1"/>
              </a:solidFill>
              <a:latin typeface="Calibri"/>
              <a:ea typeface="Calibri"/>
              <a:cs typeface="Calibri"/>
              <a:sym typeface="Calibri"/>
            </a:endParaRPr>
          </a:p>
        </p:txBody>
      </p:sp>
      <p:cxnSp>
        <p:nvCxnSpPr>
          <p:cNvPr id="193" name="Google Shape;193;p7"/>
          <p:cNvCxnSpPr/>
          <p:nvPr/>
        </p:nvCxnSpPr>
        <p:spPr>
          <a:xfrm>
            <a:off x="3291840" y="4343400"/>
            <a:ext cx="2560320" cy="0"/>
          </a:xfrm>
          <a:prstGeom prst="straightConnector1">
            <a:avLst/>
          </a:prstGeom>
          <a:noFill/>
          <a:ln cap="flat" cmpd="sng" w="9525">
            <a:solidFill>
              <a:srgbClr val="D8DFE8"/>
            </a:solidFill>
            <a:prstDash val="solid"/>
            <a:round/>
            <a:headEnd len="sm" w="sm" type="none"/>
            <a:tailEnd len="sm" w="sm" type="none"/>
          </a:ln>
        </p:spPr>
      </p:cxnSp>
      <p:sp>
        <p:nvSpPr>
          <p:cNvPr id="194" name="Google Shape;194;p7"/>
          <p:cNvSpPr/>
          <p:nvPr/>
        </p:nvSpPr>
        <p:spPr>
          <a:xfrm>
            <a:off x="3291840" y="4370832"/>
            <a:ext cx="2606040"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0392B"/>
              </a:buClr>
              <a:buSzPts val="680"/>
              <a:buFont typeface="Calibri"/>
              <a:buNone/>
            </a:pPr>
            <a:r>
              <a:rPr b="1" i="0" lang="en-US" sz="680" u="none" cap="none" strike="noStrike">
                <a:solidFill>
                  <a:srgbClr val="C0392B"/>
                </a:solidFill>
                <a:latin typeface="Calibri"/>
                <a:ea typeface="Calibri"/>
                <a:cs typeface="Calibri"/>
                <a:sym typeface="Calibri"/>
              </a:rPr>
              <a:t>Handoff: </a:t>
            </a:r>
            <a:r>
              <a:rPr b="0" i="0" lang="en-US" sz="680" u="none" cap="none" strike="noStrike">
                <a:solidFill>
                  <a:srgbClr val="2E3A47"/>
                </a:solidFill>
                <a:latin typeface="Calibri"/>
                <a:ea typeface="Calibri"/>
                <a:cs typeface="Calibri"/>
                <a:sym typeface="Calibri"/>
              </a:rPr>
              <a:t>Hands off at Alert (66+) with a demand recommendation; at Critical (86+) escalates to the S&amp;OP Leader with a procurement countdown and time-sensitive action bar.</a:t>
            </a:r>
            <a:endParaRPr b="0" i="0" sz="680" u="none" cap="none" strike="noStrike">
              <a:solidFill>
                <a:schemeClr val="dk1"/>
              </a:solidFill>
              <a:latin typeface="Calibri"/>
              <a:ea typeface="Calibri"/>
              <a:cs typeface="Calibri"/>
              <a:sym typeface="Calibri"/>
            </a:endParaRPr>
          </a:p>
        </p:txBody>
      </p:sp>
      <p:sp>
        <p:nvSpPr>
          <p:cNvPr id="195" name="Google Shape;195;p7"/>
          <p:cNvSpPr/>
          <p:nvPr/>
        </p:nvSpPr>
        <p:spPr>
          <a:xfrm>
            <a:off x="6126480" y="3749040"/>
            <a:ext cx="2743200" cy="987552"/>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6126480" y="3749040"/>
            <a:ext cx="2743200" cy="201168"/>
          </a:xfrm>
          <a:prstGeom prst="rect">
            <a:avLst/>
          </a:prstGeom>
          <a:solidFill>
            <a:srgbClr val="2A4E72"/>
          </a:solidFill>
          <a:ln cap="flat" cmpd="sng" w="12700">
            <a:solidFill>
              <a:srgbClr val="2A4E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6217920" y="3749040"/>
            <a:ext cx="2606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S&amp;OP Package Agent</a:t>
            </a:r>
            <a:endParaRPr b="0" i="0" sz="750" u="none" cap="none" strike="noStrike">
              <a:solidFill>
                <a:schemeClr val="dk1"/>
              </a:solidFill>
              <a:latin typeface="Calibri"/>
              <a:ea typeface="Calibri"/>
              <a:cs typeface="Calibri"/>
              <a:sym typeface="Calibri"/>
            </a:endParaRPr>
          </a:p>
        </p:txBody>
      </p:sp>
      <p:sp>
        <p:nvSpPr>
          <p:cNvPr id="198" name="Google Shape;198;p7"/>
          <p:cNvSpPr/>
          <p:nvPr/>
        </p:nvSpPr>
        <p:spPr>
          <a:xfrm>
            <a:off x="6217920" y="3977640"/>
            <a:ext cx="2606040" cy="3474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680"/>
              <a:buFont typeface="Calibri"/>
              <a:buNone/>
            </a:pPr>
            <a:r>
              <a:rPr b="1" i="0" lang="en-US" sz="680" u="none" cap="none" strike="noStrike">
                <a:solidFill>
                  <a:srgbClr val="1B3A5C"/>
                </a:solidFill>
                <a:latin typeface="Calibri"/>
                <a:ea typeface="Calibri"/>
                <a:cs typeface="Calibri"/>
                <a:sym typeface="Calibri"/>
              </a:rPr>
              <a:t>Autonomous: </a:t>
            </a:r>
            <a:r>
              <a:rPr b="0" i="0" lang="en-US" sz="680" u="none" cap="none" strike="noStrike">
                <a:solidFill>
                  <a:srgbClr val="2E3A47"/>
                </a:solidFill>
                <a:latin typeface="Calibri"/>
                <a:ea typeface="Calibri"/>
                <a:cs typeface="Calibri"/>
                <a:sym typeface="Calibri"/>
              </a:rPr>
              <a:t>Computes cycle variances, classifies root causes (model error vs override error vs external shock), calculates FVA metrics, and assembles the full S&amp;OP package.</a:t>
            </a:r>
            <a:endParaRPr b="0" i="0" sz="680" u="none" cap="none" strike="noStrike">
              <a:solidFill>
                <a:schemeClr val="dk1"/>
              </a:solidFill>
              <a:latin typeface="Calibri"/>
              <a:ea typeface="Calibri"/>
              <a:cs typeface="Calibri"/>
              <a:sym typeface="Calibri"/>
            </a:endParaRPr>
          </a:p>
        </p:txBody>
      </p:sp>
      <p:cxnSp>
        <p:nvCxnSpPr>
          <p:cNvPr id="199" name="Google Shape;199;p7"/>
          <p:cNvCxnSpPr/>
          <p:nvPr/>
        </p:nvCxnSpPr>
        <p:spPr>
          <a:xfrm>
            <a:off x="6217920" y="4343400"/>
            <a:ext cx="2560320" cy="0"/>
          </a:xfrm>
          <a:prstGeom prst="straightConnector1">
            <a:avLst/>
          </a:prstGeom>
          <a:noFill/>
          <a:ln cap="flat" cmpd="sng" w="9525">
            <a:solidFill>
              <a:srgbClr val="D8DFE8"/>
            </a:solidFill>
            <a:prstDash val="solid"/>
            <a:round/>
            <a:headEnd len="sm" w="sm" type="none"/>
            <a:tailEnd len="sm" w="sm" type="none"/>
          </a:ln>
        </p:spPr>
      </p:cxnSp>
      <p:sp>
        <p:nvSpPr>
          <p:cNvPr id="200" name="Google Shape;200;p7"/>
          <p:cNvSpPr/>
          <p:nvPr/>
        </p:nvSpPr>
        <p:spPr>
          <a:xfrm>
            <a:off x="6217920" y="4370832"/>
            <a:ext cx="2606040"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0392B"/>
              </a:buClr>
              <a:buSzPts val="680"/>
              <a:buFont typeface="Calibri"/>
              <a:buNone/>
            </a:pPr>
            <a:r>
              <a:rPr b="1" i="0" lang="en-US" sz="680" u="none" cap="none" strike="noStrike">
                <a:solidFill>
                  <a:srgbClr val="C0392B"/>
                </a:solidFill>
                <a:latin typeface="Calibri"/>
                <a:ea typeface="Calibri"/>
                <a:cs typeface="Calibri"/>
                <a:sym typeface="Calibri"/>
              </a:rPr>
              <a:t>Handoff: </a:t>
            </a:r>
            <a:r>
              <a:rPr b="0" i="0" lang="en-US" sz="680" u="none" cap="none" strike="noStrike">
                <a:solidFill>
                  <a:srgbClr val="2E3A47"/>
                </a:solidFill>
                <a:latin typeface="Calibri"/>
                <a:ea typeface="Calibri"/>
                <a:cs typeface="Calibri"/>
                <a:sym typeface="Calibri"/>
              </a:rPr>
              <a:t>Hands off a live annotatable document, not a PDF, where the S&amp;OP Leader records decisions on each flagged item and closes the cycle.</a:t>
            </a:r>
            <a:endParaRPr b="0" i="0" sz="68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05" name="Shape 205"/>
        <p:cNvGrpSpPr/>
        <p:nvPr/>
      </p:nvGrpSpPr>
      <p:grpSpPr>
        <a:xfrm>
          <a:off x="0" y="0"/>
          <a:ext cx="0" cy="0"/>
          <a:chOff x="0" y="0"/>
          <a:chExt cx="0" cy="0"/>
        </a:xfrm>
      </p:grpSpPr>
      <p:sp>
        <p:nvSpPr>
          <p:cNvPr id="206" name="Google Shape;206;p8"/>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Product Strategy</a:t>
            </a:r>
            <a:endParaRPr b="0" i="0" sz="2000" u="none" cap="none" strike="noStrike">
              <a:solidFill>
                <a:schemeClr val="dk1"/>
              </a:solidFill>
              <a:latin typeface="Calibri"/>
              <a:ea typeface="Calibri"/>
              <a:cs typeface="Calibri"/>
              <a:sym typeface="Calibri"/>
            </a:endParaRPr>
          </a:p>
        </p:txBody>
      </p:sp>
      <p:sp>
        <p:nvSpPr>
          <p:cNvPr id="209" name="Google Shape;209;p8"/>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211" name="Google Shape;211;p8"/>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6</a:t>
            </a:r>
            <a:endParaRPr b="0" i="0" sz="750" u="none" cap="none" strike="noStrike">
              <a:solidFill>
                <a:schemeClr val="dk1"/>
              </a:solidFill>
              <a:latin typeface="Calibri"/>
              <a:ea typeface="Calibri"/>
              <a:cs typeface="Calibri"/>
              <a:sym typeface="Calibri"/>
            </a:endParaRPr>
          </a:p>
        </p:txBody>
      </p:sp>
      <p:sp>
        <p:nvSpPr>
          <p:cNvPr id="212" name="Google Shape;212;p8"/>
          <p:cNvSpPr/>
          <p:nvPr/>
        </p:nvSpPr>
        <p:spPr>
          <a:xfrm>
            <a:off x="274320" y="713232"/>
            <a:ext cx="85953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8D"/>
              </a:buClr>
              <a:buSzPts val="880"/>
              <a:buFont typeface="Calibri"/>
              <a:buNone/>
            </a:pPr>
            <a:r>
              <a:rPr b="1" i="1" lang="en-US" sz="1180" u="none" cap="none" strike="noStrike">
                <a:solidFill>
                  <a:schemeClr val="dk1"/>
                </a:solidFill>
                <a:latin typeface="Calibri"/>
                <a:ea typeface="Calibri"/>
                <a:cs typeface="Calibri"/>
                <a:sym typeface="Calibri"/>
              </a:rPr>
              <a:t>The core strategy is to transform demand planning from a manual, reconciliation-driven process into an event-driven system that produces actionable, explainable recommendations.</a:t>
            </a:r>
            <a:endParaRPr b="1" i="0" sz="1180" u="none" cap="none" strike="noStrike">
              <a:solidFill>
                <a:schemeClr val="dk1"/>
              </a:solidFill>
              <a:latin typeface="Calibri"/>
              <a:ea typeface="Calibri"/>
              <a:cs typeface="Calibri"/>
              <a:sym typeface="Calibri"/>
            </a:endParaRPr>
          </a:p>
        </p:txBody>
      </p:sp>
      <p:sp>
        <p:nvSpPr>
          <p:cNvPr id="213" name="Google Shape;213;p8"/>
          <p:cNvSpPr/>
          <p:nvPr/>
        </p:nvSpPr>
        <p:spPr>
          <a:xfrm>
            <a:off x="228595" y="1191053"/>
            <a:ext cx="8595300" cy="292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850"/>
              <a:buFont typeface="Calibri"/>
              <a:buNone/>
            </a:pPr>
            <a:r>
              <a:rPr b="0" i="0" lang="en-US" sz="850" u="none" cap="none" strike="noStrike">
                <a:solidFill>
                  <a:srgbClr val="2E3A47"/>
                </a:solidFill>
                <a:latin typeface="Calibri"/>
                <a:ea typeface="Calibri"/>
                <a:cs typeface="Calibri"/>
                <a:sym typeface="Calibri"/>
              </a:rPr>
              <a:t>MRO demand is largely knowable in advance, but fragmented across systems. The product prioritizes signal integration and decision workflows over raw data aggregation, enabling planners to focus on evaluating decisions rather than assembling inputs.</a:t>
            </a:r>
            <a:endParaRPr b="0" i="0" sz="850" u="none" cap="none" strike="noStrike">
              <a:solidFill>
                <a:schemeClr val="dk1"/>
              </a:solidFill>
              <a:latin typeface="Calibri"/>
              <a:ea typeface="Calibri"/>
              <a:cs typeface="Calibri"/>
              <a:sym typeface="Calibri"/>
            </a:endParaRPr>
          </a:p>
        </p:txBody>
      </p:sp>
      <p:sp>
        <p:nvSpPr>
          <p:cNvPr id="214" name="Google Shape;214;p8"/>
          <p:cNvSpPr/>
          <p:nvPr/>
        </p:nvSpPr>
        <p:spPr>
          <a:xfrm>
            <a:off x="274320" y="1632298"/>
            <a:ext cx="8595300" cy="237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365760" y="1632298"/>
            <a:ext cx="8412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1600" u="none" cap="none" strike="noStrike">
                <a:solidFill>
                  <a:srgbClr val="FFFFFF"/>
                </a:solidFill>
                <a:latin typeface="Calibri"/>
                <a:ea typeface="Calibri"/>
                <a:cs typeface="Calibri"/>
                <a:sym typeface="Calibri"/>
              </a:rPr>
              <a:t>Strategic Principles</a:t>
            </a:r>
            <a:endParaRPr b="0" i="0" sz="1600" u="none" cap="none" strike="noStrike">
              <a:solidFill>
                <a:schemeClr val="dk1"/>
              </a:solidFill>
              <a:latin typeface="Calibri"/>
              <a:ea typeface="Calibri"/>
              <a:cs typeface="Calibri"/>
              <a:sym typeface="Calibri"/>
            </a:endParaRPr>
          </a:p>
        </p:txBody>
      </p:sp>
      <p:sp>
        <p:nvSpPr>
          <p:cNvPr id="216" name="Google Shape;216;p8"/>
          <p:cNvSpPr/>
          <p:nvPr/>
        </p:nvSpPr>
        <p:spPr>
          <a:xfrm>
            <a:off x="274320" y="1961482"/>
            <a:ext cx="4206300" cy="7497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274320" y="1961482"/>
            <a:ext cx="54900" cy="749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402336" y="2162650"/>
            <a:ext cx="274200" cy="2742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402336" y="2162650"/>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220" name="Google Shape;220;p8"/>
          <p:cNvSpPr/>
          <p:nvPr/>
        </p:nvSpPr>
        <p:spPr>
          <a:xfrm>
            <a:off x="777240" y="2052922"/>
            <a:ext cx="361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1000" u="none" cap="none" strike="noStrike">
                <a:solidFill>
                  <a:srgbClr val="1B3A5C"/>
                </a:solidFill>
                <a:latin typeface="Calibri"/>
                <a:ea typeface="Calibri"/>
                <a:cs typeface="Calibri"/>
                <a:sym typeface="Calibri"/>
              </a:rPr>
              <a:t>Event-driven planning over historical forecasting</a:t>
            </a:r>
            <a:endParaRPr b="0" i="0" sz="1000" u="none" cap="none" strike="noStrike">
              <a:solidFill>
                <a:schemeClr val="dk1"/>
              </a:solidFill>
              <a:latin typeface="Calibri"/>
              <a:ea typeface="Calibri"/>
              <a:cs typeface="Calibri"/>
              <a:sym typeface="Calibri"/>
            </a:endParaRPr>
          </a:p>
        </p:txBody>
      </p:sp>
      <p:sp>
        <p:nvSpPr>
          <p:cNvPr id="221" name="Google Shape;221;p8"/>
          <p:cNvSpPr/>
          <p:nvPr/>
        </p:nvSpPr>
        <p:spPr>
          <a:xfrm>
            <a:off x="777240" y="2345530"/>
            <a:ext cx="3612000" cy="32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800" u="none" cap="none" strike="noStrike">
                <a:solidFill>
                  <a:srgbClr val="2E3A47"/>
                </a:solidFill>
                <a:latin typeface="Calibri"/>
                <a:ea typeface="Calibri"/>
                <a:cs typeface="Calibri"/>
                <a:sym typeface="Calibri"/>
              </a:rPr>
              <a:t>Demand is modeled based on maintenance events, AD compliance, and utilization -- not consumption history.</a:t>
            </a:r>
            <a:endParaRPr b="0" i="0" sz="800" u="none" cap="none" strike="noStrike">
              <a:solidFill>
                <a:schemeClr val="dk1"/>
              </a:solidFill>
              <a:latin typeface="Calibri"/>
              <a:ea typeface="Calibri"/>
              <a:cs typeface="Calibri"/>
              <a:sym typeface="Calibri"/>
            </a:endParaRPr>
          </a:p>
        </p:txBody>
      </p:sp>
      <p:sp>
        <p:nvSpPr>
          <p:cNvPr id="222" name="Google Shape;222;p8"/>
          <p:cNvSpPr/>
          <p:nvPr/>
        </p:nvSpPr>
        <p:spPr>
          <a:xfrm>
            <a:off x="274320" y="2802730"/>
            <a:ext cx="4206300" cy="7497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274320" y="2802730"/>
            <a:ext cx="54900" cy="749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402336" y="3003898"/>
            <a:ext cx="274200" cy="2742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402336" y="3003898"/>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226" name="Google Shape;226;p8"/>
          <p:cNvSpPr/>
          <p:nvPr/>
        </p:nvSpPr>
        <p:spPr>
          <a:xfrm>
            <a:off x="777240" y="2894170"/>
            <a:ext cx="361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1000" u="none" cap="none" strike="noStrike">
                <a:solidFill>
                  <a:srgbClr val="1B3A5C"/>
                </a:solidFill>
                <a:latin typeface="Calibri"/>
                <a:ea typeface="Calibri"/>
                <a:cs typeface="Calibri"/>
                <a:sym typeface="Calibri"/>
              </a:rPr>
              <a:t>Decision support over data aggregation</a:t>
            </a:r>
            <a:endParaRPr b="0" i="0" sz="1000" u="none" cap="none" strike="noStrike">
              <a:solidFill>
                <a:schemeClr val="dk1"/>
              </a:solidFill>
              <a:latin typeface="Calibri"/>
              <a:ea typeface="Calibri"/>
              <a:cs typeface="Calibri"/>
              <a:sym typeface="Calibri"/>
            </a:endParaRPr>
          </a:p>
        </p:txBody>
      </p:sp>
      <p:sp>
        <p:nvSpPr>
          <p:cNvPr id="227" name="Google Shape;227;p8"/>
          <p:cNvSpPr/>
          <p:nvPr/>
        </p:nvSpPr>
        <p:spPr>
          <a:xfrm>
            <a:off x="777240" y="3186778"/>
            <a:ext cx="3612000" cy="32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800" u="none" cap="none" strike="noStrike">
                <a:solidFill>
                  <a:srgbClr val="2E3A47"/>
                </a:solidFill>
                <a:latin typeface="Calibri"/>
                <a:ea typeface="Calibri"/>
                <a:cs typeface="Calibri"/>
                <a:sym typeface="Calibri"/>
              </a:rPr>
              <a:t>The system surfaces prioritized, actionable recommendations rather than exposing raw data.</a:t>
            </a:r>
            <a:endParaRPr b="0" i="0" sz="800" u="none" cap="none" strike="noStrike">
              <a:solidFill>
                <a:schemeClr val="dk1"/>
              </a:solidFill>
              <a:latin typeface="Calibri"/>
              <a:ea typeface="Calibri"/>
              <a:cs typeface="Calibri"/>
              <a:sym typeface="Calibri"/>
            </a:endParaRPr>
          </a:p>
        </p:txBody>
      </p:sp>
      <p:sp>
        <p:nvSpPr>
          <p:cNvPr id="228" name="Google Shape;228;p8"/>
          <p:cNvSpPr/>
          <p:nvPr/>
        </p:nvSpPr>
        <p:spPr>
          <a:xfrm>
            <a:off x="274320" y="3643978"/>
            <a:ext cx="4206300" cy="7497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274320" y="3643978"/>
            <a:ext cx="54900" cy="749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402336" y="3845146"/>
            <a:ext cx="274200" cy="2742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402336" y="384514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232" name="Google Shape;232;p8"/>
          <p:cNvSpPr/>
          <p:nvPr/>
        </p:nvSpPr>
        <p:spPr>
          <a:xfrm>
            <a:off x="777240" y="3735418"/>
            <a:ext cx="361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1000" u="none" cap="none" strike="noStrike">
                <a:solidFill>
                  <a:srgbClr val="1B3A5C"/>
                </a:solidFill>
                <a:latin typeface="Calibri"/>
                <a:ea typeface="Calibri"/>
                <a:cs typeface="Calibri"/>
                <a:sym typeface="Calibri"/>
              </a:rPr>
              <a:t>Explainability over black-box accuracy</a:t>
            </a:r>
            <a:endParaRPr b="0" i="0" sz="1000" u="none" cap="none" strike="noStrike">
              <a:solidFill>
                <a:schemeClr val="dk1"/>
              </a:solidFill>
              <a:latin typeface="Calibri"/>
              <a:ea typeface="Calibri"/>
              <a:cs typeface="Calibri"/>
              <a:sym typeface="Calibri"/>
            </a:endParaRPr>
          </a:p>
        </p:txBody>
      </p:sp>
      <p:sp>
        <p:nvSpPr>
          <p:cNvPr id="233" name="Google Shape;233;p8"/>
          <p:cNvSpPr/>
          <p:nvPr/>
        </p:nvSpPr>
        <p:spPr>
          <a:xfrm>
            <a:off x="777240" y="4028026"/>
            <a:ext cx="3612000" cy="32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800" u="none" cap="none" strike="noStrike">
                <a:solidFill>
                  <a:srgbClr val="2E3A47"/>
                </a:solidFill>
                <a:latin typeface="Calibri"/>
                <a:ea typeface="Calibri"/>
                <a:cs typeface="Calibri"/>
                <a:sym typeface="Calibri"/>
              </a:rPr>
              <a:t>Recommendations are backed by clear signal-level reasoning that planners can validate.</a:t>
            </a:r>
            <a:endParaRPr b="0" i="0" sz="800" u="none" cap="none" strike="noStrike">
              <a:solidFill>
                <a:schemeClr val="dk1"/>
              </a:solidFill>
              <a:latin typeface="Calibri"/>
              <a:ea typeface="Calibri"/>
              <a:cs typeface="Calibri"/>
              <a:sym typeface="Calibri"/>
            </a:endParaRPr>
          </a:p>
        </p:txBody>
      </p:sp>
      <p:sp>
        <p:nvSpPr>
          <p:cNvPr id="234" name="Google Shape;234;p8"/>
          <p:cNvSpPr/>
          <p:nvPr/>
        </p:nvSpPr>
        <p:spPr>
          <a:xfrm>
            <a:off x="4663440" y="1961482"/>
            <a:ext cx="4206300" cy="7497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4663440" y="1961482"/>
            <a:ext cx="54900" cy="749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4791456" y="2162650"/>
            <a:ext cx="274200" cy="2742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4791456" y="2162650"/>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238" name="Google Shape;238;p8"/>
          <p:cNvSpPr/>
          <p:nvPr/>
        </p:nvSpPr>
        <p:spPr>
          <a:xfrm>
            <a:off x="5166360" y="2052922"/>
            <a:ext cx="361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1000" u="none" cap="none" strike="noStrike">
                <a:solidFill>
                  <a:srgbClr val="1B3A5C"/>
                </a:solidFill>
                <a:latin typeface="Calibri"/>
                <a:ea typeface="Calibri"/>
                <a:cs typeface="Calibri"/>
                <a:sym typeface="Calibri"/>
              </a:rPr>
              <a:t>AOG risk minimization as the primary objective</a:t>
            </a:r>
            <a:endParaRPr b="0" i="0" sz="1000" u="none" cap="none" strike="noStrike">
              <a:solidFill>
                <a:schemeClr val="dk1"/>
              </a:solidFill>
              <a:latin typeface="Calibri"/>
              <a:ea typeface="Calibri"/>
              <a:cs typeface="Calibri"/>
              <a:sym typeface="Calibri"/>
            </a:endParaRPr>
          </a:p>
        </p:txBody>
      </p:sp>
      <p:sp>
        <p:nvSpPr>
          <p:cNvPr id="239" name="Google Shape;239;p8"/>
          <p:cNvSpPr/>
          <p:nvPr/>
        </p:nvSpPr>
        <p:spPr>
          <a:xfrm>
            <a:off x="5166360" y="2345530"/>
            <a:ext cx="3612000" cy="32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800" u="none" cap="none" strike="noStrike">
                <a:solidFill>
                  <a:srgbClr val="2E3A47"/>
                </a:solidFill>
                <a:latin typeface="Calibri"/>
                <a:ea typeface="Calibri"/>
                <a:cs typeface="Calibri"/>
                <a:sym typeface="Calibri"/>
              </a:rPr>
              <a:t>All decisions are framed around avoiding aircraft-on-ground events, not generic service levels.</a:t>
            </a:r>
            <a:endParaRPr b="0" i="0" sz="800" u="none" cap="none" strike="noStrike">
              <a:solidFill>
                <a:schemeClr val="dk1"/>
              </a:solidFill>
              <a:latin typeface="Calibri"/>
              <a:ea typeface="Calibri"/>
              <a:cs typeface="Calibri"/>
              <a:sym typeface="Calibri"/>
            </a:endParaRPr>
          </a:p>
        </p:txBody>
      </p:sp>
      <p:sp>
        <p:nvSpPr>
          <p:cNvPr id="240" name="Google Shape;240;p8"/>
          <p:cNvSpPr/>
          <p:nvPr/>
        </p:nvSpPr>
        <p:spPr>
          <a:xfrm>
            <a:off x="4663440" y="2802730"/>
            <a:ext cx="4206300" cy="7497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4663440" y="2802730"/>
            <a:ext cx="54900" cy="749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4791456" y="3003898"/>
            <a:ext cx="274200" cy="2742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4791456" y="3003898"/>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
        <p:nvSpPr>
          <p:cNvPr id="244" name="Google Shape;244;p8"/>
          <p:cNvSpPr/>
          <p:nvPr/>
        </p:nvSpPr>
        <p:spPr>
          <a:xfrm>
            <a:off x="5166360" y="2894170"/>
            <a:ext cx="361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1000" u="none" cap="none" strike="noStrike">
                <a:solidFill>
                  <a:srgbClr val="1B3A5C"/>
                </a:solidFill>
                <a:latin typeface="Calibri"/>
                <a:ea typeface="Calibri"/>
                <a:cs typeface="Calibri"/>
                <a:sym typeface="Calibri"/>
              </a:rPr>
              <a:t>Human-in-the-loop learning</a:t>
            </a:r>
            <a:endParaRPr b="0" i="0" sz="1000" u="none" cap="none" strike="noStrike">
              <a:solidFill>
                <a:schemeClr val="dk1"/>
              </a:solidFill>
              <a:latin typeface="Calibri"/>
              <a:ea typeface="Calibri"/>
              <a:cs typeface="Calibri"/>
              <a:sym typeface="Calibri"/>
            </a:endParaRPr>
          </a:p>
        </p:txBody>
      </p:sp>
      <p:sp>
        <p:nvSpPr>
          <p:cNvPr id="245" name="Google Shape;245;p8"/>
          <p:cNvSpPr/>
          <p:nvPr/>
        </p:nvSpPr>
        <p:spPr>
          <a:xfrm>
            <a:off x="5166360" y="3186778"/>
            <a:ext cx="3612000" cy="32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800" u="none" cap="none" strike="noStrike">
                <a:solidFill>
                  <a:srgbClr val="2E3A47"/>
                </a:solidFill>
                <a:latin typeface="Calibri"/>
                <a:ea typeface="Calibri"/>
                <a:cs typeface="Calibri"/>
                <a:sym typeface="Calibri"/>
              </a:rPr>
              <a:t>Planner overrides are captured as structured inputs to continuously improve the system.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50" name="Shape 250"/>
        <p:cNvGrpSpPr/>
        <p:nvPr/>
      </p:nvGrpSpPr>
      <p:grpSpPr>
        <a:xfrm>
          <a:off x="0" y="0"/>
          <a:ext cx="0" cy="0"/>
          <a:chOff x="0" y="0"/>
          <a:chExt cx="0" cy="0"/>
        </a:xfrm>
      </p:grpSpPr>
      <p:sp>
        <p:nvSpPr>
          <p:cNvPr id="251" name="Google Shape;251;p9"/>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Product Strategy</a:t>
            </a:r>
            <a:endParaRPr b="0" i="0" sz="2000" u="none" cap="none" strike="noStrike">
              <a:solidFill>
                <a:schemeClr val="dk1"/>
              </a:solidFill>
              <a:latin typeface="Calibri"/>
              <a:ea typeface="Calibri"/>
              <a:cs typeface="Calibri"/>
              <a:sym typeface="Calibri"/>
            </a:endParaRPr>
          </a:p>
        </p:txBody>
      </p:sp>
      <p:sp>
        <p:nvSpPr>
          <p:cNvPr id="254" name="Google Shape;254;p9"/>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256" name="Google Shape;256;p9"/>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7</a:t>
            </a:r>
            <a:endParaRPr b="0" i="0" sz="750" u="none" cap="none" strike="noStrike">
              <a:solidFill>
                <a:schemeClr val="dk1"/>
              </a:solidFill>
              <a:latin typeface="Calibri"/>
              <a:ea typeface="Calibri"/>
              <a:cs typeface="Calibri"/>
              <a:sym typeface="Calibri"/>
            </a:endParaRPr>
          </a:p>
        </p:txBody>
      </p:sp>
      <p:sp>
        <p:nvSpPr>
          <p:cNvPr id="257" name="Google Shape;257;p9"/>
          <p:cNvSpPr/>
          <p:nvPr/>
        </p:nvSpPr>
        <p:spPr>
          <a:xfrm>
            <a:off x="274320" y="713232"/>
            <a:ext cx="8595360" cy="23774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365760" y="713232"/>
            <a:ext cx="8412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1600" u="none" cap="none" strike="noStrike">
                <a:solidFill>
                  <a:srgbClr val="FFFFFF"/>
                </a:solidFill>
                <a:latin typeface="Calibri"/>
                <a:ea typeface="Calibri"/>
                <a:cs typeface="Calibri"/>
                <a:sym typeface="Calibri"/>
              </a:rPr>
              <a:t>Strategic </a:t>
            </a:r>
            <a:r>
              <a:rPr b="1" lang="en-US" sz="1600">
                <a:solidFill>
                  <a:srgbClr val="FFFFFF"/>
                </a:solidFill>
                <a:latin typeface="Calibri"/>
                <a:ea typeface="Calibri"/>
                <a:cs typeface="Calibri"/>
                <a:sym typeface="Calibri"/>
              </a:rPr>
              <a:t>Trade Offs</a:t>
            </a:r>
            <a:endParaRPr b="0" i="0" sz="1600" u="none" cap="none" strike="noStrike">
              <a:solidFill>
                <a:schemeClr val="dk1"/>
              </a:solidFill>
              <a:latin typeface="Calibri"/>
              <a:ea typeface="Calibri"/>
              <a:cs typeface="Calibri"/>
              <a:sym typeface="Calibri"/>
            </a:endParaRPr>
          </a:p>
        </p:txBody>
      </p:sp>
      <p:sp>
        <p:nvSpPr>
          <p:cNvPr id="259" name="Google Shape;259;p9"/>
          <p:cNvSpPr/>
          <p:nvPr/>
        </p:nvSpPr>
        <p:spPr>
          <a:xfrm>
            <a:off x="274320" y="1042416"/>
            <a:ext cx="4206240" cy="1664208"/>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274320" y="1042416"/>
            <a:ext cx="4206240" cy="5486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438912" y="1207008"/>
            <a:ext cx="1766621"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5C"/>
              </a:buClr>
              <a:buSzPts val="1000"/>
              <a:buFont typeface="Calibri"/>
              <a:buNone/>
            </a:pPr>
            <a:r>
              <a:rPr b="1" i="0" lang="en-US" sz="1000" u="none" cap="none" strike="noStrike">
                <a:solidFill>
                  <a:srgbClr val="1B3A5C"/>
                </a:solidFill>
                <a:latin typeface="Calibri"/>
                <a:ea typeface="Calibri"/>
                <a:cs typeface="Calibri"/>
                <a:sym typeface="Calibri"/>
              </a:rPr>
              <a:t>Deterministic logic</a:t>
            </a:r>
            <a:endParaRPr b="0" i="0" sz="1000" u="none" cap="none" strike="noStrike">
              <a:solidFill>
                <a:schemeClr val="dk1"/>
              </a:solidFill>
              <a:latin typeface="Calibri"/>
              <a:ea typeface="Calibri"/>
              <a:cs typeface="Calibri"/>
              <a:sym typeface="Calibri"/>
            </a:endParaRPr>
          </a:p>
        </p:txBody>
      </p:sp>
      <p:sp>
        <p:nvSpPr>
          <p:cNvPr id="262" name="Google Shape;262;p9"/>
          <p:cNvSpPr/>
          <p:nvPr/>
        </p:nvSpPr>
        <p:spPr>
          <a:xfrm>
            <a:off x="2125066" y="1243584"/>
            <a:ext cx="347472" cy="27432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2125066" y="1243584"/>
            <a:ext cx="3474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vs</a:t>
            </a:r>
            <a:endParaRPr b="0" i="0" sz="800" u="none" cap="none" strike="noStrike">
              <a:solidFill>
                <a:schemeClr val="dk1"/>
              </a:solidFill>
              <a:latin typeface="Calibri"/>
              <a:ea typeface="Calibri"/>
              <a:cs typeface="Calibri"/>
              <a:sym typeface="Calibri"/>
            </a:endParaRPr>
          </a:p>
        </p:txBody>
      </p:sp>
      <p:sp>
        <p:nvSpPr>
          <p:cNvPr id="264" name="Google Shape;264;p9"/>
          <p:cNvSpPr/>
          <p:nvPr/>
        </p:nvSpPr>
        <p:spPr>
          <a:xfrm>
            <a:off x="2509114" y="1207008"/>
            <a:ext cx="1766621"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5C"/>
              </a:buClr>
              <a:buSzPts val="1000"/>
              <a:buFont typeface="Calibri"/>
              <a:buNone/>
            </a:pPr>
            <a:r>
              <a:rPr b="1" i="0" lang="en-US" sz="1000" u="none" cap="none" strike="noStrike">
                <a:solidFill>
                  <a:srgbClr val="1B3A5C"/>
                </a:solidFill>
                <a:latin typeface="Calibri"/>
                <a:ea typeface="Calibri"/>
                <a:cs typeface="Calibri"/>
                <a:sym typeface="Calibri"/>
              </a:rPr>
              <a:t>machine learning</a:t>
            </a:r>
            <a:endParaRPr b="0" i="0" sz="1000" u="none" cap="none" strike="noStrike">
              <a:solidFill>
                <a:schemeClr val="dk1"/>
              </a:solidFill>
              <a:latin typeface="Calibri"/>
              <a:ea typeface="Calibri"/>
              <a:cs typeface="Calibri"/>
              <a:sym typeface="Calibri"/>
            </a:endParaRPr>
          </a:p>
        </p:txBody>
      </p:sp>
      <p:cxnSp>
        <p:nvCxnSpPr>
          <p:cNvPr id="265" name="Google Shape;265;p9"/>
          <p:cNvCxnSpPr/>
          <p:nvPr/>
        </p:nvCxnSpPr>
        <p:spPr>
          <a:xfrm>
            <a:off x="438912" y="1627632"/>
            <a:ext cx="3877056" cy="0"/>
          </a:xfrm>
          <a:prstGeom prst="straightConnector1">
            <a:avLst/>
          </a:prstGeom>
          <a:noFill/>
          <a:ln cap="flat" cmpd="sng" w="9525">
            <a:solidFill>
              <a:srgbClr val="D8DFE8"/>
            </a:solidFill>
            <a:prstDash val="solid"/>
            <a:round/>
            <a:headEnd len="sm" w="sm" type="none"/>
            <a:tailEnd len="sm" w="sm" type="none"/>
          </a:ln>
        </p:spPr>
      </p:cxnSp>
      <p:sp>
        <p:nvSpPr>
          <p:cNvPr id="266" name="Google Shape;266;p9"/>
          <p:cNvSpPr/>
          <p:nvPr/>
        </p:nvSpPr>
        <p:spPr>
          <a:xfrm>
            <a:off x="438912" y="1719072"/>
            <a:ext cx="3877056" cy="8595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850"/>
              <a:buFont typeface="Calibri"/>
              <a:buNone/>
            </a:pPr>
            <a:r>
              <a:rPr b="0" i="0" lang="en-US" sz="850" u="none" cap="none" strike="noStrike">
                <a:solidFill>
                  <a:srgbClr val="2E3A47"/>
                </a:solidFill>
                <a:latin typeface="Calibri"/>
                <a:ea typeface="Calibri"/>
                <a:cs typeface="Calibri"/>
                <a:sym typeface="Calibri"/>
              </a:rPr>
              <a:t>The product starts with deterministic, event-driven modeling to ensure transparency and immediate value, with ML layered in as override and actuals data becomes available.</a:t>
            </a:r>
            <a:endParaRPr b="0" i="0" sz="850" u="none" cap="none" strike="noStrike">
              <a:solidFill>
                <a:schemeClr val="dk1"/>
              </a:solidFill>
              <a:latin typeface="Calibri"/>
              <a:ea typeface="Calibri"/>
              <a:cs typeface="Calibri"/>
              <a:sym typeface="Calibri"/>
            </a:endParaRPr>
          </a:p>
        </p:txBody>
      </p:sp>
      <p:sp>
        <p:nvSpPr>
          <p:cNvPr id="267" name="Google Shape;267;p9"/>
          <p:cNvSpPr/>
          <p:nvPr/>
        </p:nvSpPr>
        <p:spPr>
          <a:xfrm>
            <a:off x="4663440" y="1042416"/>
            <a:ext cx="4206240" cy="1664208"/>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4663440" y="1042416"/>
            <a:ext cx="4206240" cy="5486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4828032" y="1207008"/>
            <a:ext cx="1766621"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5C"/>
              </a:buClr>
              <a:buSzPts val="1000"/>
              <a:buFont typeface="Calibri"/>
              <a:buNone/>
            </a:pPr>
            <a:r>
              <a:rPr b="1" i="0" lang="en-US" sz="1000" u="none" cap="none" strike="noStrike">
                <a:solidFill>
                  <a:srgbClr val="1B3A5C"/>
                </a:solidFill>
                <a:latin typeface="Calibri"/>
                <a:ea typeface="Calibri"/>
                <a:cs typeface="Calibri"/>
                <a:sym typeface="Calibri"/>
              </a:rPr>
              <a:t>Actionability</a:t>
            </a:r>
            <a:endParaRPr b="0" i="0" sz="1000" u="none" cap="none" strike="noStrike">
              <a:solidFill>
                <a:schemeClr val="dk1"/>
              </a:solidFill>
              <a:latin typeface="Calibri"/>
              <a:ea typeface="Calibri"/>
              <a:cs typeface="Calibri"/>
              <a:sym typeface="Calibri"/>
            </a:endParaRPr>
          </a:p>
        </p:txBody>
      </p:sp>
      <p:sp>
        <p:nvSpPr>
          <p:cNvPr id="270" name="Google Shape;270;p9"/>
          <p:cNvSpPr/>
          <p:nvPr/>
        </p:nvSpPr>
        <p:spPr>
          <a:xfrm>
            <a:off x="6514186" y="1243584"/>
            <a:ext cx="347472" cy="27432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a:off x="6514186" y="1243584"/>
            <a:ext cx="3474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vs</a:t>
            </a:r>
            <a:endParaRPr b="0" i="0" sz="800" u="none" cap="none" strike="noStrike">
              <a:solidFill>
                <a:schemeClr val="dk1"/>
              </a:solidFill>
              <a:latin typeface="Calibri"/>
              <a:ea typeface="Calibri"/>
              <a:cs typeface="Calibri"/>
              <a:sym typeface="Calibri"/>
            </a:endParaRPr>
          </a:p>
        </p:txBody>
      </p:sp>
      <p:sp>
        <p:nvSpPr>
          <p:cNvPr id="272" name="Google Shape;272;p9"/>
          <p:cNvSpPr/>
          <p:nvPr/>
        </p:nvSpPr>
        <p:spPr>
          <a:xfrm>
            <a:off x="6898234" y="1207008"/>
            <a:ext cx="1766621"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5C"/>
              </a:buClr>
              <a:buSzPts val="1000"/>
              <a:buFont typeface="Calibri"/>
              <a:buNone/>
            </a:pPr>
            <a:r>
              <a:rPr b="1" i="0" lang="en-US" sz="1000" u="none" cap="none" strike="noStrike">
                <a:solidFill>
                  <a:srgbClr val="1B3A5C"/>
                </a:solidFill>
                <a:latin typeface="Calibri"/>
                <a:ea typeface="Calibri"/>
                <a:cs typeface="Calibri"/>
                <a:sym typeface="Calibri"/>
              </a:rPr>
              <a:t>completeness of data</a:t>
            </a:r>
            <a:endParaRPr b="0" i="0" sz="1000" u="none" cap="none" strike="noStrike">
              <a:solidFill>
                <a:schemeClr val="dk1"/>
              </a:solidFill>
              <a:latin typeface="Calibri"/>
              <a:ea typeface="Calibri"/>
              <a:cs typeface="Calibri"/>
              <a:sym typeface="Calibri"/>
            </a:endParaRPr>
          </a:p>
        </p:txBody>
      </p:sp>
      <p:cxnSp>
        <p:nvCxnSpPr>
          <p:cNvPr id="273" name="Google Shape;273;p9"/>
          <p:cNvCxnSpPr/>
          <p:nvPr/>
        </p:nvCxnSpPr>
        <p:spPr>
          <a:xfrm>
            <a:off x="4828032" y="1627632"/>
            <a:ext cx="3877056" cy="0"/>
          </a:xfrm>
          <a:prstGeom prst="straightConnector1">
            <a:avLst/>
          </a:prstGeom>
          <a:noFill/>
          <a:ln cap="flat" cmpd="sng" w="9525">
            <a:solidFill>
              <a:srgbClr val="D8DFE8"/>
            </a:solidFill>
            <a:prstDash val="solid"/>
            <a:round/>
            <a:headEnd len="sm" w="sm" type="none"/>
            <a:tailEnd len="sm" w="sm" type="none"/>
          </a:ln>
        </p:spPr>
      </p:cxnSp>
      <p:sp>
        <p:nvSpPr>
          <p:cNvPr id="274" name="Google Shape;274;p9"/>
          <p:cNvSpPr/>
          <p:nvPr/>
        </p:nvSpPr>
        <p:spPr>
          <a:xfrm>
            <a:off x="4828032" y="1719072"/>
            <a:ext cx="3877056" cy="8595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850"/>
              <a:buFont typeface="Calibri"/>
              <a:buNone/>
            </a:pPr>
            <a:r>
              <a:rPr b="0" i="0" lang="en-US" sz="850" u="none" cap="none" strike="noStrike">
                <a:solidFill>
                  <a:srgbClr val="2E3A47"/>
                </a:solidFill>
                <a:latin typeface="Calibri"/>
                <a:ea typeface="Calibri"/>
                <a:cs typeface="Calibri"/>
                <a:sym typeface="Calibri"/>
              </a:rPr>
              <a:t>Recommendations are generated with available signals and confidence flags rather than delayed for perfect data completeness.</a:t>
            </a:r>
            <a:endParaRPr b="0" i="0" sz="850" u="none" cap="none" strike="noStrike">
              <a:solidFill>
                <a:schemeClr val="dk1"/>
              </a:solidFill>
              <a:latin typeface="Calibri"/>
              <a:ea typeface="Calibri"/>
              <a:cs typeface="Calibri"/>
              <a:sym typeface="Calibri"/>
            </a:endParaRPr>
          </a:p>
        </p:txBody>
      </p:sp>
      <p:sp>
        <p:nvSpPr>
          <p:cNvPr id="275" name="Google Shape;275;p9"/>
          <p:cNvSpPr/>
          <p:nvPr/>
        </p:nvSpPr>
        <p:spPr>
          <a:xfrm>
            <a:off x="274320" y="2834640"/>
            <a:ext cx="4206240" cy="1664208"/>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274320" y="2834640"/>
            <a:ext cx="4206240" cy="5486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438912" y="2999232"/>
            <a:ext cx="1766621"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5C"/>
              </a:buClr>
              <a:buSzPts val="1000"/>
              <a:buFont typeface="Calibri"/>
              <a:buNone/>
            </a:pPr>
            <a:r>
              <a:rPr b="1" i="0" lang="en-US" sz="1000" u="none" cap="none" strike="noStrike">
                <a:solidFill>
                  <a:srgbClr val="1B3A5C"/>
                </a:solidFill>
                <a:latin typeface="Calibri"/>
                <a:ea typeface="Calibri"/>
                <a:cs typeface="Calibri"/>
                <a:sym typeface="Calibri"/>
              </a:rPr>
              <a:t>Guidance</a:t>
            </a:r>
            <a:endParaRPr b="0" i="0" sz="1000" u="none" cap="none" strike="noStrike">
              <a:solidFill>
                <a:schemeClr val="dk1"/>
              </a:solidFill>
              <a:latin typeface="Calibri"/>
              <a:ea typeface="Calibri"/>
              <a:cs typeface="Calibri"/>
              <a:sym typeface="Calibri"/>
            </a:endParaRPr>
          </a:p>
        </p:txBody>
      </p:sp>
      <p:sp>
        <p:nvSpPr>
          <p:cNvPr id="278" name="Google Shape;278;p9"/>
          <p:cNvSpPr/>
          <p:nvPr/>
        </p:nvSpPr>
        <p:spPr>
          <a:xfrm>
            <a:off x="2125066" y="3035808"/>
            <a:ext cx="347472" cy="27432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2125066" y="3035808"/>
            <a:ext cx="3474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vs</a:t>
            </a:r>
            <a:endParaRPr b="0" i="0" sz="800" u="none" cap="none" strike="noStrike">
              <a:solidFill>
                <a:schemeClr val="dk1"/>
              </a:solidFill>
              <a:latin typeface="Calibri"/>
              <a:ea typeface="Calibri"/>
              <a:cs typeface="Calibri"/>
              <a:sym typeface="Calibri"/>
            </a:endParaRPr>
          </a:p>
        </p:txBody>
      </p:sp>
      <p:sp>
        <p:nvSpPr>
          <p:cNvPr id="280" name="Google Shape;280;p9"/>
          <p:cNvSpPr/>
          <p:nvPr/>
        </p:nvSpPr>
        <p:spPr>
          <a:xfrm>
            <a:off x="2509114" y="2999232"/>
            <a:ext cx="1766621"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5C"/>
              </a:buClr>
              <a:buSzPts val="1000"/>
              <a:buFont typeface="Calibri"/>
              <a:buNone/>
            </a:pPr>
            <a:r>
              <a:rPr b="1" i="0" lang="en-US" sz="1000" u="none" cap="none" strike="noStrike">
                <a:solidFill>
                  <a:srgbClr val="1B3A5C"/>
                </a:solidFill>
                <a:latin typeface="Calibri"/>
                <a:ea typeface="Calibri"/>
                <a:cs typeface="Calibri"/>
                <a:sym typeface="Calibri"/>
              </a:rPr>
              <a:t>full automation</a:t>
            </a:r>
            <a:endParaRPr b="0" i="0" sz="1000" u="none" cap="none" strike="noStrike">
              <a:solidFill>
                <a:schemeClr val="dk1"/>
              </a:solidFill>
              <a:latin typeface="Calibri"/>
              <a:ea typeface="Calibri"/>
              <a:cs typeface="Calibri"/>
              <a:sym typeface="Calibri"/>
            </a:endParaRPr>
          </a:p>
        </p:txBody>
      </p:sp>
      <p:cxnSp>
        <p:nvCxnSpPr>
          <p:cNvPr id="281" name="Google Shape;281;p9"/>
          <p:cNvCxnSpPr/>
          <p:nvPr/>
        </p:nvCxnSpPr>
        <p:spPr>
          <a:xfrm>
            <a:off x="438912" y="3419856"/>
            <a:ext cx="3877056" cy="0"/>
          </a:xfrm>
          <a:prstGeom prst="straightConnector1">
            <a:avLst/>
          </a:prstGeom>
          <a:noFill/>
          <a:ln cap="flat" cmpd="sng" w="9525">
            <a:solidFill>
              <a:srgbClr val="D8DFE8"/>
            </a:solidFill>
            <a:prstDash val="solid"/>
            <a:round/>
            <a:headEnd len="sm" w="sm" type="none"/>
            <a:tailEnd len="sm" w="sm" type="none"/>
          </a:ln>
        </p:spPr>
      </p:cxnSp>
      <p:sp>
        <p:nvSpPr>
          <p:cNvPr id="282" name="Google Shape;282;p9"/>
          <p:cNvSpPr/>
          <p:nvPr/>
        </p:nvSpPr>
        <p:spPr>
          <a:xfrm>
            <a:off x="438912" y="3511296"/>
            <a:ext cx="3877056" cy="8595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850"/>
              <a:buFont typeface="Calibri"/>
              <a:buNone/>
            </a:pPr>
            <a:r>
              <a:rPr b="0" i="0" lang="en-US" sz="850" u="none" cap="none" strike="noStrike">
                <a:solidFill>
                  <a:srgbClr val="2E3A47"/>
                </a:solidFill>
                <a:latin typeface="Calibri"/>
                <a:ea typeface="Calibri"/>
                <a:cs typeface="Calibri"/>
                <a:sym typeface="Calibri"/>
              </a:rPr>
              <a:t>The system prioritizes guided decision-making, with planners approving or overriding recommendations rather than fully autonomous execution.</a:t>
            </a:r>
            <a:endParaRPr b="0" i="0" sz="850" u="none" cap="none" strike="noStrike">
              <a:solidFill>
                <a:schemeClr val="dk1"/>
              </a:solidFill>
              <a:latin typeface="Calibri"/>
              <a:ea typeface="Calibri"/>
              <a:cs typeface="Calibri"/>
              <a:sym typeface="Calibri"/>
            </a:endParaRPr>
          </a:p>
        </p:txBody>
      </p:sp>
      <p:sp>
        <p:nvSpPr>
          <p:cNvPr id="283" name="Google Shape;283;p9"/>
          <p:cNvSpPr/>
          <p:nvPr/>
        </p:nvSpPr>
        <p:spPr>
          <a:xfrm>
            <a:off x="4663440" y="2834640"/>
            <a:ext cx="4206240" cy="1664208"/>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4663440" y="2834640"/>
            <a:ext cx="4206240" cy="5486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4828032" y="2999232"/>
            <a:ext cx="1766621"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5C"/>
              </a:buClr>
              <a:buSzPts val="1000"/>
              <a:buFont typeface="Calibri"/>
              <a:buNone/>
            </a:pPr>
            <a:r>
              <a:rPr b="1" i="0" lang="en-US" sz="1000" u="none" cap="none" strike="noStrike">
                <a:solidFill>
                  <a:srgbClr val="1B3A5C"/>
                </a:solidFill>
                <a:latin typeface="Calibri"/>
                <a:ea typeface="Calibri"/>
                <a:cs typeface="Calibri"/>
                <a:sym typeface="Calibri"/>
              </a:rPr>
              <a:t>Depth</a:t>
            </a:r>
            <a:endParaRPr b="0" i="0" sz="1000" u="none" cap="none" strike="noStrike">
              <a:solidFill>
                <a:schemeClr val="dk1"/>
              </a:solidFill>
              <a:latin typeface="Calibri"/>
              <a:ea typeface="Calibri"/>
              <a:cs typeface="Calibri"/>
              <a:sym typeface="Calibri"/>
            </a:endParaRPr>
          </a:p>
        </p:txBody>
      </p:sp>
      <p:sp>
        <p:nvSpPr>
          <p:cNvPr id="286" name="Google Shape;286;p9"/>
          <p:cNvSpPr/>
          <p:nvPr/>
        </p:nvSpPr>
        <p:spPr>
          <a:xfrm>
            <a:off x="6514186" y="3035808"/>
            <a:ext cx="347472" cy="27432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6514186" y="3035808"/>
            <a:ext cx="3474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vs</a:t>
            </a:r>
            <a:endParaRPr b="0" i="0" sz="800" u="none" cap="none" strike="noStrike">
              <a:solidFill>
                <a:schemeClr val="dk1"/>
              </a:solidFill>
              <a:latin typeface="Calibri"/>
              <a:ea typeface="Calibri"/>
              <a:cs typeface="Calibri"/>
              <a:sym typeface="Calibri"/>
            </a:endParaRPr>
          </a:p>
        </p:txBody>
      </p:sp>
      <p:sp>
        <p:nvSpPr>
          <p:cNvPr id="288" name="Google Shape;288;p9"/>
          <p:cNvSpPr/>
          <p:nvPr/>
        </p:nvSpPr>
        <p:spPr>
          <a:xfrm>
            <a:off x="6898234" y="2999232"/>
            <a:ext cx="1766621"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5C"/>
              </a:buClr>
              <a:buSzPts val="1000"/>
              <a:buFont typeface="Calibri"/>
              <a:buNone/>
            </a:pPr>
            <a:r>
              <a:rPr b="1" i="0" lang="en-US" sz="1000" u="none" cap="none" strike="noStrike">
                <a:solidFill>
                  <a:srgbClr val="1B3A5C"/>
                </a:solidFill>
                <a:latin typeface="Calibri"/>
                <a:ea typeface="Calibri"/>
                <a:cs typeface="Calibri"/>
                <a:sym typeface="Calibri"/>
              </a:rPr>
              <a:t>breadth of coverage</a:t>
            </a:r>
            <a:endParaRPr b="0" i="0" sz="1000" u="none" cap="none" strike="noStrike">
              <a:solidFill>
                <a:schemeClr val="dk1"/>
              </a:solidFill>
              <a:latin typeface="Calibri"/>
              <a:ea typeface="Calibri"/>
              <a:cs typeface="Calibri"/>
              <a:sym typeface="Calibri"/>
            </a:endParaRPr>
          </a:p>
        </p:txBody>
      </p:sp>
      <p:cxnSp>
        <p:nvCxnSpPr>
          <p:cNvPr id="289" name="Google Shape;289;p9"/>
          <p:cNvCxnSpPr/>
          <p:nvPr/>
        </p:nvCxnSpPr>
        <p:spPr>
          <a:xfrm>
            <a:off x="4828032" y="3419856"/>
            <a:ext cx="3877056" cy="0"/>
          </a:xfrm>
          <a:prstGeom prst="straightConnector1">
            <a:avLst/>
          </a:prstGeom>
          <a:noFill/>
          <a:ln cap="flat" cmpd="sng" w="9525">
            <a:solidFill>
              <a:srgbClr val="D8DFE8"/>
            </a:solidFill>
            <a:prstDash val="solid"/>
            <a:round/>
            <a:headEnd len="sm" w="sm" type="none"/>
            <a:tailEnd len="sm" w="sm" type="none"/>
          </a:ln>
        </p:spPr>
      </p:cxnSp>
      <p:sp>
        <p:nvSpPr>
          <p:cNvPr id="290" name="Google Shape;290;p9"/>
          <p:cNvSpPr/>
          <p:nvPr/>
        </p:nvSpPr>
        <p:spPr>
          <a:xfrm>
            <a:off x="4828032" y="3511296"/>
            <a:ext cx="3877056" cy="8595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850"/>
              <a:buFont typeface="Calibri"/>
              <a:buNone/>
            </a:pPr>
            <a:r>
              <a:rPr b="0" i="0" lang="en-US" sz="850" u="none" cap="none" strike="noStrike">
                <a:solidFill>
                  <a:srgbClr val="2E3A47"/>
                </a:solidFill>
                <a:latin typeface="Calibri"/>
                <a:ea typeface="Calibri"/>
                <a:cs typeface="Calibri"/>
                <a:sym typeface="Calibri"/>
              </a:rPr>
              <a:t>Initial focus is on solving demand planning deeply for MRO operators, before expanding across additional workflows or verticals.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95" name="Shape 295"/>
        <p:cNvGrpSpPr/>
        <p:nvPr/>
      </p:nvGrpSpPr>
      <p:grpSpPr>
        <a:xfrm>
          <a:off x="0" y="0"/>
          <a:ext cx="0" cy="0"/>
          <a:chOff x="0" y="0"/>
          <a:chExt cx="0" cy="0"/>
        </a:xfrm>
      </p:grpSpPr>
      <p:sp>
        <p:nvSpPr>
          <p:cNvPr id="296" name="Google Shape;296;p10"/>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0"/>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How We Measure Success</a:t>
            </a:r>
            <a:endParaRPr b="0" i="0" sz="2000" u="none" cap="none" strike="noStrike">
              <a:solidFill>
                <a:schemeClr val="dk1"/>
              </a:solidFill>
              <a:latin typeface="Calibri"/>
              <a:ea typeface="Calibri"/>
              <a:cs typeface="Calibri"/>
              <a:sym typeface="Calibri"/>
            </a:endParaRPr>
          </a:p>
        </p:txBody>
      </p:sp>
      <p:sp>
        <p:nvSpPr>
          <p:cNvPr id="299" name="Google Shape;299;p10"/>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301" name="Google Shape;301;p10"/>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8</a:t>
            </a:r>
            <a:endParaRPr b="0" i="0" sz="750" u="none" cap="none" strike="noStrike">
              <a:solidFill>
                <a:schemeClr val="dk1"/>
              </a:solidFill>
              <a:latin typeface="Calibri"/>
              <a:ea typeface="Calibri"/>
              <a:cs typeface="Calibri"/>
              <a:sym typeface="Calibri"/>
            </a:endParaRPr>
          </a:p>
        </p:txBody>
      </p:sp>
      <p:sp>
        <p:nvSpPr>
          <p:cNvPr id="302" name="Google Shape;302;p10"/>
          <p:cNvSpPr/>
          <p:nvPr/>
        </p:nvSpPr>
        <p:spPr>
          <a:xfrm>
            <a:off x="274320" y="818907"/>
            <a:ext cx="85953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8D"/>
              </a:buClr>
              <a:buSzPts val="880"/>
              <a:buFont typeface="Calibri"/>
              <a:buNone/>
            </a:pPr>
            <a:r>
              <a:rPr b="1" i="1" lang="en-US" sz="1380" u="none" cap="none" strike="noStrike">
                <a:solidFill>
                  <a:srgbClr val="6B7A8D"/>
                </a:solidFill>
                <a:latin typeface="Calibri"/>
                <a:ea typeface="Calibri"/>
                <a:cs typeface="Calibri"/>
                <a:sym typeface="Calibri"/>
              </a:rPr>
              <a:t>Success is defined by shifting from reactive, spreadsheet-driven planning to proactive risk management with measurable improvements in forecast accuracy, cycle time, and decision accountability.</a:t>
            </a:r>
            <a:endParaRPr b="1" i="0" sz="1380" u="none" cap="none" strike="noStrike">
              <a:solidFill>
                <a:schemeClr val="dk1"/>
              </a:solidFill>
              <a:latin typeface="Calibri"/>
              <a:ea typeface="Calibri"/>
              <a:cs typeface="Calibri"/>
              <a:sym typeface="Calibri"/>
            </a:endParaRPr>
          </a:p>
        </p:txBody>
      </p:sp>
      <p:sp>
        <p:nvSpPr>
          <p:cNvPr id="303" name="Google Shape;303;p10"/>
          <p:cNvSpPr/>
          <p:nvPr/>
        </p:nvSpPr>
        <p:spPr>
          <a:xfrm>
            <a:off x="274320" y="1458116"/>
            <a:ext cx="2011800" cy="310800"/>
          </a:xfrm>
          <a:prstGeom prst="rect">
            <a:avLst/>
          </a:prstGeom>
          <a:solidFill>
            <a:srgbClr val="1B3A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347472" y="1458116"/>
            <a:ext cx="19203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1200" u="none" cap="none" strike="noStrike">
                <a:solidFill>
                  <a:srgbClr val="FFFFFF"/>
                </a:solidFill>
                <a:latin typeface="Calibri"/>
                <a:ea typeface="Calibri"/>
                <a:cs typeface="Calibri"/>
                <a:sym typeface="Calibri"/>
              </a:rPr>
              <a:t>Metric</a:t>
            </a:r>
            <a:endParaRPr b="0" i="0" sz="1200" u="none" cap="none" strike="noStrike">
              <a:solidFill>
                <a:schemeClr val="dk1"/>
              </a:solidFill>
              <a:latin typeface="Calibri"/>
              <a:ea typeface="Calibri"/>
              <a:cs typeface="Calibri"/>
              <a:sym typeface="Calibri"/>
            </a:endParaRPr>
          </a:p>
        </p:txBody>
      </p:sp>
      <p:sp>
        <p:nvSpPr>
          <p:cNvPr id="305" name="Google Shape;305;p10"/>
          <p:cNvSpPr/>
          <p:nvPr/>
        </p:nvSpPr>
        <p:spPr>
          <a:xfrm>
            <a:off x="2331720" y="1458116"/>
            <a:ext cx="2423100" cy="310800"/>
          </a:xfrm>
          <a:prstGeom prst="rect">
            <a:avLst/>
          </a:prstGeom>
          <a:solidFill>
            <a:srgbClr val="2A4E7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0"/>
          <p:cNvSpPr/>
          <p:nvPr/>
        </p:nvSpPr>
        <p:spPr>
          <a:xfrm>
            <a:off x="2404872" y="1458116"/>
            <a:ext cx="23316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1200" u="none" cap="none" strike="noStrike">
                <a:solidFill>
                  <a:srgbClr val="FFFFFF"/>
                </a:solidFill>
                <a:latin typeface="Calibri"/>
                <a:ea typeface="Calibri"/>
                <a:cs typeface="Calibri"/>
                <a:sym typeface="Calibri"/>
              </a:rPr>
              <a:t>Definition</a:t>
            </a:r>
            <a:endParaRPr b="0" i="0" sz="1200" u="none" cap="none" strike="noStrike">
              <a:solidFill>
                <a:schemeClr val="dk1"/>
              </a:solidFill>
              <a:latin typeface="Calibri"/>
              <a:ea typeface="Calibri"/>
              <a:cs typeface="Calibri"/>
              <a:sym typeface="Calibri"/>
            </a:endParaRPr>
          </a:p>
        </p:txBody>
      </p:sp>
      <p:sp>
        <p:nvSpPr>
          <p:cNvPr id="307" name="Google Shape;307;p10"/>
          <p:cNvSpPr/>
          <p:nvPr/>
        </p:nvSpPr>
        <p:spPr>
          <a:xfrm>
            <a:off x="4800600" y="1458116"/>
            <a:ext cx="2148900" cy="310800"/>
          </a:xfrm>
          <a:prstGeom prst="rect">
            <a:avLst/>
          </a:prstGeom>
          <a:solidFill>
            <a:srgbClr val="2A4E7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p:nvPr/>
        </p:nvSpPr>
        <p:spPr>
          <a:xfrm>
            <a:off x="4873752" y="1458116"/>
            <a:ext cx="2057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1200" u="none" cap="none" strike="noStrike">
                <a:solidFill>
                  <a:srgbClr val="FFFFFF"/>
                </a:solidFill>
                <a:latin typeface="Calibri"/>
                <a:ea typeface="Calibri"/>
                <a:cs typeface="Calibri"/>
                <a:sym typeface="Calibri"/>
              </a:rPr>
              <a:t>Baseline Today</a:t>
            </a:r>
            <a:endParaRPr b="0" i="0" sz="1200" u="none" cap="none" strike="noStrike">
              <a:solidFill>
                <a:schemeClr val="dk1"/>
              </a:solidFill>
              <a:latin typeface="Calibri"/>
              <a:ea typeface="Calibri"/>
              <a:cs typeface="Calibri"/>
              <a:sym typeface="Calibri"/>
            </a:endParaRPr>
          </a:p>
        </p:txBody>
      </p:sp>
      <p:sp>
        <p:nvSpPr>
          <p:cNvPr id="309" name="Google Shape;309;p10"/>
          <p:cNvSpPr/>
          <p:nvPr/>
        </p:nvSpPr>
        <p:spPr>
          <a:xfrm>
            <a:off x="6995160" y="1458116"/>
            <a:ext cx="1874400" cy="310800"/>
          </a:xfrm>
          <a:prstGeom prst="rect">
            <a:avLst/>
          </a:prstGeom>
          <a:solidFill>
            <a:srgbClr val="2A4E7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7068312" y="1458116"/>
            <a:ext cx="1783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1200" u="none" cap="none" strike="noStrike">
                <a:solidFill>
                  <a:srgbClr val="FFFFFF"/>
                </a:solidFill>
                <a:latin typeface="Calibri"/>
                <a:ea typeface="Calibri"/>
                <a:cs typeface="Calibri"/>
                <a:sym typeface="Calibri"/>
              </a:rPr>
              <a:t>Target at 12 Months</a:t>
            </a:r>
            <a:endParaRPr b="0" i="0" sz="1200" u="none" cap="none" strike="noStrike">
              <a:solidFill>
                <a:schemeClr val="dk1"/>
              </a:solidFill>
              <a:latin typeface="Calibri"/>
              <a:ea typeface="Calibri"/>
              <a:cs typeface="Calibri"/>
              <a:sym typeface="Calibri"/>
            </a:endParaRPr>
          </a:p>
        </p:txBody>
      </p:sp>
      <p:sp>
        <p:nvSpPr>
          <p:cNvPr id="311" name="Google Shape;311;p10"/>
          <p:cNvSpPr/>
          <p:nvPr/>
        </p:nvSpPr>
        <p:spPr>
          <a:xfrm>
            <a:off x="274325" y="1769002"/>
            <a:ext cx="2011800" cy="574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12" name="Google Shape;312;p10"/>
          <p:cNvSpPr/>
          <p:nvPr/>
        </p:nvSpPr>
        <p:spPr>
          <a:xfrm>
            <a:off x="2331723" y="1769002"/>
            <a:ext cx="24231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13" name="Google Shape;313;p10"/>
          <p:cNvSpPr/>
          <p:nvPr/>
        </p:nvSpPr>
        <p:spPr>
          <a:xfrm>
            <a:off x="4800600" y="1769002"/>
            <a:ext cx="21489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14" name="Google Shape;314;p10"/>
          <p:cNvSpPr/>
          <p:nvPr/>
        </p:nvSpPr>
        <p:spPr>
          <a:xfrm>
            <a:off x="6995157" y="1769002"/>
            <a:ext cx="18744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15" name="Google Shape;315;p10"/>
          <p:cNvSpPr/>
          <p:nvPr/>
        </p:nvSpPr>
        <p:spPr>
          <a:xfrm>
            <a:off x="365765" y="1769002"/>
            <a:ext cx="1874400" cy="5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780"/>
              <a:buFont typeface="Calibri"/>
              <a:buNone/>
            </a:pPr>
            <a:r>
              <a:rPr b="1" i="0" lang="en-US" sz="980" u="none" cap="none" strike="noStrike">
                <a:solidFill>
                  <a:srgbClr val="1B3A5C"/>
                </a:solidFill>
                <a:latin typeface="Calibri"/>
                <a:ea typeface="Calibri"/>
                <a:cs typeface="Calibri"/>
                <a:sym typeface="Calibri"/>
              </a:rPr>
              <a:t>Forecast Value Add (FVA)</a:t>
            </a:r>
            <a:endParaRPr b="0" i="0" sz="980" u="none" cap="none" strike="noStrike">
              <a:solidFill>
                <a:schemeClr val="dk1"/>
              </a:solidFill>
              <a:latin typeface="Calibri"/>
              <a:ea typeface="Calibri"/>
              <a:cs typeface="Calibri"/>
              <a:sym typeface="Calibri"/>
            </a:endParaRPr>
          </a:p>
        </p:txBody>
      </p:sp>
      <p:sp>
        <p:nvSpPr>
          <p:cNvPr id="316" name="Google Shape;316;p10"/>
          <p:cNvSpPr/>
          <p:nvPr/>
        </p:nvSpPr>
        <p:spPr>
          <a:xfrm>
            <a:off x="2423163" y="1813734"/>
            <a:ext cx="22860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 of cases where the AI-generated forecast is more accurate than the planner-overridden forecast, measured at actuals close</a:t>
            </a:r>
            <a:endParaRPr b="0" i="0" sz="950" u="none" cap="none" strike="noStrike">
              <a:solidFill>
                <a:schemeClr val="dk1"/>
              </a:solidFill>
              <a:latin typeface="Calibri"/>
              <a:ea typeface="Calibri"/>
              <a:cs typeface="Calibri"/>
              <a:sym typeface="Calibri"/>
            </a:endParaRPr>
          </a:p>
        </p:txBody>
      </p:sp>
      <p:sp>
        <p:nvSpPr>
          <p:cNvPr id="317" name="Google Shape;317;p10"/>
          <p:cNvSpPr/>
          <p:nvPr/>
        </p:nvSpPr>
        <p:spPr>
          <a:xfrm>
            <a:off x="4892040" y="1813734"/>
            <a:ext cx="20118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Unmeasured -- no attribution system exists</a:t>
            </a:r>
            <a:endParaRPr b="0" i="0" sz="950" u="none" cap="none" strike="noStrike">
              <a:solidFill>
                <a:schemeClr val="dk1"/>
              </a:solidFill>
              <a:latin typeface="Calibri"/>
              <a:ea typeface="Calibri"/>
              <a:cs typeface="Calibri"/>
              <a:sym typeface="Calibri"/>
            </a:endParaRPr>
          </a:p>
        </p:txBody>
      </p:sp>
      <p:sp>
        <p:nvSpPr>
          <p:cNvPr id="318" name="Google Shape;318;p10"/>
          <p:cNvSpPr/>
          <p:nvPr/>
        </p:nvSpPr>
        <p:spPr>
          <a:xfrm>
            <a:off x="7086597" y="1813734"/>
            <a:ext cx="17373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750"/>
              <a:buFont typeface="Calibri"/>
              <a:buNone/>
            </a:pPr>
            <a:r>
              <a:rPr b="1" i="0" lang="en-US" sz="950" u="none" cap="none" strike="noStrike">
                <a:solidFill>
                  <a:srgbClr val="1B3A5C"/>
                </a:solidFill>
                <a:latin typeface="Calibri"/>
                <a:ea typeface="Calibri"/>
                <a:cs typeface="Calibri"/>
                <a:sym typeface="Calibri"/>
              </a:rPr>
              <a:t>AI outperforms human override in &gt;15% more cases</a:t>
            </a:r>
            <a:endParaRPr b="0" i="0" sz="950" u="none" cap="none" strike="noStrike">
              <a:solidFill>
                <a:schemeClr val="dk1"/>
              </a:solidFill>
              <a:latin typeface="Calibri"/>
              <a:ea typeface="Calibri"/>
              <a:cs typeface="Calibri"/>
              <a:sym typeface="Calibri"/>
            </a:endParaRPr>
          </a:p>
        </p:txBody>
      </p:sp>
      <p:sp>
        <p:nvSpPr>
          <p:cNvPr id="319" name="Google Shape;319;p10"/>
          <p:cNvSpPr/>
          <p:nvPr/>
        </p:nvSpPr>
        <p:spPr>
          <a:xfrm>
            <a:off x="274325" y="2343057"/>
            <a:ext cx="2011800" cy="574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20" name="Google Shape;320;p10"/>
          <p:cNvSpPr/>
          <p:nvPr/>
        </p:nvSpPr>
        <p:spPr>
          <a:xfrm>
            <a:off x="2331723" y="2343057"/>
            <a:ext cx="2423100" cy="574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21" name="Google Shape;321;p10"/>
          <p:cNvSpPr/>
          <p:nvPr/>
        </p:nvSpPr>
        <p:spPr>
          <a:xfrm>
            <a:off x="4800600" y="2343057"/>
            <a:ext cx="2148900" cy="574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22" name="Google Shape;322;p10"/>
          <p:cNvSpPr/>
          <p:nvPr/>
        </p:nvSpPr>
        <p:spPr>
          <a:xfrm>
            <a:off x="6995157" y="2343057"/>
            <a:ext cx="1874400" cy="574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23" name="Google Shape;323;p10"/>
          <p:cNvSpPr/>
          <p:nvPr/>
        </p:nvSpPr>
        <p:spPr>
          <a:xfrm>
            <a:off x="365765" y="2343057"/>
            <a:ext cx="1874400" cy="5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780"/>
              <a:buFont typeface="Calibri"/>
              <a:buNone/>
            </a:pPr>
            <a:r>
              <a:rPr b="1" i="0" lang="en-US" sz="980" u="none" cap="none" strike="noStrike">
                <a:solidFill>
                  <a:srgbClr val="1B3A5C"/>
                </a:solidFill>
                <a:latin typeface="Calibri"/>
                <a:ea typeface="Calibri"/>
                <a:cs typeface="Calibri"/>
                <a:sym typeface="Calibri"/>
              </a:rPr>
              <a:t>Aircraft-on-Ground (AOG) Risk Coverage</a:t>
            </a:r>
            <a:endParaRPr b="0" i="0" sz="980" u="none" cap="none" strike="noStrike">
              <a:solidFill>
                <a:schemeClr val="dk1"/>
              </a:solidFill>
              <a:latin typeface="Calibri"/>
              <a:ea typeface="Calibri"/>
              <a:cs typeface="Calibri"/>
              <a:sym typeface="Calibri"/>
            </a:endParaRPr>
          </a:p>
        </p:txBody>
      </p:sp>
      <p:sp>
        <p:nvSpPr>
          <p:cNvPr id="324" name="Google Shape;324;p10"/>
          <p:cNvSpPr/>
          <p:nvPr/>
        </p:nvSpPr>
        <p:spPr>
          <a:xfrm>
            <a:off x="2423163" y="2387789"/>
            <a:ext cx="22860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 of AOG events that were preceded by a Partcast early-warning signal within a 30-day window</a:t>
            </a:r>
            <a:endParaRPr b="0" i="0" sz="950" u="none" cap="none" strike="noStrike">
              <a:solidFill>
                <a:schemeClr val="dk1"/>
              </a:solidFill>
              <a:latin typeface="Calibri"/>
              <a:ea typeface="Calibri"/>
              <a:cs typeface="Calibri"/>
              <a:sym typeface="Calibri"/>
            </a:endParaRPr>
          </a:p>
        </p:txBody>
      </p:sp>
      <p:sp>
        <p:nvSpPr>
          <p:cNvPr id="325" name="Google Shape;325;p10"/>
          <p:cNvSpPr/>
          <p:nvPr/>
        </p:nvSpPr>
        <p:spPr>
          <a:xfrm>
            <a:off x="4892040" y="2387789"/>
            <a:ext cx="20118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0% -- no proactive risk scoring exists</a:t>
            </a:r>
            <a:endParaRPr b="0" i="0" sz="950" u="none" cap="none" strike="noStrike">
              <a:solidFill>
                <a:schemeClr val="dk1"/>
              </a:solidFill>
              <a:latin typeface="Calibri"/>
              <a:ea typeface="Calibri"/>
              <a:cs typeface="Calibri"/>
              <a:sym typeface="Calibri"/>
            </a:endParaRPr>
          </a:p>
        </p:txBody>
      </p:sp>
      <p:sp>
        <p:nvSpPr>
          <p:cNvPr id="326" name="Google Shape;326;p10"/>
          <p:cNvSpPr/>
          <p:nvPr/>
        </p:nvSpPr>
        <p:spPr>
          <a:xfrm>
            <a:off x="7086597" y="2387789"/>
            <a:ext cx="17373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750"/>
              <a:buFont typeface="Calibri"/>
              <a:buNone/>
            </a:pPr>
            <a:r>
              <a:rPr b="1" i="0" lang="en-US" sz="950" u="none" cap="none" strike="noStrike">
                <a:solidFill>
                  <a:srgbClr val="1B3A5C"/>
                </a:solidFill>
                <a:latin typeface="Calibri"/>
                <a:ea typeface="Calibri"/>
                <a:cs typeface="Calibri"/>
                <a:sym typeface="Calibri"/>
              </a:rPr>
              <a:t>&gt;80% of AOG events flagged in advance</a:t>
            </a:r>
            <a:endParaRPr b="0" i="0" sz="950" u="none" cap="none" strike="noStrike">
              <a:solidFill>
                <a:schemeClr val="dk1"/>
              </a:solidFill>
              <a:latin typeface="Calibri"/>
              <a:ea typeface="Calibri"/>
              <a:cs typeface="Calibri"/>
              <a:sym typeface="Calibri"/>
            </a:endParaRPr>
          </a:p>
        </p:txBody>
      </p:sp>
      <p:sp>
        <p:nvSpPr>
          <p:cNvPr id="327" name="Google Shape;327;p10"/>
          <p:cNvSpPr/>
          <p:nvPr/>
        </p:nvSpPr>
        <p:spPr>
          <a:xfrm>
            <a:off x="274325" y="2917112"/>
            <a:ext cx="2011800" cy="574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28" name="Google Shape;328;p10"/>
          <p:cNvSpPr/>
          <p:nvPr/>
        </p:nvSpPr>
        <p:spPr>
          <a:xfrm>
            <a:off x="2331723" y="2917112"/>
            <a:ext cx="24231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29" name="Google Shape;329;p10"/>
          <p:cNvSpPr/>
          <p:nvPr/>
        </p:nvSpPr>
        <p:spPr>
          <a:xfrm>
            <a:off x="4800600" y="2917112"/>
            <a:ext cx="21489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30" name="Google Shape;330;p10"/>
          <p:cNvSpPr/>
          <p:nvPr/>
        </p:nvSpPr>
        <p:spPr>
          <a:xfrm>
            <a:off x="6995157" y="2917112"/>
            <a:ext cx="18744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31" name="Google Shape;331;p10"/>
          <p:cNvSpPr/>
          <p:nvPr/>
        </p:nvSpPr>
        <p:spPr>
          <a:xfrm>
            <a:off x="365765" y="2917112"/>
            <a:ext cx="1874400" cy="5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780"/>
              <a:buFont typeface="Calibri"/>
              <a:buNone/>
            </a:pPr>
            <a:r>
              <a:rPr b="1" i="0" lang="en-US" sz="980" u="none" cap="none" strike="noStrike">
                <a:solidFill>
                  <a:srgbClr val="1B3A5C"/>
                </a:solidFill>
                <a:latin typeface="Calibri"/>
                <a:ea typeface="Calibri"/>
                <a:cs typeface="Calibri"/>
                <a:sym typeface="Calibri"/>
              </a:rPr>
              <a:t>Demand Review Cycle Time</a:t>
            </a:r>
            <a:endParaRPr b="0" i="0" sz="980" u="none" cap="none" strike="noStrike">
              <a:solidFill>
                <a:schemeClr val="dk1"/>
              </a:solidFill>
              <a:latin typeface="Calibri"/>
              <a:ea typeface="Calibri"/>
              <a:cs typeface="Calibri"/>
              <a:sym typeface="Calibri"/>
            </a:endParaRPr>
          </a:p>
        </p:txBody>
      </p:sp>
      <p:sp>
        <p:nvSpPr>
          <p:cNvPr id="332" name="Google Shape;332;p10"/>
          <p:cNvSpPr/>
          <p:nvPr/>
        </p:nvSpPr>
        <p:spPr>
          <a:xfrm>
            <a:off x="2423163" y="2961844"/>
            <a:ext cx="22860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Calendar days from signal update to approved consensus demand plan</a:t>
            </a:r>
            <a:endParaRPr b="0" i="0" sz="950" u="none" cap="none" strike="noStrike">
              <a:solidFill>
                <a:schemeClr val="dk1"/>
              </a:solidFill>
              <a:latin typeface="Calibri"/>
              <a:ea typeface="Calibri"/>
              <a:cs typeface="Calibri"/>
              <a:sym typeface="Calibri"/>
            </a:endParaRPr>
          </a:p>
        </p:txBody>
      </p:sp>
      <p:sp>
        <p:nvSpPr>
          <p:cNvPr id="333" name="Google Shape;333;p10"/>
          <p:cNvSpPr/>
          <p:nvPr/>
        </p:nvSpPr>
        <p:spPr>
          <a:xfrm>
            <a:off x="4892040" y="2961844"/>
            <a:ext cx="20118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~10 days -- manual reconciliation across systems</a:t>
            </a:r>
            <a:endParaRPr b="0" i="0" sz="950" u="none" cap="none" strike="noStrike">
              <a:solidFill>
                <a:schemeClr val="dk1"/>
              </a:solidFill>
              <a:latin typeface="Calibri"/>
              <a:ea typeface="Calibri"/>
              <a:cs typeface="Calibri"/>
              <a:sym typeface="Calibri"/>
            </a:endParaRPr>
          </a:p>
        </p:txBody>
      </p:sp>
      <p:sp>
        <p:nvSpPr>
          <p:cNvPr id="334" name="Google Shape;334;p10"/>
          <p:cNvSpPr/>
          <p:nvPr/>
        </p:nvSpPr>
        <p:spPr>
          <a:xfrm>
            <a:off x="7086597" y="2961844"/>
            <a:ext cx="17373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750"/>
              <a:buFont typeface="Calibri"/>
              <a:buNone/>
            </a:pPr>
            <a:r>
              <a:rPr b="1" i="0" lang="en-US" sz="950" u="none" cap="none" strike="noStrike">
                <a:solidFill>
                  <a:srgbClr val="1B3A5C"/>
                </a:solidFill>
                <a:latin typeface="Calibri"/>
                <a:ea typeface="Calibri"/>
                <a:cs typeface="Calibri"/>
                <a:sym typeface="Calibri"/>
              </a:rPr>
              <a:t>&lt;2 days -- AI pre-builds recommendations</a:t>
            </a:r>
            <a:endParaRPr b="0" i="0" sz="950" u="none" cap="none" strike="noStrike">
              <a:solidFill>
                <a:schemeClr val="dk1"/>
              </a:solidFill>
              <a:latin typeface="Calibri"/>
              <a:ea typeface="Calibri"/>
              <a:cs typeface="Calibri"/>
              <a:sym typeface="Calibri"/>
            </a:endParaRPr>
          </a:p>
        </p:txBody>
      </p:sp>
      <p:sp>
        <p:nvSpPr>
          <p:cNvPr id="335" name="Google Shape;335;p10"/>
          <p:cNvSpPr/>
          <p:nvPr/>
        </p:nvSpPr>
        <p:spPr>
          <a:xfrm>
            <a:off x="274325" y="3491167"/>
            <a:ext cx="2011800" cy="574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36" name="Google Shape;336;p10"/>
          <p:cNvSpPr/>
          <p:nvPr/>
        </p:nvSpPr>
        <p:spPr>
          <a:xfrm>
            <a:off x="2331723" y="3491167"/>
            <a:ext cx="2423100" cy="574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37" name="Google Shape;337;p10"/>
          <p:cNvSpPr/>
          <p:nvPr/>
        </p:nvSpPr>
        <p:spPr>
          <a:xfrm>
            <a:off x="4800600" y="3491167"/>
            <a:ext cx="2148900" cy="574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38" name="Google Shape;338;p10"/>
          <p:cNvSpPr/>
          <p:nvPr/>
        </p:nvSpPr>
        <p:spPr>
          <a:xfrm>
            <a:off x="6995157" y="3491167"/>
            <a:ext cx="1874400" cy="574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39" name="Google Shape;339;p10"/>
          <p:cNvSpPr/>
          <p:nvPr/>
        </p:nvSpPr>
        <p:spPr>
          <a:xfrm>
            <a:off x="365765" y="3491167"/>
            <a:ext cx="1874400" cy="5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780"/>
              <a:buFont typeface="Calibri"/>
              <a:buNone/>
            </a:pPr>
            <a:r>
              <a:rPr b="1" i="0" lang="en-US" sz="980" u="none" cap="none" strike="noStrike">
                <a:solidFill>
                  <a:srgbClr val="1B3A5C"/>
                </a:solidFill>
                <a:latin typeface="Calibri"/>
                <a:ea typeface="Calibri"/>
                <a:cs typeface="Calibri"/>
                <a:sym typeface="Calibri"/>
              </a:rPr>
              <a:t>Override Attribution Rate</a:t>
            </a:r>
            <a:endParaRPr b="0" i="0" sz="980" u="none" cap="none" strike="noStrike">
              <a:solidFill>
                <a:schemeClr val="dk1"/>
              </a:solidFill>
              <a:latin typeface="Calibri"/>
              <a:ea typeface="Calibri"/>
              <a:cs typeface="Calibri"/>
              <a:sym typeface="Calibri"/>
            </a:endParaRPr>
          </a:p>
        </p:txBody>
      </p:sp>
      <p:sp>
        <p:nvSpPr>
          <p:cNvPr id="340" name="Google Shape;340;p10"/>
          <p:cNvSpPr/>
          <p:nvPr/>
        </p:nvSpPr>
        <p:spPr>
          <a:xfrm>
            <a:off x="2423163" y="3535899"/>
            <a:ext cx="22860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 of planner overrides that include a structured rationale (reason category + explanation)</a:t>
            </a:r>
            <a:endParaRPr b="0" i="0" sz="950" u="none" cap="none" strike="noStrike">
              <a:solidFill>
                <a:schemeClr val="dk1"/>
              </a:solidFill>
              <a:latin typeface="Calibri"/>
              <a:ea typeface="Calibri"/>
              <a:cs typeface="Calibri"/>
              <a:sym typeface="Calibri"/>
            </a:endParaRPr>
          </a:p>
        </p:txBody>
      </p:sp>
      <p:sp>
        <p:nvSpPr>
          <p:cNvPr id="341" name="Google Shape;341;p10"/>
          <p:cNvSpPr/>
          <p:nvPr/>
        </p:nvSpPr>
        <p:spPr>
          <a:xfrm>
            <a:off x="4892040" y="3535899"/>
            <a:ext cx="20118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&lt;10% -- overrides are largely undocumented</a:t>
            </a:r>
            <a:endParaRPr b="0" i="0" sz="950" u="none" cap="none" strike="noStrike">
              <a:solidFill>
                <a:schemeClr val="dk1"/>
              </a:solidFill>
              <a:latin typeface="Calibri"/>
              <a:ea typeface="Calibri"/>
              <a:cs typeface="Calibri"/>
              <a:sym typeface="Calibri"/>
            </a:endParaRPr>
          </a:p>
        </p:txBody>
      </p:sp>
      <p:sp>
        <p:nvSpPr>
          <p:cNvPr id="342" name="Google Shape;342;p10"/>
          <p:cNvSpPr/>
          <p:nvPr/>
        </p:nvSpPr>
        <p:spPr>
          <a:xfrm>
            <a:off x="7086597" y="3535899"/>
            <a:ext cx="17373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750"/>
              <a:buFont typeface="Calibri"/>
              <a:buNone/>
            </a:pPr>
            <a:r>
              <a:rPr b="1" i="0" lang="en-US" sz="950" u="none" cap="none" strike="noStrike">
                <a:solidFill>
                  <a:srgbClr val="1B3A5C"/>
                </a:solidFill>
                <a:latin typeface="Calibri"/>
                <a:ea typeface="Calibri"/>
                <a:cs typeface="Calibri"/>
                <a:sym typeface="Calibri"/>
              </a:rPr>
              <a:t>&gt;90% -- structured rationale captured by default</a:t>
            </a:r>
            <a:endParaRPr b="0" i="0" sz="950" u="none" cap="none" strike="noStrike">
              <a:solidFill>
                <a:schemeClr val="dk1"/>
              </a:solidFill>
              <a:latin typeface="Calibri"/>
              <a:ea typeface="Calibri"/>
              <a:cs typeface="Calibri"/>
              <a:sym typeface="Calibri"/>
            </a:endParaRPr>
          </a:p>
        </p:txBody>
      </p:sp>
      <p:sp>
        <p:nvSpPr>
          <p:cNvPr id="343" name="Google Shape;343;p10"/>
          <p:cNvSpPr/>
          <p:nvPr/>
        </p:nvSpPr>
        <p:spPr>
          <a:xfrm>
            <a:off x="274325" y="4065222"/>
            <a:ext cx="2011800" cy="574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44" name="Google Shape;344;p10"/>
          <p:cNvSpPr/>
          <p:nvPr/>
        </p:nvSpPr>
        <p:spPr>
          <a:xfrm>
            <a:off x="2331723" y="4065222"/>
            <a:ext cx="24231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45" name="Google Shape;345;p10"/>
          <p:cNvSpPr/>
          <p:nvPr/>
        </p:nvSpPr>
        <p:spPr>
          <a:xfrm>
            <a:off x="4800600" y="4065222"/>
            <a:ext cx="21489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46" name="Google Shape;346;p10"/>
          <p:cNvSpPr/>
          <p:nvPr/>
        </p:nvSpPr>
        <p:spPr>
          <a:xfrm>
            <a:off x="6995157" y="4065222"/>
            <a:ext cx="1874400" cy="574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47" name="Google Shape;347;p10"/>
          <p:cNvSpPr/>
          <p:nvPr/>
        </p:nvSpPr>
        <p:spPr>
          <a:xfrm>
            <a:off x="365765" y="4065222"/>
            <a:ext cx="1874400" cy="5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5C"/>
              </a:buClr>
              <a:buSzPts val="780"/>
              <a:buFont typeface="Calibri"/>
              <a:buNone/>
            </a:pPr>
            <a:r>
              <a:rPr b="1" i="0" lang="en-US" sz="980" u="none" cap="none" strike="noStrike">
                <a:solidFill>
                  <a:srgbClr val="1B3A5C"/>
                </a:solidFill>
                <a:latin typeface="Calibri"/>
                <a:ea typeface="Calibri"/>
                <a:cs typeface="Calibri"/>
                <a:sym typeface="Calibri"/>
              </a:rPr>
              <a:t>Planner Adoption Rate</a:t>
            </a:r>
            <a:endParaRPr b="0" i="0" sz="980" u="none" cap="none" strike="noStrike">
              <a:solidFill>
                <a:schemeClr val="dk1"/>
              </a:solidFill>
              <a:latin typeface="Calibri"/>
              <a:ea typeface="Calibri"/>
              <a:cs typeface="Calibri"/>
              <a:sym typeface="Calibri"/>
            </a:endParaRPr>
          </a:p>
        </p:txBody>
      </p:sp>
      <p:sp>
        <p:nvSpPr>
          <p:cNvPr id="348" name="Google Shape;348;p10"/>
          <p:cNvSpPr/>
          <p:nvPr/>
        </p:nvSpPr>
        <p:spPr>
          <a:xfrm>
            <a:off x="2423163" y="4109954"/>
            <a:ext cx="22860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 of demand analysts using AI-generated forecasts as their starting point</a:t>
            </a:r>
            <a:endParaRPr b="0" i="0" sz="950" u="none" cap="none" strike="noStrike">
              <a:solidFill>
                <a:schemeClr val="dk1"/>
              </a:solidFill>
              <a:latin typeface="Calibri"/>
              <a:ea typeface="Calibri"/>
              <a:cs typeface="Calibri"/>
              <a:sym typeface="Calibri"/>
            </a:endParaRPr>
          </a:p>
        </p:txBody>
      </p:sp>
      <p:sp>
        <p:nvSpPr>
          <p:cNvPr id="349" name="Google Shape;349;p10"/>
          <p:cNvSpPr/>
          <p:nvPr/>
        </p:nvSpPr>
        <p:spPr>
          <a:xfrm>
            <a:off x="4892040" y="4109954"/>
            <a:ext cx="20118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0% -- tool does not exist</a:t>
            </a:r>
            <a:endParaRPr b="0" i="0" sz="950" u="none" cap="none" strike="noStrike">
              <a:solidFill>
                <a:schemeClr val="dk1"/>
              </a:solidFill>
              <a:latin typeface="Calibri"/>
              <a:ea typeface="Calibri"/>
              <a:cs typeface="Calibri"/>
              <a:sym typeface="Calibri"/>
            </a:endParaRPr>
          </a:p>
        </p:txBody>
      </p:sp>
      <p:sp>
        <p:nvSpPr>
          <p:cNvPr id="350" name="Google Shape;350;p10"/>
          <p:cNvSpPr/>
          <p:nvPr/>
        </p:nvSpPr>
        <p:spPr>
          <a:xfrm>
            <a:off x="7086597" y="4109954"/>
            <a:ext cx="1737300" cy="49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750"/>
              <a:buFont typeface="Calibri"/>
              <a:buNone/>
            </a:pPr>
            <a:r>
              <a:rPr b="1" i="0" lang="en-US" sz="950" u="none" cap="none" strike="noStrike">
                <a:solidFill>
                  <a:srgbClr val="1B3A5C"/>
                </a:solidFill>
                <a:latin typeface="Calibri"/>
                <a:ea typeface="Calibri"/>
                <a:cs typeface="Calibri"/>
                <a:sym typeface="Calibri"/>
              </a:rPr>
              <a:t>&gt;80% within 6 months of deployment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55" name="Shape 355"/>
        <p:cNvGrpSpPr/>
        <p:nvPr/>
      </p:nvGrpSpPr>
      <p:grpSpPr>
        <a:xfrm>
          <a:off x="0" y="0"/>
          <a:ext cx="0" cy="0"/>
          <a:chOff x="0" y="0"/>
          <a:chExt cx="0" cy="0"/>
        </a:xfrm>
      </p:grpSpPr>
      <p:sp>
        <p:nvSpPr>
          <p:cNvPr id="356" name="Google Shape;356;p11"/>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How Partcast Works</a:t>
            </a:r>
            <a:endParaRPr b="0" i="0" sz="2000" u="none" cap="none" strike="noStrike">
              <a:solidFill>
                <a:schemeClr val="dk1"/>
              </a:solidFill>
              <a:latin typeface="Calibri"/>
              <a:ea typeface="Calibri"/>
              <a:cs typeface="Calibri"/>
              <a:sym typeface="Calibri"/>
            </a:endParaRPr>
          </a:p>
        </p:txBody>
      </p:sp>
      <p:sp>
        <p:nvSpPr>
          <p:cNvPr id="359" name="Google Shape;359;p11"/>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361" name="Google Shape;361;p11"/>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9</a:t>
            </a:r>
            <a:endParaRPr b="0" i="0" sz="750" u="none" cap="none" strike="noStrike">
              <a:solidFill>
                <a:schemeClr val="dk1"/>
              </a:solidFill>
              <a:latin typeface="Calibri"/>
              <a:ea typeface="Calibri"/>
              <a:cs typeface="Calibri"/>
              <a:sym typeface="Calibri"/>
            </a:endParaRPr>
          </a:p>
        </p:txBody>
      </p:sp>
      <p:sp>
        <p:nvSpPr>
          <p:cNvPr id="362" name="Google Shape;362;p11"/>
          <p:cNvSpPr/>
          <p:nvPr/>
        </p:nvSpPr>
        <p:spPr>
          <a:xfrm>
            <a:off x="265220" y="772132"/>
            <a:ext cx="85953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7A8D"/>
              </a:buClr>
              <a:buSzPts val="850"/>
              <a:buFont typeface="Calibri"/>
              <a:buNone/>
            </a:pPr>
            <a:r>
              <a:rPr b="1" i="1" lang="en-US" sz="1050" u="none" cap="none" strike="noStrike">
                <a:solidFill>
                  <a:srgbClr val="6B7A8D"/>
                </a:solidFill>
                <a:latin typeface="Calibri"/>
                <a:ea typeface="Calibri"/>
                <a:cs typeface="Calibri"/>
                <a:sym typeface="Calibri"/>
              </a:rPr>
              <a:t>Partcast is structured as a four-layer system that transforms fragmented demand signals into actionable, auditable planning decisions. The architecture handles both structured signals (e.g., flight schedules, maintenance events) and semi-structured signals (e.g., AD documents, supplier updates), while maintaining explainability and planner control.</a:t>
            </a:r>
            <a:endParaRPr b="1" i="0" sz="1050" u="none" cap="none" strike="noStrike">
              <a:solidFill>
                <a:schemeClr val="dk1"/>
              </a:solidFill>
              <a:latin typeface="Calibri"/>
              <a:ea typeface="Calibri"/>
              <a:cs typeface="Calibri"/>
              <a:sym typeface="Calibri"/>
            </a:endParaRPr>
          </a:p>
        </p:txBody>
      </p:sp>
      <p:sp>
        <p:nvSpPr>
          <p:cNvPr id="363" name="Google Shape;363;p11"/>
          <p:cNvSpPr/>
          <p:nvPr/>
        </p:nvSpPr>
        <p:spPr>
          <a:xfrm>
            <a:off x="274325" y="1526775"/>
            <a:ext cx="2011800" cy="2935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274320" y="1526768"/>
            <a:ext cx="2011800" cy="4755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a:off x="274320" y="1526768"/>
            <a:ext cx="54900" cy="475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1901952" y="1627352"/>
            <a:ext cx="274200" cy="27420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1901952" y="1627352"/>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368" name="Google Shape;368;p11"/>
          <p:cNvSpPr/>
          <p:nvPr/>
        </p:nvSpPr>
        <p:spPr>
          <a:xfrm>
            <a:off x="384048" y="1581632"/>
            <a:ext cx="1481400" cy="38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850"/>
              <a:buFont typeface="Calibri"/>
              <a:buNone/>
            </a:pPr>
            <a:r>
              <a:rPr b="1" i="0" lang="en-US" sz="1150" u="none" cap="none" strike="noStrike">
                <a:solidFill>
                  <a:srgbClr val="FFFFFF"/>
                </a:solidFill>
                <a:latin typeface="Calibri"/>
                <a:ea typeface="Calibri"/>
                <a:cs typeface="Calibri"/>
                <a:sym typeface="Calibri"/>
              </a:rPr>
              <a:t>Signal Ingestion Layer</a:t>
            </a:r>
            <a:endParaRPr b="0" i="0" sz="1150" u="none" cap="none" strike="noStrike">
              <a:solidFill>
                <a:schemeClr val="dk1"/>
              </a:solidFill>
              <a:latin typeface="Calibri"/>
              <a:ea typeface="Calibri"/>
              <a:cs typeface="Calibri"/>
              <a:sym typeface="Calibri"/>
            </a:endParaRPr>
          </a:p>
        </p:txBody>
      </p:sp>
      <p:sp>
        <p:nvSpPr>
          <p:cNvPr id="369" name="Google Shape;369;p11"/>
          <p:cNvSpPr/>
          <p:nvPr/>
        </p:nvSpPr>
        <p:spPr>
          <a:xfrm>
            <a:off x="384053" y="2043861"/>
            <a:ext cx="1828800" cy="10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Ingests and normalizes demand signals from multiple sources: flight schedules and maintenance event calendars, airworthiness directives (FAA / EASA), supplier lead time data and contract SLAs, ERP historical consumption</a:t>
            </a:r>
            <a:endParaRPr b="0" i="0" sz="780" u="none" cap="none" strike="noStrike">
              <a:solidFill>
                <a:schemeClr val="dk1"/>
              </a:solidFill>
              <a:latin typeface="Calibri"/>
              <a:ea typeface="Calibri"/>
              <a:cs typeface="Calibri"/>
              <a:sym typeface="Calibri"/>
            </a:endParaRPr>
          </a:p>
        </p:txBody>
      </p:sp>
      <p:cxnSp>
        <p:nvCxnSpPr>
          <p:cNvPr id="370" name="Google Shape;370;p11"/>
          <p:cNvCxnSpPr/>
          <p:nvPr/>
        </p:nvCxnSpPr>
        <p:spPr>
          <a:xfrm>
            <a:off x="384053" y="3128072"/>
            <a:ext cx="1792200" cy="0"/>
          </a:xfrm>
          <a:prstGeom prst="straightConnector1">
            <a:avLst/>
          </a:prstGeom>
          <a:noFill/>
          <a:ln cap="flat" cmpd="sng" w="9525">
            <a:solidFill>
              <a:srgbClr val="D8DFE8"/>
            </a:solidFill>
            <a:prstDash val="solid"/>
            <a:round/>
            <a:headEnd len="sm" w="sm" type="none"/>
            <a:tailEnd len="sm" w="sm" type="none"/>
          </a:ln>
        </p:spPr>
      </p:cxnSp>
      <p:sp>
        <p:nvSpPr>
          <p:cNvPr id="371" name="Google Shape;371;p11"/>
          <p:cNvSpPr/>
          <p:nvPr/>
        </p:nvSpPr>
        <p:spPr>
          <a:xfrm>
            <a:off x="384053" y="3211473"/>
            <a:ext cx="1828800" cy="10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Structured signals are processed deterministically. Semi-structured signals are parsed with AI and assigned confidence scores, with low-confidence data routed for planner review.</a:t>
            </a:r>
            <a:endParaRPr b="0" i="0" sz="780" u="none" cap="none" strike="noStrike">
              <a:solidFill>
                <a:schemeClr val="dk1"/>
              </a:solidFill>
              <a:latin typeface="Calibri"/>
              <a:ea typeface="Calibri"/>
              <a:cs typeface="Calibri"/>
              <a:sym typeface="Calibri"/>
            </a:endParaRPr>
          </a:p>
        </p:txBody>
      </p:sp>
      <p:sp>
        <p:nvSpPr>
          <p:cNvPr id="372" name="Google Shape;372;p11"/>
          <p:cNvSpPr/>
          <p:nvPr/>
        </p:nvSpPr>
        <p:spPr>
          <a:xfrm>
            <a:off x="2304292" y="2961270"/>
            <a:ext cx="91500" cy="66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a:off x="2377444" y="2936250"/>
            <a:ext cx="54900" cy="116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2432308" y="1526775"/>
            <a:ext cx="2011800" cy="2935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2432304" y="1526768"/>
            <a:ext cx="2011800" cy="4755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a:off x="2432304" y="1526768"/>
            <a:ext cx="54900" cy="475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4059936" y="1627352"/>
            <a:ext cx="274200" cy="27420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4059936" y="1627352"/>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79" name="Google Shape;379;p11"/>
          <p:cNvSpPr/>
          <p:nvPr/>
        </p:nvSpPr>
        <p:spPr>
          <a:xfrm>
            <a:off x="2542032" y="1581632"/>
            <a:ext cx="1481400" cy="38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850"/>
              <a:buFont typeface="Calibri"/>
              <a:buNone/>
            </a:pPr>
            <a:r>
              <a:rPr b="1" i="0" lang="en-US" sz="1150" u="none" cap="none" strike="noStrike">
                <a:solidFill>
                  <a:srgbClr val="FFFFFF"/>
                </a:solidFill>
                <a:latin typeface="Calibri"/>
                <a:ea typeface="Calibri"/>
                <a:cs typeface="Calibri"/>
                <a:sym typeface="Calibri"/>
              </a:rPr>
              <a:t>Demand Intelligence Engine</a:t>
            </a:r>
            <a:endParaRPr b="0" i="0" sz="1150" u="none" cap="none" strike="noStrike">
              <a:solidFill>
                <a:schemeClr val="dk1"/>
              </a:solidFill>
              <a:latin typeface="Calibri"/>
              <a:ea typeface="Calibri"/>
              <a:cs typeface="Calibri"/>
              <a:sym typeface="Calibri"/>
            </a:endParaRPr>
          </a:p>
        </p:txBody>
      </p:sp>
      <p:sp>
        <p:nvSpPr>
          <p:cNvPr id="380" name="Google Shape;380;p11"/>
          <p:cNvSpPr/>
          <p:nvPr/>
        </p:nvSpPr>
        <p:spPr>
          <a:xfrm>
            <a:off x="2542036" y="2043861"/>
            <a:ext cx="1828800" cy="10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Generates demand forecasts at the part number x tail number level using an event-driven model: reasons forward from maintenance schedules and compliance deadlines, constructs demand timelines and confidence ranges, detects anomalies between expected and actual consumption</a:t>
            </a:r>
            <a:endParaRPr b="0" i="0" sz="780" u="none" cap="none" strike="noStrike">
              <a:solidFill>
                <a:schemeClr val="dk1"/>
              </a:solidFill>
              <a:latin typeface="Calibri"/>
              <a:ea typeface="Calibri"/>
              <a:cs typeface="Calibri"/>
              <a:sym typeface="Calibri"/>
            </a:endParaRPr>
          </a:p>
        </p:txBody>
      </p:sp>
      <p:cxnSp>
        <p:nvCxnSpPr>
          <p:cNvPr id="381" name="Google Shape;381;p11"/>
          <p:cNvCxnSpPr/>
          <p:nvPr/>
        </p:nvCxnSpPr>
        <p:spPr>
          <a:xfrm>
            <a:off x="2542036" y="3128072"/>
            <a:ext cx="1792200" cy="0"/>
          </a:xfrm>
          <a:prstGeom prst="straightConnector1">
            <a:avLst/>
          </a:prstGeom>
          <a:noFill/>
          <a:ln cap="flat" cmpd="sng" w="9525">
            <a:solidFill>
              <a:srgbClr val="D8DFE8"/>
            </a:solidFill>
            <a:prstDash val="solid"/>
            <a:round/>
            <a:headEnd len="sm" w="sm" type="none"/>
            <a:tailEnd len="sm" w="sm" type="none"/>
          </a:ln>
        </p:spPr>
      </p:cxnSp>
      <p:sp>
        <p:nvSpPr>
          <p:cNvPr id="382" name="Google Shape;382;p11"/>
          <p:cNvSpPr/>
          <p:nvPr/>
        </p:nvSpPr>
        <p:spPr>
          <a:xfrm>
            <a:off x="2542036" y="3211473"/>
            <a:ext cx="1828800" cy="10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AI is used for extracting structured data from AD documents and identifying deviations. Core demand logic remains deterministic and auditable.</a:t>
            </a:r>
            <a:endParaRPr b="0" i="0" sz="780" u="none" cap="none" strike="noStrike">
              <a:solidFill>
                <a:schemeClr val="dk1"/>
              </a:solidFill>
              <a:latin typeface="Calibri"/>
              <a:ea typeface="Calibri"/>
              <a:cs typeface="Calibri"/>
              <a:sym typeface="Calibri"/>
            </a:endParaRPr>
          </a:p>
        </p:txBody>
      </p:sp>
      <p:sp>
        <p:nvSpPr>
          <p:cNvPr id="383" name="Google Shape;383;p11"/>
          <p:cNvSpPr/>
          <p:nvPr/>
        </p:nvSpPr>
        <p:spPr>
          <a:xfrm>
            <a:off x="4462276" y="2961270"/>
            <a:ext cx="91500" cy="66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4535428" y="2936250"/>
            <a:ext cx="54900" cy="116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1"/>
          <p:cNvSpPr/>
          <p:nvPr/>
        </p:nvSpPr>
        <p:spPr>
          <a:xfrm>
            <a:off x="4590292" y="1526775"/>
            <a:ext cx="2011800" cy="2935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a:off x="4590288" y="1526768"/>
            <a:ext cx="2011800" cy="4755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a:off x="4590288" y="1526768"/>
            <a:ext cx="54900" cy="475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1"/>
          <p:cNvSpPr/>
          <p:nvPr/>
        </p:nvSpPr>
        <p:spPr>
          <a:xfrm>
            <a:off x="6217920" y="1627352"/>
            <a:ext cx="274200" cy="27420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1"/>
          <p:cNvSpPr/>
          <p:nvPr/>
        </p:nvSpPr>
        <p:spPr>
          <a:xfrm>
            <a:off x="6217920" y="1627352"/>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390" name="Google Shape;390;p11"/>
          <p:cNvSpPr/>
          <p:nvPr/>
        </p:nvSpPr>
        <p:spPr>
          <a:xfrm>
            <a:off x="4700016" y="1581632"/>
            <a:ext cx="1481400" cy="38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850"/>
              <a:buFont typeface="Calibri"/>
              <a:buNone/>
            </a:pPr>
            <a:r>
              <a:rPr b="1" i="0" lang="en-US" sz="1150" u="none" cap="none" strike="noStrike">
                <a:solidFill>
                  <a:srgbClr val="FFFFFF"/>
                </a:solidFill>
                <a:latin typeface="Calibri"/>
                <a:ea typeface="Calibri"/>
                <a:cs typeface="Calibri"/>
                <a:sym typeface="Calibri"/>
              </a:rPr>
              <a:t>Collaborative Planning Layer (UX)</a:t>
            </a:r>
            <a:endParaRPr b="0" i="0" sz="1150" u="none" cap="none" strike="noStrike">
              <a:solidFill>
                <a:schemeClr val="dk1"/>
              </a:solidFill>
              <a:latin typeface="Calibri"/>
              <a:ea typeface="Calibri"/>
              <a:cs typeface="Calibri"/>
              <a:sym typeface="Calibri"/>
            </a:endParaRPr>
          </a:p>
        </p:txBody>
      </p:sp>
      <p:sp>
        <p:nvSpPr>
          <p:cNvPr id="391" name="Google Shape;391;p11"/>
          <p:cNvSpPr/>
          <p:nvPr/>
        </p:nvSpPr>
        <p:spPr>
          <a:xfrm>
            <a:off x="4700020" y="2043861"/>
            <a:ext cx="1828800" cy="10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Presents AI-generated recommendations to planners through a structured workflow: prioritized demand review queue, signal-level explanations for each recommendation, approve / override / escalate actions with rationale capture</a:t>
            </a:r>
            <a:endParaRPr b="0" i="0" sz="780" u="none" cap="none" strike="noStrike">
              <a:solidFill>
                <a:schemeClr val="dk1"/>
              </a:solidFill>
              <a:latin typeface="Calibri"/>
              <a:ea typeface="Calibri"/>
              <a:cs typeface="Calibri"/>
              <a:sym typeface="Calibri"/>
            </a:endParaRPr>
          </a:p>
        </p:txBody>
      </p:sp>
      <p:cxnSp>
        <p:nvCxnSpPr>
          <p:cNvPr id="392" name="Google Shape;392;p11"/>
          <p:cNvCxnSpPr/>
          <p:nvPr/>
        </p:nvCxnSpPr>
        <p:spPr>
          <a:xfrm>
            <a:off x="4700020" y="3128072"/>
            <a:ext cx="1792200" cy="0"/>
          </a:xfrm>
          <a:prstGeom prst="straightConnector1">
            <a:avLst/>
          </a:prstGeom>
          <a:noFill/>
          <a:ln cap="flat" cmpd="sng" w="9525">
            <a:solidFill>
              <a:srgbClr val="D8DFE8"/>
            </a:solidFill>
            <a:prstDash val="solid"/>
            <a:round/>
            <a:headEnd len="sm" w="sm" type="none"/>
            <a:tailEnd len="sm" w="sm" type="none"/>
          </a:ln>
        </p:spPr>
      </p:cxnSp>
      <p:sp>
        <p:nvSpPr>
          <p:cNvPr id="393" name="Google Shape;393;p11"/>
          <p:cNvSpPr/>
          <p:nvPr/>
        </p:nvSpPr>
        <p:spPr>
          <a:xfrm>
            <a:off x="4700020" y="3211473"/>
            <a:ext cx="1828800" cy="10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All decisions are logged, enabling forecast-to-actual attribution and continuous learning.</a:t>
            </a:r>
            <a:endParaRPr b="0" i="0" sz="780" u="none" cap="none" strike="noStrike">
              <a:solidFill>
                <a:schemeClr val="dk1"/>
              </a:solidFill>
              <a:latin typeface="Calibri"/>
              <a:ea typeface="Calibri"/>
              <a:cs typeface="Calibri"/>
              <a:sym typeface="Calibri"/>
            </a:endParaRPr>
          </a:p>
        </p:txBody>
      </p:sp>
      <p:sp>
        <p:nvSpPr>
          <p:cNvPr id="394" name="Google Shape;394;p11"/>
          <p:cNvSpPr/>
          <p:nvPr/>
        </p:nvSpPr>
        <p:spPr>
          <a:xfrm>
            <a:off x="6620259" y="2961270"/>
            <a:ext cx="91500" cy="66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a:off x="6693411" y="2936250"/>
            <a:ext cx="54900" cy="116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6748275" y="1526775"/>
            <a:ext cx="2011800" cy="2935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6748272" y="1526768"/>
            <a:ext cx="2011800" cy="4755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6748272" y="1526768"/>
            <a:ext cx="54900" cy="475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p:nvPr/>
        </p:nvSpPr>
        <p:spPr>
          <a:xfrm>
            <a:off x="8375904" y="1627352"/>
            <a:ext cx="274200" cy="27420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a:off x="8375904" y="1627352"/>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401" name="Google Shape;401;p11"/>
          <p:cNvSpPr/>
          <p:nvPr/>
        </p:nvSpPr>
        <p:spPr>
          <a:xfrm>
            <a:off x="6858000" y="1581632"/>
            <a:ext cx="1481400" cy="38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850"/>
              <a:buFont typeface="Calibri"/>
              <a:buNone/>
            </a:pPr>
            <a:r>
              <a:rPr b="1" i="0" lang="en-US" sz="1150" u="none" cap="none" strike="noStrike">
                <a:solidFill>
                  <a:srgbClr val="FFFFFF"/>
                </a:solidFill>
                <a:latin typeface="Calibri"/>
                <a:ea typeface="Calibri"/>
                <a:cs typeface="Calibri"/>
                <a:sym typeface="Calibri"/>
              </a:rPr>
              <a:t>Demand-Supply Matching Engine</a:t>
            </a:r>
            <a:endParaRPr b="0" i="0" sz="1150" u="none" cap="none" strike="noStrike">
              <a:solidFill>
                <a:schemeClr val="dk1"/>
              </a:solidFill>
              <a:latin typeface="Calibri"/>
              <a:ea typeface="Calibri"/>
              <a:cs typeface="Calibri"/>
              <a:sym typeface="Calibri"/>
            </a:endParaRPr>
          </a:p>
        </p:txBody>
      </p:sp>
      <p:sp>
        <p:nvSpPr>
          <p:cNvPr id="402" name="Google Shape;402;p11"/>
          <p:cNvSpPr/>
          <p:nvPr/>
        </p:nvSpPr>
        <p:spPr>
          <a:xfrm>
            <a:off x="6858003" y="2043861"/>
            <a:ext cx="1828800" cy="10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Maps approved demand plans to serialized inventory positions: identifies supply gaps and scores AOG (Aircraft-on-Ground) risk per tail, generates repositioning and procurement recommendations, surfaces trade-offs across competing inventory needs</a:t>
            </a:r>
            <a:endParaRPr b="0" i="0" sz="780" u="none" cap="none" strike="noStrike">
              <a:solidFill>
                <a:schemeClr val="dk1"/>
              </a:solidFill>
              <a:latin typeface="Calibri"/>
              <a:ea typeface="Calibri"/>
              <a:cs typeface="Calibri"/>
              <a:sym typeface="Calibri"/>
            </a:endParaRPr>
          </a:p>
        </p:txBody>
      </p:sp>
      <p:cxnSp>
        <p:nvCxnSpPr>
          <p:cNvPr id="403" name="Google Shape;403;p11"/>
          <p:cNvCxnSpPr/>
          <p:nvPr/>
        </p:nvCxnSpPr>
        <p:spPr>
          <a:xfrm>
            <a:off x="6858003" y="3128072"/>
            <a:ext cx="1792200" cy="0"/>
          </a:xfrm>
          <a:prstGeom prst="straightConnector1">
            <a:avLst/>
          </a:prstGeom>
          <a:noFill/>
          <a:ln cap="flat" cmpd="sng" w="9525">
            <a:solidFill>
              <a:srgbClr val="D8DFE8"/>
            </a:solidFill>
            <a:prstDash val="solid"/>
            <a:round/>
            <a:headEnd len="sm" w="sm" type="none"/>
            <a:tailEnd len="sm" w="sm" type="none"/>
          </a:ln>
        </p:spPr>
      </p:cxnSp>
      <p:sp>
        <p:nvSpPr>
          <p:cNvPr id="404" name="Google Shape;404;p11"/>
          <p:cNvSpPr/>
          <p:nvPr/>
        </p:nvSpPr>
        <p:spPr>
          <a:xfrm>
            <a:off x="6858003" y="3211473"/>
            <a:ext cx="1828800" cy="10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780"/>
              <a:buFont typeface="Calibri"/>
              <a:buNone/>
            </a:pPr>
            <a:r>
              <a:rPr b="0" i="0" lang="en-US" sz="780" u="none" cap="none" strike="noStrike">
                <a:solidFill>
                  <a:srgbClr val="2E3A47"/>
                </a:solidFill>
                <a:latin typeface="Calibri"/>
                <a:ea typeface="Calibri"/>
                <a:cs typeface="Calibri"/>
                <a:sym typeface="Calibri"/>
              </a:rPr>
              <a:t>Outputs are decision-ready and tied directly to operational risk.</a:t>
            </a:r>
            <a:endParaRPr b="0" i="0" sz="78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409" name="Shape 409"/>
        <p:cNvGrpSpPr/>
        <p:nvPr/>
      </p:nvGrpSpPr>
      <p:grpSpPr>
        <a:xfrm>
          <a:off x="0" y="0"/>
          <a:ext cx="0" cy="0"/>
          <a:chOff x="0" y="0"/>
          <a:chExt cx="0" cy="0"/>
        </a:xfrm>
      </p:grpSpPr>
      <p:sp>
        <p:nvSpPr>
          <p:cNvPr id="410" name="Google Shape;410;p12"/>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2"/>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2"/>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Where AI is Used (and Where It is Not)</a:t>
            </a:r>
            <a:endParaRPr b="0" i="0" sz="2000" u="none" cap="none" strike="noStrike">
              <a:solidFill>
                <a:schemeClr val="dk1"/>
              </a:solidFill>
              <a:latin typeface="Calibri"/>
              <a:ea typeface="Calibri"/>
              <a:cs typeface="Calibri"/>
              <a:sym typeface="Calibri"/>
            </a:endParaRPr>
          </a:p>
        </p:txBody>
      </p:sp>
      <p:sp>
        <p:nvSpPr>
          <p:cNvPr id="413" name="Google Shape;413;p12"/>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2"/>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415" name="Google Shape;415;p12"/>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10</a:t>
            </a:r>
            <a:endParaRPr b="0" i="0" sz="750" u="none" cap="none" strike="noStrike">
              <a:solidFill>
                <a:schemeClr val="dk1"/>
              </a:solidFill>
              <a:latin typeface="Calibri"/>
              <a:ea typeface="Calibri"/>
              <a:cs typeface="Calibri"/>
              <a:sym typeface="Calibri"/>
            </a:endParaRPr>
          </a:p>
        </p:txBody>
      </p:sp>
      <p:sp>
        <p:nvSpPr>
          <p:cNvPr id="416" name="Google Shape;416;p12"/>
          <p:cNvSpPr/>
          <p:nvPr/>
        </p:nvSpPr>
        <p:spPr>
          <a:xfrm>
            <a:off x="274320" y="749808"/>
            <a:ext cx="4206240" cy="29260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365760" y="749808"/>
            <a:ext cx="4069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Where AI is Used</a:t>
            </a:r>
            <a:endParaRPr b="0" i="0" sz="950" u="none" cap="none" strike="noStrike">
              <a:solidFill>
                <a:schemeClr val="dk1"/>
              </a:solidFill>
              <a:latin typeface="Calibri"/>
              <a:ea typeface="Calibri"/>
              <a:cs typeface="Calibri"/>
              <a:sym typeface="Calibri"/>
            </a:endParaRPr>
          </a:p>
        </p:txBody>
      </p:sp>
      <p:sp>
        <p:nvSpPr>
          <p:cNvPr id="418" name="Google Shape;418;p12"/>
          <p:cNvSpPr/>
          <p:nvPr/>
        </p:nvSpPr>
        <p:spPr>
          <a:xfrm>
            <a:off x="4709160" y="749808"/>
            <a:ext cx="4206240" cy="292608"/>
          </a:xfrm>
          <a:prstGeom prst="rect">
            <a:avLst/>
          </a:prstGeom>
          <a:solidFill>
            <a:srgbClr val="3D5C6E"/>
          </a:solidFill>
          <a:ln cap="flat" cmpd="sng" w="12700">
            <a:solidFill>
              <a:srgbClr val="3D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2"/>
          <p:cNvSpPr/>
          <p:nvPr/>
        </p:nvSpPr>
        <p:spPr>
          <a:xfrm>
            <a:off x="4800600" y="749808"/>
            <a:ext cx="4069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Where AI is Not Used</a:t>
            </a:r>
            <a:endParaRPr b="0" i="0" sz="950" u="none" cap="none" strike="noStrike">
              <a:solidFill>
                <a:schemeClr val="dk1"/>
              </a:solidFill>
              <a:latin typeface="Calibri"/>
              <a:ea typeface="Calibri"/>
              <a:cs typeface="Calibri"/>
              <a:sym typeface="Calibri"/>
            </a:endParaRPr>
          </a:p>
        </p:txBody>
      </p:sp>
      <p:sp>
        <p:nvSpPr>
          <p:cNvPr id="420" name="Google Shape;420;p12"/>
          <p:cNvSpPr/>
          <p:nvPr/>
        </p:nvSpPr>
        <p:spPr>
          <a:xfrm>
            <a:off x="274320" y="1133856"/>
            <a:ext cx="4206240" cy="118872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2"/>
          <p:cNvSpPr/>
          <p:nvPr/>
        </p:nvSpPr>
        <p:spPr>
          <a:xfrm>
            <a:off x="274320" y="1133856"/>
            <a:ext cx="54864" cy="118872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2"/>
          <p:cNvSpPr/>
          <p:nvPr/>
        </p:nvSpPr>
        <p:spPr>
          <a:xfrm>
            <a:off x="402336" y="1225296"/>
            <a:ext cx="256032" cy="256032"/>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2"/>
          <p:cNvSpPr/>
          <p:nvPr/>
        </p:nvSpPr>
        <p:spPr>
          <a:xfrm>
            <a:off x="402336" y="122529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424" name="Google Shape;424;p12"/>
          <p:cNvSpPr/>
          <p:nvPr/>
        </p:nvSpPr>
        <p:spPr>
          <a:xfrm>
            <a:off x="749808" y="1225296"/>
            <a:ext cx="363931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1200" u="none" cap="none" strike="noStrike">
                <a:solidFill>
                  <a:srgbClr val="1B3A5C"/>
                </a:solidFill>
                <a:latin typeface="Calibri"/>
                <a:ea typeface="Calibri"/>
                <a:cs typeface="Calibri"/>
                <a:sym typeface="Calibri"/>
              </a:rPr>
              <a:t>Signal extraction from semi-structured data</a:t>
            </a:r>
            <a:endParaRPr b="0" i="0" sz="1200" u="none" cap="none" strike="noStrike">
              <a:solidFill>
                <a:schemeClr val="dk1"/>
              </a:solidFill>
              <a:latin typeface="Calibri"/>
              <a:ea typeface="Calibri"/>
              <a:cs typeface="Calibri"/>
              <a:sym typeface="Calibri"/>
            </a:endParaRPr>
          </a:p>
        </p:txBody>
      </p:sp>
      <p:sp>
        <p:nvSpPr>
          <p:cNvPr id="425" name="Google Shape;425;p12"/>
          <p:cNvSpPr/>
          <p:nvPr/>
        </p:nvSpPr>
        <p:spPr>
          <a:xfrm>
            <a:off x="749808" y="1517904"/>
            <a:ext cx="3639312" cy="7315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800" u="none" cap="none" strike="noStrike">
                <a:solidFill>
                  <a:srgbClr val="2E3A47"/>
                </a:solidFill>
                <a:latin typeface="Calibri"/>
                <a:ea typeface="Calibri"/>
                <a:cs typeface="Calibri"/>
                <a:sym typeface="Calibri"/>
              </a:rPr>
              <a:t>AI is used to parse and structure inputs that are not natively machine-readable: airworthiness directives (ADs), supplier updates and lead time changes, contract SLA documents. This converts unstructured inputs into structured signals that can be used in demand planning.</a:t>
            </a:r>
            <a:endParaRPr b="0" i="0" sz="800" u="none" cap="none" strike="noStrike">
              <a:solidFill>
                <a:schemeClr val="dk1"/>
              </a:solidFill>
              <a:latin typeface="Calibri"/>
              <a:ea typeface="Calibri"/>
              <a:cs typeface="Calibri"/>
              <a:sym typeface="Calibri"/>
            </a:endParaRPr>
          </a:p>
        </p:txBody>
      </p:sp>
      <p:sp>
        <p:nvSpPr>
          <p:cNvPr id="426" name="Google Shape;426;p12"/>
          <p:cNvSpPr/>
          <p:nvPr/>
        </p:nvSpPr>
        <p:spPr>
          <a:xfrm>
            <a:off x="274320" y="2414016"/>
            <a:ext cx="4206240" cy="118872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2"/>
          <p:cNvSpPr/>
          <p:nvPr/>
        </p:nvSpPr>
        <p:spPr>
          <a:xfrm>
            <a:off x="274320" y="2414016"/>
            <a:ext cx="54864" cy="118872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2"/>
          <p:cNvSpPr/>
          <p:nvPr/>
        </p:nvSpPr>
        <p:spPr>
          <a:xfrm>
            <a:off x="402336" y="2505456"/>
            <a:ext cx="256032" cy="256032"/>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2"/>
          <p:cNvSpPr/>
          <p:nvPr/>
        </p:nvSpPr>
        <p:spPr>
          <a:xfrm>
            <a:off x="402336" y="250545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430" name="Google Shape;430;p12"/>
          <p:cNvSpPr/>
          <p:nvPr/>
        </p:nvSpPr>
        <p:spPr>
          <a:xfrm>
            <a:off x="749808" y="2505456"/>
            <a:ext cx="363931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1200" u="none" cap="none" strike="noStrike">
                <a:solidFill>
                  <a:srgbClr val="1B3A5C"/>
                </a:solidFill>
                <a:latin typeface="Calibri"/>
                <a:ea typeface="Calibri"/>
                <a:cs typeface="Calibri"/>
                <a:sym typeface="Calibri"/>
              </a:rPr>
              <a:t>Anomaly detection and pattern recognition</a:t>
            </a:r>
            <a:endParaRPr b="0" i="0" sz="1200" u="none" cap="none" strike="noStrike">
              <a:solidFill>
                <a:schemeClr val="dk1"/>
              </a:solidFill>
              <a:latin typeface="Calibri"/>
              <a:ea typeface="Calibri"/>
              <a:cs typeface="Calibri"/>
              <a:sym typeface="Calibri"/>
            </a:endParaRPr>
          </a:p>
        </p:txBody>
      </p:sp>
      <p:sp>
        <p:nvSpPr>
          <p:cNvPr id="431" name="Google Shape;431;p12"/>
          <p:cNvSpPr/>
          <p:nvPr/>
        </p:nvSpPr>
        <p:spPr>
          <a:xfrm>
            <a:off x="749808" y="2798064"/>
            <a:ext cx="3639312" cy="7315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800" u="none" cap="none" strike="noStrike">
                <a:solidFill>
                  <a:srgbClr val="2E3A47"/>
                </a:solidFill>
                <a:latin typeface="Calibri"/>
                <a:ea typeface="Calibri"/>
                <a:cs typeface="Calibri"/>
                <a:sym typeface="Calibri"/>
              </a:rPr>
              <a:t>ML models monitor actual consumption vs event-driven forecasts to: detect unexpected removals or failure patterns, identify deviations from expected demand, surface signals that require planner review.</a:t>
            </a:r>
            <a:endParaRPr b="0" i="0" sz="800" u="none" cap="none" strike="noStrike">
              <a:solidFill>
                <a:schemeClr val="dk1"/>
              </a:solidFill>
              <a:latin typeface="Calibri"/>
              <a:ea typeface="Calibri"/>
              <a:cs typeface="Calibri"/>
              <a:sym typeface="Calibri"/>
            </a:endParaRPr>
          </a:p>
        </p:txBody>
      </p:sp>
      <p:sp>
        <p:nvSpPr>
          <p:cNvPr id="432" name="Google Shape;432;p12"/>
          <p:cNvSpPr/>
          <p:nvPr/>
        </p:nvSpPr>
        <p:spPr>
          <a:xfrm>
            <a:off x="274320" y="3694176"/>
            <a:ext cx="4206240" cy="118872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2"/>
          <p:cNvSpPr/>
          <p:nvPr/>
        </p:nvSpPr>
        <p:spPr>
          <a:xfrm>
            <a:off x="274320" y="3694176"/>
            <a:ext cx="54864" cy="118872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2"/>
          <p:cNvSpPr/>
          <p:nvPr/>
        </p:nvSpPr>
        <p:spPr>
          <a:xfrm>
            <a:off x="402336" y="3785616"/>
            <a:ext cx="256032" cy="256032"/>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2"/>
          <p:cNvSpPr/>
          <p:nvPr/>
        </p:nvSpPr>
        <p:spPr>
          <a:xfrm>
            <a:off x="402336" y="378561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436" name="Google Shape;436;p12"/>
          <p:cNvSpPr/>
          <p:nvPr/>
        </p:nvSpPr>
        <p:spPr>
          <a:xfrm>
            <a:off x="749808" y="3785616"/>
            <a:ext cx="363931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1200" u="none" cap="none" strike="noStrike">
                <a:solidFill>
                  <a:srgbClr val="1B3A5C"/>
                </a:solidFill>
                <a:latin typeface="Calibri"/>
                <a:ea typeface="Calibri"/>
                <a:cs typeface="Calibri"/>
                <a:sym typeface="Calibri"/>
              </a:rPr>
              <a:t>Continuous learning from planner behavior</a:t>
            </a:r>
            <a:endParaRPr b="0" i="0" sz="1200" u="none" cap="none" strike="noStrike">
              <a:solidFill>
                <a:schemeClr val="dk1"/>
              </a:solidFill>
              <a:latin typeface="Calibri"/>
              <a:ea typeface="Calibri"/>
              <a:cs typeface="Calibri"/>
              <a:sym typeface="Calibri"/>
            </a:endParaRPr>
          </a:p>
        </p:txBody>
      </p:sp>
      <p:sp>
        <p:nvSpPr>
          <p:cNvPr id="437" name="Google Shape;437;p12"/>
          <p:cNvSpPr/>
          <p:nvPr/>
        </p:nvSpPr>
        <p:spPr>
          <a:xfrm>
            <a:off x="749808" y="4078224"/>
            <a:ext cx="3639312" cy="7315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800" u="none" cap="none" strike="noStrike">
                <a:solidFill>
                  <a:srgbClr val="2E3A47"/>
                </a:solidFill>
                <a:latin typeface="Calibri"/>
                <a:ea typeface="Calibri"/>
                <a:cs typeface="Calibri"/>
                <a:sym typeface="Calibri"/>
              </a:rPr>
              <a:t>AI learns from planner overrides and forecast vs actual outcomes. This improves forecast accuracy over time and adapts to operator-specific patterns.</a:t>
            </a:r>
            <a:endParaRPr b="0" i="0" sz="800" u="none" cap="none" strike="noStrike">
              <a:solidFill>
                <a:schemeClr val="dk1"/>
              </a:solidFill>
              <a:latin typeface="Calibri"/>
              <a:ea typeface="Calibri"/>
              <a:cs typeface="Calibri"/>
              <a:sym typeface="Calibri"/>
            </a:endParaRPr>
          </a:p>
        </p:txBody>
      </p:sp>
      <p:sp>
        <p:nvSpPr>
          <p:cNvPr id="438" name="Google Shape;438;p12"/>
          <p:cNvSpPr/>
          <p:nvPr/>
        </p:nvSpPr>
        <p:spPr>
          <a:xfrm>
            <a:off x="4709160" y="1133856"/>
            <a:ext cx="4206240" cy="338328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2"/>
          <p:cNvSpPr/>
          <p:nvPr/>
        </p:nvSpPr>
        <p:spPr>
          <a:xfrm>
            <a:off x="4709160" y="1133856"/>
            <a:ext cx="54864" cy="3383280"/>
          </a:xfrm>
          <a:prstGeom prst="rect">
            <a:avLst/>
          </a:prstGeom>
          <a:solidFill>
            <a:srgbClr val="2A4E72"/>
          </a:solidFill>
          <a:ln cap="flat" cmpd="sng" w="12700">
            <a:solidFill>
              <a:srgbClr val="2A4E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2"/>
          <p:cNvSpPr/>
          <p:nvPr/>
        </p:nvSpPr>
        <p:spPr>
          <a:xfrm>
            <a:off x="4873752" y="1261872"/>
            <a:ext cx="3950208"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900"/>
              <a:buFont typeface="Calibri"/>
              <a:buNone/>
            </a:pPr>
            <a:r>
              <a:rPr b="1" i="0" lang="en-US" sz="900" u="none" cap="none" strike="noStrike">
                <a:solidFill>
                  <a:srgbClr val="1B3A5C"/>
                </a:solidFill>
                <a:latin typeface="Calibri"/>
                <a:ea typeface="Calibri"/>
                <a:cs typeface="Calibri"/>
                <a:sym typeface="Calibri"/>
              </a:rPr>
              <a:t>Core demand modeling and planning logic remain deterministic:</a:t>
            </a:r>
            <a:endParaRPr b="0" i="0" sz="900" u="none" cap="none" strike="noStrike">
              <a:solidFill>
                <a:schemeClr val="dk1"/>
              </a:solidFill>
              <a:latin typeface="Calibri"/>
              <a:ea typeface="Calibri"/>
              <a:cs typeface="Calibri"/>
              <a:sym typeface="Calibri"/>
            </a:endParaRPr>
          </a:p>
        </p:txBody>
      </p:sp>
      <p:sp>
        <p:nvSpPr>
          <p:cNvPr id="441" name="Google Shape;441;p12"/>
          <p:cNvSpPr/>
          <p:nvPr/>
        </p:nvSpPr>
        <p:spPr>
          <a:xfrm>
            <a:off x="4873752" y="1645920"/>
            <a:ext cx="3950208" cy="420624"/>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2"/>
          <p:cNvSpPr/>
          <p:nvPr/>
        </p:nvSpPr>
        <p:spPr>
          <a:xfrm>
            <a:off x="4965192" y="1645920"/>
            <a:ext cx="38587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A47"/>
              </a:buClr>
              <a:buSzPts val="850"/>
              <a:buFont typeface="Calibri"/>
              <a:buNone/>
            </a:pPr>
            <a:r>
              <a:rPr b="0" i="0" lang="en-US" sz="950" u="none" cap="none" strike="noStrike">
                <a:solidFill>
                  <a:srgbClr val="2E3A47"/>
                </a:solidFill>
                <a:latin typeface="Calibri"/>
                <a:ea typeface="Calibri"/>
                <a:cs typeface="Calibri"/>
                <a:sym typeface="Calibri"/>
              </a:rPr>
              <a:t>Demand derived from maintenance events and compliance timelines</a:t>
            </a:r>
            <a:endParaRPr b="0" i="0" sz="950" u="none" cap="none" strike="noStrike">
              <a:solidFill>
                <a:schemeClr val="dk1"/>
              </a:solidFill>
              <a:latin typeface="Calibri"/>
              <a:ea typeface="Calibri"/>
              <a:cs typeface="Calibri"/>
              <a:sym typeface="Calibri"/>
            </a:endParaRPr>
          </a:p>
        </p:txBody>
      </p:sp>
      <p:sp>
        <p:nvSpPr>
          <p:cNvPr id="443" name="Google Shape;443;p12"/>
          <p:cNvSpPr/>
          <p:nvPr/>
        </p:nvSpPr>
        <p:spPr>
          <a:xfrm>
            <a:off x="4873752" y="2157984"/>
            <a:ext cx="3950208" cy="420624"/>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2"/>
          <p:cNvSpPr/>
          <p:nvPr/>
        </p:nvSpPr>
        <p:spPr>
          <a:xfrm>
            <a:off x="4965192" y="2157984"/>
            <a:ext cx="38587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A47"/>
              </a:buClr>
              <a:buSzPts val="850"/>
              <a:buFont typeface="Calibri"/>
              <a:buNone/>
            </a:pPr>
            <a:r>
              <a:rPr b="0" i="0" lang="en-US" sz="950" u="none" cap="none" strike="noStrike">
                <a:solidFill>
                  <a:srgbClr val="2E3A47"/>
                </a:solidFill>
                <a:latin typeface="Calibri"/>
                <a:ea typeface="Calibri"/>
                <a:cs typeface="Calibri"/>
                <a:sym typeface="Calibri"/>
              </a:rPr>
              <a:t>Time-to-compliance calculations</a:t>
            </a:r>
            <a:endParaRPr b="0" i="0" sz="950" u="none" cap="none" strike="noStrike">
              <a:solidFill>
                <a:schemeClr val="dk1"/>
              </a:solidFill>
              <a:latin typeface="Calibri"/>
              <a:ea typeface="Calibri"/>
              <a:cs typeface="Calibri"/>
              <a:sym typeface="Calibri"/>
            </a:endParaRPr>
          </a:p>
        </p:txBody>
      </p:sp>
      <p:sp>
        <p:nvSpPr>
          <p:cNvPr id="445" name="Google Shape;445;p12"/>
          <p:cNvSpPr/>
          <p:nvPr/>
        </p:nvSpPr>
        <p:spPr>
          <a:xfrm>
            <a:off x="4873752" y="2670048"/>
            <a:ext cx="3950208" cy="420624"/>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2"/>
          <p:cNvSpPr/>
          <p:nvPr/>
        </p:nvSpPr>
        <p:spPr>
          <a:xfrm>
            <a:off x="4965192" y="2670048"/>
            <a:ext cx="38587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A47"/>
              </a:buClr>
              <a:buSzPts val="850"/>
              <a:buFont typeface="Calibri"/>
              <a:buNone/>
            </a:pPr>
            <a:r>
              <a:rPr b="0" i="0" lang="en-US" sz="950" u="none" cap="none" strike="noStrike">
                <a:solidFill>
                  <a:srgbClr val="2E3A47"/>
                </a:solidFill>
                <a:latin typeface="Calibri"/>
                <a:ea typeface="Calibri"/>
                <a:cs typeface="Calibri"/>
                <a:sym typeface="Calibri"/>
              </a:rPr>
              <a:t>Demand gap and coverage calculations</a:t>
            </a:r>
            <a:endParaRPr b="0" i="0" sz="950" u="none" cap="none" strike="noStrike">
              <a:solidFill>
                <a:schemeClr val="dk1"/>
              </a:solidFill>
              <a:latin typeface="Calibri"/>
              <a:ea typeface="Calibri"/>
              <a:cs typeface="Calibri"/>
              <a:sym typeface="Calibri"/>
            </a:endParaRPr>
          </a:p>
        </p:txBody>
      </p:sp>
      <p:sp>
        <p:nvSpPr>
          <p:cNvPr id="447" name="Google Shape;447;p12"/>
          <p:cNvSpPr/>
          <p:nvPr/>
        </p:nvSpPr>
        <p:spPr>
          <a:xfrm>
            <a:off x="4873752" y="3182112"/>
            <a:ext cx="3950208" cy="420624"/>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2"/>
          <p:cNvSpPr/>
          <p:nvPr/>
        </p:nvSpPr>
        <p:spPr>
          <a:xfrm>
            <a:off x="4965192" y="3182112"/>
            <a:ext cx="38587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A47"/>
              </a:buClr>
              <a:buSzPts val="850"/>
              <a:buFont typeface="Calibri"/>
              <a:buNone/>
            </a:pPr>
            <a:r>
              <a:rPr b="0" i="0" lang="en-US" sz="950" u="none" cap="none" strike="noStrike">
                <a:solidFill>
                  <a:srgbClr val="2E3A47"/>
                </a:solidFill>
                <a:latin typeface="Calibri"/>
                <a:ea typeface="Calibri"/>
                <a:cs typeface="Calibri"/>
                <a:sym typeface="Calibri"/>
              </a:rPr>
              <a:t>AOG risk scoring logic</a:t>
            </a:r>
            <a:endParaRPr b="0" i="0" sz="950" u="none" cap="none" strike="noStrike">
              <a:solidFill>
                <a:schemeClr val="dk1"/>
              </a:solidFill>
              <a:latin typeface="Calibri"/>
              <a:ea typeface="Calibri"/>
              <a:cs typeface="Calibri"/>
              <a:sym typeface="Calibri"/>
            </a:endParaRPr>
          </a:p>
        </p:txBody>
      </p:sp>
      <p:sp>
        <p:nvSpPr>
          <p:cNvPr id="449" name="Google Shape;449;p12"/>
          <p:cNvSpPr/>
          <p:nvPr/>
        </p:nvSpPr>
        <p:spPr>
          <a:xfrm>
            <a:off x="4873752" y="3730752"/>
            <a:ext cx="395020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8D"/>
              </a:buClr>
              <a:buSzPts val="850"/>
              <a:buFont typeface="Calibri"/>
              <a:buNone/>
            </a:pPr>
            <a:r>
              <a:rPr b="0" i="1" lang="en-US" sz="850" u="none" cap="none" strike="noStrike">
                <a:solidFill>
                  <a:srgbClr val="6B7A8D"/>
                </a:solidFill>
                <a:latin typeface="Calibri"/>
                <a:ea typeface="Calibri"/>
                <a:cs typeface="Calibri"/>
                <a:sym typeface="Calibri"/>
              </a:rPr>
              <a:t>These components are rules-based and fully auditable.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454" name="Shape 454"/>
        <p:cNvGrpSpPr/>
        <p:nvPr/>
      </p:nvGrpSpPr>
      <p:grpSpPr>
        <a:xfrm>
          <a:off x="0" y="0"/>
          <a:ext cx="0" cy="0"/>
          <a:chOff x="0" y="0"/>
          <a:chExt cx="0" cy="0"/>
        </a:xfrm>
      </p:grpSpPr>
      <p:sp>
        <p:nvSpPr>
          <p:cNvPr id="455" name="Google Shape;455;p13"/>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Core Agents</a:t>
            </a:r>
            <a:endParaRPr b="0" i="0" sz="2000" u="none" cap="none" strike="noStrike">
              <a:solidFill>
                <a:schemeClr val="dk1"/>
              </a:solidFill>
              <a:latin typeface="Calibri"/>
              <a:ea typeface="Calibri"/>
              <a:cs typeface="Calibri"/>
              <a:sym typeface="Calibri"/>
            </a:endParaRPr>
          </a:p>
        </p:txBody>
      </p:sp>
      <p:sp>
        <p:nvSpPr>
          <p:cNvPr id="458" name="Google Shape;458;p13"/>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460" name="Google Shape;460;p13"/>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11</a:t>
            </a:r>
            <a:endParaRPr b="0" i="0" sz="750" u="none" cap="none" strike="noStrike">
              <a:solidFill>
                <a:schemeClr val="dk1"/>
              </a:solidFill>
              <a:latin typeface="Calibri"/>
              <a:ea typeface="Calibri"/>
              <a:cs typeface="Calibri"/>
              <a:sym typeface="Calibri"/>
            </a:endParaRPr>
          </a:p>
        </p:txBody>
      </p:sp>
      <p:sp>
        <p:nvSpPr>
          <p:cNvPr id="461" name="Google Shape;461;p13"/>
          <p:cNvSpPr/>
          <p:nvPr/>
        </p:nvSpPr>
        <p:spPr>
          <a:xfrm>
            <a:off x="274320" y="713232"/>
            <a:ext cx="8595360" cy="3291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B7A8D"/>
              </a:buClr>
              <a:buSzPts val="880"/>
              <a:buFont typeface="Calibri"/>
              <a:buNone/>
            </a:pPr>
            <a:r>
              <a:rPr b="1" i="1" lang="en-US" sz="1080" u="none" cap="none" strike="noStrike">
                <a:solidFill>
                  <a:srgbClr val="6B7A8D"/>
                </a:solidFill>
                <a:latin typeface="Calibri"/>
                <a:ea typeface="Calibri"/>
                <a:cs typeface="Calibri"/>
                <a:sym typeface="Calibri"/>
              </a:rPr>
              <a:t>Partcast uses a set of specialized agents to translate AI capabilities into actionable workflows. Each agent is responsible for a specific stage in the planning loop. Agents do not replace planners</a:t>
            </a:r>
            <a:r>
              <a:rPr b="1" i="1" lang="en-US" sz="1080">
                <a:solidFill>
                  <a:srgbClr val="6B7A8D"/>
                </a:solidFill>
                <a:latin typeface="Calibri"/>
                <a:ea typeface="Calibri"/>
                <a:cs typeface="Calibri"/>
                <a:sym typeface="Calibri"/>
              </a:rPr>
              <a:t>.</a:t>
            </a:r>
            <a:r>
              <a:rPr b="1" i="1" lang="en-US" sz="1080" u="none" cap="none" strike="noStrike">
                <a:solidFill>
                  <a:srgbClr val="6B7A8D"/>
                </a:solidFill>
                <a:latin typeface="Calibri"/>
                <a:ea typeface="Calibri"/>
                <a:cs typeface="Calibri"/>
                <a:sym typeface="Calibri"/>
              </a:rPr>
              <a:t> </a:t>
            </a:r>
            <a:r>
              <a:rPr b="1" i="1" lang="en-US" sz="1080">
                <a:solidFill>
                  <a:srgbClr val="6B7A8D"/>
                </a:solidFill>
                <a:latin typeface="Calibri"/>
                <a:ea typeface="Calibri"/>
                <a:cs typeface="Calibri"/>
                <a:sym typeface="Calibri"/>
              </a:rPr>
              <a:t>T</a:t>
            </a:r>
            <a:r>
              <a:rPr b="1" i="1" lang="en-US" sz="1080" u="none" cap="none" strike="noStrike">
                <a:solidFill>
                  <a:srgbClr val="6B7A8D"/>
                </a:solidFill>
                <a:latin typeface="Calibri"/>
                <a:ea typeface="Calibri"/>
                <a:cs typeface="Calibri"/>
                <a:sym typeface="Calibri"/>
              </a:rPr>
              <a:t>hey augment decision-making and automate data synthesis, while keeping the human in control.</a:t>
            </a:r>
            <a:endParaRPr b="1" i="0" sz="1080" u="none" cap="none" strike="noStrike">
              <a:solidFill>
                <a:schemeClr val="dk1"/>
              </a:solidFill>
              <a:latin typeface="Calibri"/>
              <a:ea typeface="Calibri"/>
              <a:cs typeface="Calibri"/>
              <a:sym typeface="Calibri"/>
            </a:endParaRPr>
          </a:p>
        </p:txBody>
      </p:sp>
      <p:sp>
        <p:nvSpPr>
          <p:cNvPr id="462" name="Google Shape;462;p13"/>
          <p:cNvSpPr/>
          <p:nvPr/>
        </p:nvSpPr>
        <p:spPr>
          <a:xfrm>
            <a:off x="274325" y="1467870"/>
            <a:ext cx="2743200" cy="28254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63" name="Google Shape;463;p13"/>
          <p:cNvSpPr/>
          <p:nvPr/>
        </p:nvSpPr>
        <p:spPr>
          <a:xfrm>
            <a:off x="274325" y="1474917"/>
            <a:ext cx="2743200" cy="693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274320" y="1474908"/>
            <a:ext cx="54900" cy="5670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2633472" y="1621212"/>
            <a:ext cx="255900" cy="25590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2633472" y="1621212"/>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467" name="Google Shape;467;p13"/>
          <p:cNvSpPr/>
          <p:nvPr/>
        </p:nvSpPr>
        <p:spPr>
          <a:xfrm>
            <a:off x="402336" y="1529772"/>
            <a:ext cx="21945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1100" u="none" cap="none" strike="noStrike">
                <a:solidFill>
                  <a:srgbClr val="FFFFFF"/>
                </a:solidFill>
                <a:latin typeface="Calibri"/>
                <a:ea typeface="Calibri"/>
                <a:cs typeface="Calibri"/>
                <a:sym typeface="Calibri"/>
              </a:rPr>
              <a:t>AD Compliance Demand Agent</a:t>
            </a:r>
            <a:endParaRPr b="0" i="0" sz="1100" u="none" cap="none" strike="noStrike">
              <a:solidFill>
                <a:schemeClr val="dk1"/>
              </a:solidFill>
              <a:latin typeface="Calibri"/>
              <a:ea typeface="Calibri"/>
              <a:cs typeface="Calibri"/>
              <a:sym typeface="Calibri"/>
            </a:endParaRPr>
          </a:p>
        </p:txBody>
      </p:sp>
      <p:sp>
        <p:nvSpPr>
          <p:cNvPr id="468" name="Google Shape;468;p13"/>
          <p:cNvSpPr/>
          <p:nvPr/>
        </p:nvSpPr>
        <p:spPr>
          <a:xfrm>
            <a:off x="402336" y="1804092"/>
            <a:ext cx="21945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C4DC"/>
              </a:buClr>
              <a:buSzPts val="750"/>
              <a:buFont typeface="Calibri"/>
              <a:buNone/>
            </a:pPr>
            <a:r>
              <a:rPr i="0" lang="en-US" sz="950" u="none" cap="none" strike="noStrike">
                <a:solidFill>
                  <a:srgbClr val="A8C4DC"/>
                </a:solidFill>
                <a:latin typeface="Calibri"/>
                <a:ea typeface="Calibri"/>
                <a:cs typeface="Calibri"/>
                <a:sym typeface="Calibri"/>
              </a:rPr>
              <a:t>Transforms regulatory and operational inputs into structured demand signals</a:t>
            </a:r>
            <a:endParaRPr i="0" sz="950" u="none" cap="none" strike="noStrike">
              <a:solidFill>
                <a:schemeClr val="dk1"/>
              </a:solidFill>
              <a:latin typeface="Calibri"/>
              <a:ea typeface="Calibri"/>
              <a:cs typeface="Calibri"/>
              <a:sym typeface="Calibri"/>
            </a:endParaRPr>
          </a:p>
        </p:txBody>
      </p:sp>
      <p:sp>
        <p:nvSpPr>
          <p:cNvPr id="469" name="Google Shape;469;p13"/>
          <p:cNvSpPr/>
          <p:nvPr/>
        </p:nvSpPr>
        <p:spPr>
          <a:xfrm>
            <a:off x="402336" y="2290823"/>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70" name="Google Shape;470;p13"/>
          <p:cNvSpPr/>
          <p:nvPr/>
        </p:nvSpPr>
        <p:spPr>
          <a:xfrm>
            <a:off x="530352" y="2254403"/>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Parses airworthiness directives (ADs) and maintenance requirements</a:t>
            </a:r>
            <a:endParaRPr b="0" i="0" sz="900" u="none" cap="none" strike="noStrike">
              <a:solidFill>
                <a:schemeClr val="dk1"/>
              </a:solidFill>
              <a:latin typeface="Calibri"/>
              <a:ea typeface="Calibri"/>
              <a:cs typeface="Calibri"/>
              <a:sym typeface="Calibri"/>
            </a:endParaRPr>
          </a:p>
        </p:txBody>
      </p:sp>
      <p:sp>
        <p:nvSpPr>
          <p:cNvPr id="471" name="Google Shape;471;p13"/>
          <p:cNvSpPr/>
          <p:nvPr/>
        </p:nvSpPr>
        <p:spPr>
          <a:xfrm>
            <a:off x="402336" y="2766311"/>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72" name="Google Shape;472;p13"/>
          <p:cNvSpPr/>
          <p:nvPr/>
        </p:nvSpPr>
        <p:spPr>
          <a:xfrm>
            <a:off x="530352" y="2729891"/>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Identifies affected aircraft (tails) and required parts</a:t>
            </a:r>
            <a:endParaRPr b="0" i="0" sz="900" u="none" cap="none" strike="noStrike">
              <a:solidFill>
                <a:schemeClr val="dk1"/>
              </a:solidFill>
              <a:latin typeface="Calibri"/>
              <a:ea typeface="Calibri"/>
              <a:cs typeface="Calibri"/>
              <a:sym typeface="Calibri"/>
            </a:endParaRPr>
          </a:p>
        </p:txBody>
      </p:sp>
      <p:sp>
        <p:nvSpPr>
          <p:cNvPr id="473" name="Google Shape;473;p13"/>
          <p:cNvSpPr/>
          <p:nvPr/>
        </p:nvSpPr>
        <p:spPr>
          <a:xfrm>
            <a:off x="402336" y="3241799"/>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74" name="Google Shape;474;p13"/>
          <p:cNvSpPr/>
          <p:nvPr/>
        </p:nvSpPr>
        <p:spPr>
          <a:xfrm>
            <a:off x="530352" y="3205379"/>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Generates demand recommendations with supporting context</a:t>
            </a:r>
            <a:endParaRPr b="0" i="0" sz="900" u="none" cap="none" strike="noStrike">
              <a:solidFill>
                <a:schemeClr val="dk1"/>
              </a:solidFill>
              <a:latin typeface="Calibri"/>
              <a:ea typeface="Calibri"/>
              <a:cs typeface="Calibri"/>
              <a:sym typeface="Calibri"/>
            </a:endParaRPr>
          </a:p>
        </p:txBody>
      </p:sp>
      <p:sp>
        <p:nvSpPr>
          <p:cNvPr id="475" name="Google Shape;475;p13"/>
          <p:cNvSpPr/>
          <p:nvPr/>
        </p:nvSpPr>
        <p:spPr>
          <a:xfrm>
            <a:off x="274320" y="3749447"/>
            <a:ext cx="2743200" cy="4938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76" name="Google Shape;476;p13"/>
          <p:cNvSpPr/>
          <p:nvPr/>
        </p:nvSpPr>
        <p:spPr>
          <a:xfrm>
            <a:off x="402336" y="3767735"/>
            <a:ext cx="2560200" cy="20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750"/>
              <a:buFont typeface="Calibri"/>
              <a:buNone/>
            </a:pPr>
            <a:r>
              <a:rPr b="1" i="0" lang="en-US" sz="850" u="none" cap="none" strike="noStrike">
                <a:solidFill>
                  <a:srgbClr val="1B3A5C"/>
                </a:solidFill>
                <a:latin typeface="Calibri"/>
                <a:ea typeface="Calibri"/>
                <a:cs typeface="Calibri"/>
                <a:sym typeface="Calibri"/>
              </a:rPr>
              <a:t>Role in system:</a:t>
            </a:r>
            <a:endParaRPr b="0" i="0" sz="850" u="none" cap="none" strike="noStrike">
              <a:solidFill>
                <a:schemeClr val="dk1"/>
              </a:solidFill>
              <a:latin typeface="Calibri"/>
              <a:ea typeface="Calibri"/>
              <a:cs typeface="Calibri"/>
              <a:sym typeface="Calibri"/>
            </a:endParaRPr>
          </a:p>
        </p:txBody>
      </p:sp>
      <p:sp>
        <p:nvSpPr>
          <p:cNvPr id="477" name="Google Shape;477;p13"/>
          <p:cNvSpPr/>
          <p:nvPr/>
        </p:nvSpPr>
        <p:spPr>
          <a:xfrm>
            <a:off x="402336" y="3950615"/>
            <a:ext cx="25602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3A47"/>
              </a:buClr>
              <a:buSzPts val="750"/>
              <a:buFont typeface="Calibri"/>
              <a:buNone/>
            </a:pPr>
            <a:r>
              <a:rPr b="0" i="1" lang="en-US" sz="850" u="none" cap="none" strike="noStrike">
                <a:solidFill>
                  <a:srgbClr val="2E3A47"/>
                </a:solidFill>
                <a:latin typeface="Calibri"/>
                <a:ea typeface="Calibri"/>
                <a:cs typeface="Calibri"/>
                <a:sym typeface="Calibri"/>
              </a:rPr>
              <a:t>Converts external rules and documents into actionable demand</a:t>
            </a:r>
            <a:endParaRPr b="0" i="0" sz="850" u="none" cap="none" strike="noStrike">
              <a:solidFill>
                <a:schemeClr val="dk1"/>
              </a:solidFill>
              <a:latin typeface="Calibri"/>
              <a:ea typeface="Calibri"/>
              <a:cs typeface="Calibri"/>
              <a:sym typeface="Calibri"/>
            </a:endParaRPr>
          </a:p>
        </p:txBody>
      </p:sp>
      <p:sp>
        <p:nvSpPr>
          <p:cNvPr id="478" name="Google Shape;478;p13"/>
          <p:cNvSpPr/>
          <p:nvPr/>
        </p:nvSpPr>
        <p:spPr>
          <a:xfrm>
            <a:off x="3200400" y="1467870"/>
            <a:ext cx="2743200" cy="28254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79" name="Google Shape;479;p13"/>
          <p:cNvSpPr/>
          <p:nvPr/>
        </p:nvSpPr>
        <p:spPr>
          <a:xfrm>
            <a:off x="3200402" y="1474917"/>
            <a:ext cx="2743200" cy="693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3"/>
          <p:cNvSpPr/>
          <p:nvPr/>
        </p:nvSpPr>
        <p:spPr>
          <a:xfrm>
            <a:off x="3200400" y="1474908"/>
            <a:ext cx="54900" cy="5670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3"/>
          <p:cNvSpPr/>
          <p:nvPr/>
        </p:nvSpPr>
        <p:spPr>
          <a:xfrm>
            <a:off x="5559552" y="1621212"/>
            <a:ext cx="255900" cy="25590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5559552" y="1621212"/>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483" name="Google Shape;483;p13"/>
          <p:cNvSpPr/>
          <p:nvPr/>
        </p:nvSpPr>
        <p:spPr>
          <a:xfrm>
            <a:off x="3328416" y="1529772"/>
            <a:ext cx="21945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1100" u="none" cap="none" strike="noStrike">
                <a:solidFill>
                  <a:srgbClr val="FFFFFF"/>
                </a:solidFill>
                <a:latin typeface="Calibri"/>
                <a:ea typeface="Calibri"/>
                <a:cs typeface="Calibri"/>
                <a:sym typeface="Calibri"/>
              </a:rPr>
              <a:t>AOG Risk Scoring Agent</a:t>
            </a:r>
            <a:endParaRPr b="0" i="0" sz="1100" u="none" cap="none" strike="noStrike">
              <a:solidFill>
                <a:schemeClr val="dk1"/>
              </a:solidFill>
              <a:latin typeface="Calibri"/>
              <a:ea typeface="Calibri"/>
              <a:cs typeface="Calibri"/>
              <a:sym typeface="Calibri"/>
            </a:endParaRPr>
          </a:p>
        </p:txBody>
      </p:sp>
      <p:sp>
        <p:nvSpPr>
          <p:cNvPr id="484" name="Google Shape;484;p13"/>
          <p:cNvSpPr/>
          <p:nvPr/>
        </p:nvSpPr>
        <p:spPr>
          <a:xfrm>
            <a:off x="3328416" y="1804092"/>
            <a:ext cx="21945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C4DC"/>
              </a:buClr>
              <a:buSzPts val="750"/>
              <a:buFont typeface="Calibri"/>
              <a:buNone/>
            </a:pPr>
            <a:r>
              <a:rPr i="0" lang="en-US" sz="950" u="none" cap="none" strike="noStrike">
                <a:solidFill>
                  <a:srgbClr val="A8C4DC"/>
                </a:solidFill>
                <a:latin typeface="Calibri"/>
                <a:ea typeface="Calibri"/>
                <a:cs typeface="Calibri"/>
                <a:sym typeface="Calibri"/>
              </a:rPr>
              <a:t>Continuously monitors demand and supply conditions to surface operational risk</a:t>
            </a:r>
            <a:endParaRPr i="0" sz="950" u="none" cap="none" strike="noStrike">
              <a:solidFill>
                <a:schemeClr val="dk1"/>
              </a:solidFill>
              <a:latin typeface="Calibri"/>
              <a:ea typeface="Calibri"/>
              <a:cs typeface="Calibri"/>
              <a:sym typeface="Calibri"/>
            </a:endParaRPr>
          </a:p>
        </p:txBody>
      </p:sp>
      <p:sp>
        <p:nvSpPr>
          <p:cNvPr id="485" name="Google Shape;485;p13"/>
          <p:cNvSpPr/>
          <p:nvPr/>
        </p:nvSpPr>
        <p:spPr>
          <a:xfrm>
            <a:off x="3328416" y="2290823"/>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86" name="Google Shape;486;p13"/>
          <p:cNvSpPr/>
          <p:nvPr/>
        </p:nvSpPr>
        <p:spPr>
          <a:xfrm>
            <a:off x="3456432" y="2254403"/>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Evaluates inventory coverage against upcoming demand events</a:t>
            </a:r>
            <a:endParaRPr b="0" i="0" sz="900" u="none" cap="none" strike="noStrike">
              <a:solidFill>
                <a:schemeClr val="dk1"/>
              </a:solidFill>
              <a:latin typeface="Calibri"/>
              <a:ea typeface="Calibri"/>
              <a:cs typeface="Calibri"/>
              <a:sym typeface="Calibri"/>
            </a:endParaRPr>
          </a:p>
        </p:txBody>
      </p:sp>
      <p:sp>
        <p:nvSpPr>
          <p:cNvPr id="487" name="Google Shape;487;p13"/>
          <p:cNvSpPr/>
          <p:nvPr/>
        </p:nvSpPr>
        <p:spPr>
          <a:xfrm>
            <a:off x="3328416" y="2766311"/>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88" name="Google Shape;488;p13"/>
          <p:cNvSpPr/>
          <p:nvPr/>
        </p:nvSpPr>
        <p:spPr>
          <a:xfrm>
            <a:off x="3456432" y="2729891"/>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Identifies aircraft at risk of AOG based on timing and supply gaps</a:t>
            </a:r>
            <a:endParaRPr b="0" i="0" sz="900" u="none" cap="none" strike="noStrike">
              <a:solidFill>
                <a:schemeClr val="dk1"/>
              </a:solidFill>
              <a:latin typeface="Calibri"/>
              <a:ea typeface="Calibri"/>
              <a:cs typeface="Calibri"/>
              <a:sym typeface="Calibri"/>
            </a:endParaRPr>
          </a:p>
        </p:txBody>
      </p:sp>
      <p:sp>
        <p:nvSpPr>
          <p:cNvPr id="489" name="Google Shape;489;p13"/>
          <p:cNvSpPr/>
          <p:nvPr/>
        </p:nvSpPr>
        <p:spPr>
          <a:xfrm>
            <a:off x="3328416" y="3241799"/>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90" name="Google Shape;490;p13"/>
          <p:cNvSpPr/>
          <p:nvPr/>
        </p:nvSpPr>
        <p:spPr>
          <a:xfrm>
            <a:off x="3456432" y="3205379"/>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Prioritizes high-risk items for planner review</a:t>
            </a:r>
            <a:endParaRPr b="0" i="0" sz="900" u="none" cap="none" strike="noStrike">
              <a:solidFill>
                <a:schemeClr val="dk1"/>
              </a:solidFill>
              <a:latin typeface="Calibri"/>
              <a:ea typeface="Calibri"/>
              <a:cs typeface="Calibri"/>
              <a:sym typeface="Calibri"/>
            </a:endParaRPr>
          </a:p>
        </p:txBody>
      </p:sp>
      <p:sp>
        <p:nvSpPr>
          <p:cNvPr id="491" name="Google Shape;491;p13"/>
          <p:cNvSpPr/>
          <p:nvPr/>
        </p:nvSpPr>
        <p:spPr>
          <a:xfrm>
            <a:off x="3200400" y="3749447"/>
            <a:ext cx="2743200" cy="4938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92" name="Google Shape;492;p13"/>
          <p:cNvSpPr/>
          <p:nvPr/>
        </p:nvSpPr>
        <p:spPr>
          <a:xfrm>
            <a:off x="3328416" y="3767735"/>
            <a:ext cx="2560200" cy="20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750"/>
              <a:buFont typeface="Calibri"/>
              <a:buNone/>
            </a:pPr>
            <a:r>
              <a:rPr b="1" i="0" lang="en-US" sz="850" u="none" cap="none" strike="noStrike">
                <a:solidFill>
                  <a:srgbClr val="1B3A5C"/>
                </a:solidFill>
                <a:latin typeface="Calibri"/>
                <a:ea typeface="Calibri"/>
                <a:cs typeface="Calibri"/>
                <a:sym typeface="Calibri"/>
              </a:rPr>
              <a:t>Role in system:</a:t>
            </a:r>
            <a:endParaRPr b="0" i="0" sz="850" u="none" cap="none" strike="noStrike">
              <a:solidFill>
                <a:schemeClr val="dk1"/>
              </a:solidFill>
              <a:latin typeface="Calibri"/>
              <a:ea typeface="Calibri"/>
              <a:cs typeface="Calibri"/>
              <a:sym typeface="Calibri"/>
            </a:endParaRPr>
          </a:p>
        </p:txBody>
      </p:sp>
      <p:sp>
        <p:nvSpPr>
          <p:cNvPr id="493" name="Google Shape;493;p13"/>
          <p:cNvSpPr/>
          <p:nvPr/>
        </p:nvSpPr>
        <p:spPr>
          <a:xfrm>
            <a:off x="3328416" y="3950615"/>
            <a:ext cx="25602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3A47"/>
              </a:buClr>
              <a:buSzPts val="750"/>
              <a:buFont typeface="Calibri"/>
              <a:buNone/>
            </a:pPr>
            <a:r>
              <a:rPr b="0" i="1" lang="en-US" sz="850" u="none" cap="none" strike="noStrike">
                <a:solidFill>
                  <a:srgbClr val="2E3A47"/>
                </a:solidFill>
                <a:latin typeface="Calibri"/>
                <a:ea typeface="Calibri"/>
                <a:cs typeface="Calibri"/>
                <a:sym typeface="Calibri"/>
              </a:rPr>
              <a:t>Shifts planning from reactive to proactive risk management</a:t>
            </a:r>
            <a:endParaRPr b="0" i="0" sz="850" u="none" cap="none" strike="noStrike">
              <a:solidFill>
                <a:schemeClr val="dk1"/>
              </a:solidFill>
              <a:latin typeface="Calibri"/>
              <a:ea typeface="Calibri"/>
              <a:cs typeface="Calibri"/>
              <a:sym typeface="Calibri"/>
            </a:endParaRPr>
          </a:p>
        </p:txBody>
      </p:sp>
      <p:sp>
        <p:nvSpPr>
          <p:cNvPr id="494" name="Google Shape;494;p13"/>
          <p:cNvSpPr/>
          <p:nvPr/>
        </p:nvSpPr>
        <p:spPr>
          <a:xfrm>
            <a:off x="6126475" y="1467870"/>
            <a:ext cx="2743200" cy="28254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5" name="Google Shape;495;p13"/>
          <p:cNvSpPr/>
          <p:nvPr/>
        </p:nvSpPr>
        <p:spPr>
          <a:xfrm>
            <a:off x="6126478" y="1474917"/>
            <a:ext cx="2743200" cy="693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3"/>
          <p:cNvSpPr/>
          <p:nvPr/>
        </p:nvSpPr>
        <p:spPr>
          <a:xfrm>
            <a:off x="6126480" y="1474908"/>
            <a:ext cx="54900" cy="5670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3"/>
          <p:cNvSpPr/>
          <p:nvPr/>
        </p:nvSpPr>
        <p:spPr>
          <a:xfrm>
            <a:off x="8485632" y="1621212"/>
            <a:ext cx="255900" cy="255900"/>
          </a:xfrm>
          <a:prstGeom prst="ellipse">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3"/>
          <p:cNvSpPr/>
          <p:nvPr/>
        </p:nvSpPr>
        <p:spPr>
          <a:xfrm>
            <a:off x="8485632" y="1621212"/>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499" name="Google Shape;499;p13"/>
          <p:cNvSpPr/>
          <p:nvPr/>
        </p:nvSpPr>
        <p:spPr>
          <a:xfrm>
            <a:off x="6254496" y="1529772"/>
            <a:ext cx="21945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1100" u="none" cap="none" strike="noStrike">
                <a:solidFill>
                  <a:srgbClr val="FFFFFF"/>
                </a:solidFill>
                <a:latin typeface="Calibri"/>
                <a:ea typeface="Calibri"/>
                <a:cs typeface="Calibri"/>
                <a:sym typeface="Calibri"/>
              </a:rPr>
              <a:t>S&amp;OP Package Agent</a:t>
            </a:r>
            <a:endParaRPr b="0" i="0" sz="1100" u="none" cap="none" strike="noStrike">
              <a:solidFill>
                <a:schemeClr val="dk1"/>
              </a:solidFill>
              <a:latin typeface="Calibri"/>
              <a:ea typeface="Calibri"/>
              <a:cs typeface="Calibri"/>
              <a:sym typeface="Calibri"/>
            </a:endParaRPr>
          </a:p>
        </p:txBody>
      </p:sp>
      <p:sp>
        <p:nvSpPr>
          <p:cNvPr id="500" name="Google Shape;500;p13"/>
          <p:cNvSpPr/>
          <p:nvPr/>
        </p:nvSpPr>
        <p:spPr>
          <a:xfrm>
            <a:off x="6254496" y="1804092"/>
            <a:ext cx="21945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C4DC"/>
              </a:buClr>
              <a:buSzPts val="750"/>
              <a:buFont typeface="Calibri"/>
              <a:buNone/>
            </a:pPr>
            <a:r>
              <a:rPr i="0" lang="en-US" sz="950" u="none" cap="none" strike="noStrike">
                <a:solidFill>
                  <a:srgbClr val="A8C4DC"/>
                </a:solidFill>
                <a:latin typeface="Calibri"/>
                <a:ea typeface="Calibri"/>
                <a:cs typeface="Calibri"/>
                <a:sym typeface="Calibri"/>
              </a:rPr>
              <a:t>Aggregates decisions and prepares structured outputs for planning cycles</a:t>
            </a:r>
            <a:endParaRPr i="0" sz="950" u="none" cap="none" strike="noStrike">
              <a:solidFill>
                <a:schemeClr val="dk1"/>
              </a:solidFill>
              <a:latin typeface="Calibri"/>
              <a:ea typeface="Calibri"/>
              <a:cs typeface="Calibri"/>
              <a:sym typeface="Calibri"/>
            </a:endParaRPr>
          </a:p>
        </p:txBody>
      </p:sp>
      <p:sp>
        <p:nvSpPr>
          <p:cNvPr id="501" name="Google Shape;501;p13"/>
          <p:cNvSpPr/>
          <p:nvPr/>
        </p:nvSpPr>
        <p:spPr>
          <a:xfrm>
            <a:off x="6254496" y="2290823"/>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502" name="Google Shape;502;p13"/>
          <p:cNvSpPr/>
          <p:nvPr/>
        </p:nvSpPr>
        <p:spPr>
          <a:xfrm>
            <a:off x="6382512" y="2254403"/>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Compiles forecast changes, overrides, and key signals</a:t>
            </a:r>
            <a:endParaRPr b="0" i="0" sz="900" u="none" cap="none" strike="noStrike">
              <a:solidFill>
                <a:schemeClr val="dk1"/>
              </a:solidFill>
              <a:latin typeface="Calibri"/>
              <a:ea typeface="Calibri"/>
              <a:cs typeface="Calibri"/>
              <a:sym typeface="Calibri"/>
            </a:endParaRPr>
          </a:p>
        </p:txBody>
      </p:sp>
      <p:sp>
        <p:nvSpPr>
          <p:cNvPr id="503" name="Google Shape;503;p13"/>
          <p:cNvSpPr/>
          <p:nvPr/>
        </p:nvSpPr>
        <p:spPr>
          <a:xfrm>
            <a:off x="6254496" y="2766311"/>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504" name="Google Shape;504;p13"/>
          <p:cNvSpPr/>
          <p:nvPr/>
        </p:nvSpPr>
        <p:spPr>
          <a:xfrm>
            <a:off x="6382512" y="2729891"/>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Summarizes drivers of change and associated risks</a:t>
            </a:r>
            <a:endParaRPr b="0" i="0" sz="900" u="none" cap="none" strike="noStrike">
              <a:solidFill>
                <a:schemeClr val="dk1"/>
              </a:solidFill>
              <a:latin typeface="Calibri"/>
              <a:ea typeface="Calibri"/>
              <a:cs typeface="Calibri"/>
              <a:sym typeface="Calibri"/>
            </a:endParaRPr>
          </a:p>
        </p:txBody>
      </p:sp>
      <p:sp>
        <p:nvSpPr>
          <p:cNvPr id="505" name="Google Shape;505;p13"/>
          <p:cNvSpPr/>
          <p:nvPr/>
        </p:nvSpPr>
        <p:spPr>
          <a:xfrm>
            <a:off x="6254496" y="3241799"/>
            <a:ext cx="73200" cy="73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506" name="Google Shape;506;p13"/>
          <p:cNvSpPr/>
          <p:nvPr/>
        </p:nvSpPr>
        <p:spPr>
          <a:xfrm>
            <a:off x="6382512" y="3205379"/>
            <a:ext cx="23958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800"/>
              <a:buFont typeface="Calibri"/>
              <a:buNone/>
            </a:pPr>
            <a:r>
              <a:rPr b="0" i="0" lang="en-US" sz="900" u="none" cap="none" strike="noStrike">
                <a:solidFill>
                  <a:srgbClr val="2E3A47"/>
                </a:solidFill>
                <a:latin typeface="Calibri"/>
                <a:ea typeface="Calibri"/>
                <a:cs typeface="Calibri"/>
                <a:sym typeface="Calibri"/>
              </a:rPr>
              <a:t>Produces a complete S&amp;OP-ready package for review</a:t>
            </a:r>
            <a:endParaRPr b="0" i="0" sz="900" u="none" cap="none" strike="noStrike">
              <a:solidFill>
                <a:schemeClr val="dk1"/>
              </a:solidFill>
              <a:latin typeface="Calibri"/>
              <a:ea typeface="Calibri"/>
              <a:cs typeface="Calibri"/>
              <a:sym typeface="Calibri"/>
            </a:endParaRPr>
          </a:p>
        </p:txBody>
      </p:sp>
      <p:sp>
        <p:nvSpPr>
          <p:cNvPr id="507" name="Google Shape;507;p13"/>
          <p:cNvSpPr/>
          <p:nvPr/>
        </p:nvSpPr>
        <p:spPr>
          <a:xfrm>
            <a:off x="6126480" y="3749447"/>
            <a:ext cx="2743200" cy="4938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508" name="Google Shape;508;p13"/>
          <p:cNvSpPr/>
          <p:nvPr/>
        </p:nvSpPr>
        <p:spPr>
          <a:xfrm>
            <a:off x="6254496" y="3767735"/>
            <a:ext cx="2560200" cy="20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750"/>
              <a:buFont typeface="Calibri"/>
              <a:buNone/>
            </a:pPr>
            <a:r>
              <a:rPr b="1" i="0" lang="en-US" sz="850" u="none" cap="none" strike="noStrike">
                <a:solidFill>
                  <a:srgbClr val="1B3A5C"/>
                </a:solidFill>
                <a:latin typeface="Calibri"/>
                <a:ea typeface="Calibri"/>
                <a:cs typeface="Calibri"/>
                <a:sym typeface="Calibri"/>
              </a:rPr>
              <a:t>Role in system:</a:t>
            </a:r>
            <a:endParaRPr b="0" i="0" sz="850" u="none" cap="none" strike="noStrike">
              <a:solidFill>
                <a:schemeClr val="dk1"/>
              </a:solidFill>
              <a:latin typeface="Calibri"/>
              <a:ea typeface="Calibri"/>
              <a:cs typeface="Calibri"/>
              <a:sym typeface="Calibri"/>
            </a:endParaRPr>
          </a:p>
        </p:txBody>
      </p:sp>
      <p:sp>
        <p:nvSpPr>
          <p:cNvPr id="509" name="Google Shape;509;p13"/>
          <p:cNvSpPr/>
          <p:nvPr/>
        </p:nvSpPr>
        <p:spPr>
          <a:xfrm>
            <a:off x="6254496" y="3950615"/>
            <a:ext cx="25602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3A47"/>
              </a:buClr>
              <a:buSzPts val="750"/>
              <a:buFont typeface="Calibri"/>
              <a:buNone/>
            </a:pPr>
            <a:r>
              <a:rPr b="0" i="1" lang="en-US" sz="850" u="none" cap="none" strike="noStrike">
                <a:solidFill>
                  <a:srgbClr val="2E3A47"/>
                </a:solidFill>
                <a:latin typeface="Calibri"/>
                <a:ea typeface="Calibri"/>
                <a:cs typeface="Calibri"/>
                <a:sym typeface="Calibri"/>
              </a:rPr>
              <a:t>Replaces manual preparation with automated, explainable outputs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14" name="Shape 514"/>
        <p:cNvGrpSpPr/>
        <p:nvPr/>
      </p:nvGrpSpPr>
      <p:grpSpPr>
        <a:xfrm>
          <a:off x="0" y="0"/>
          <a:ext cx="0" cy="0"/>
          <a:chOff x="0" y="0"/>
          <a:chExt cx="0" cy="0"/>
        </a:xfrm>
      </p:grpSpPr>
      <p:sp>
        <p:nvSpPr>
          <p:cNvPr id="515" name="Google Shape;515;p14"/>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4"/>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Design Principles</a:t>
            </a:r>
            <a:endParaRPr b="0" i="0" sz="2000" u="none" cap="none" strike="noStrike">
              <a:solidFill>
                <a:schemeClr val="dk1"/>
              </a:solidFill>
              <a:latin typeface="Calibri"/>
              <a:ea typeface="Calibri"/>
              <a:cs typeface="Calibri"/>
              <a:sym typeface="Calibri"/>
            </a:endParaRPr>
          </a:p>
        </p:txBody>
      </p:sp>
      <p:sp>
        <p:nvSpPr>
          <p:cNvPr id="518" name="Google Shape;518;p14"/>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4"/>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520" name="Google Shape;520;p14"/>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12</a:t>
            </a:r>
            <a:endParaRPr b="0" i="0" sz="750" u="none" cap="none" strike="noStrike">
              <a:solidFill>
                <a:schemeClr val="dk1"/>
              </a:solidFill>
              <a:latin typeface="Calibri"/>
              <a:ea typeface="Calibri"/>
              <a:cs typeface="Calibri"/>
              <a:sym typeface="Calibri"/>
            </a:endParaRPr>
          </a:p>
        </p:txBody>
      </p:sp>
      <p:sp>
        <p:nvSpPr>
          <p:cNvPr id="521" name="Google Shape;521;p14"/>
          <p:cNvSpPr/>
          <p:nvPr/>
        </p:nvSpPr>
        <p:spPr>
          <a:xfrm>
            <a:off x="274320" y="749808"/>
            <a:ext cx="4160520" cy="1828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4"/>
          <p:cNvSpPr/>
          <p:nvPr/>
        </p:nvSpPr>
        <p:spPr>
          <a:xfrm>
            <a:off x="3703320" y="841248"/>
            <a:ext cx="594360" cy="5943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EEF1F5"/>
              </a:buClr>
              <a:buSzPts val="5200"/>
              <a:buFont typeface="Calibri"/>
              <a:buNone/>
            </a:pPr>
            <a:r>
              <a:rPr b="1" i="0" lang="en-US" sz="5200" u="none" cap="none" strike="noStrike">
                <a:solidFill>
                  <a:srgbClr val="EEF1F5"/>
                </a:solidFill>
                <a:latin typeface="Calibri"/>
                <a:ea typeface="Calibri"/>
                <a:cs typeface="Calibri"/>
                <a:sym typeface="Calibri"/>
              </a:rPr>
              <a:t>1</a:t>
            </a:r>
            <a:endParaRPr b="0" i="0" sz="5200" u="none" cap="none" strike="noStrike">
              <a:solidFill>
                <a:schemeClr val="dk1"/>
              </a:solidFill>
              <a:latin typeface="Calibri"/>
              <a:ea typeface="Calibri"/>
              <a:cs typeface="Calibri"/>
              <a:sym typeface="Calibri"/>
            </a:endParaRPr>
          </a:p>
        </p:txBody>
      </p:sp>
      <p:sp>
        <p:nvSpPr>
          <p:cNvPr id="523" name="Google Shape;523;p14"/>
          <p:cNvSpPr/>
          <p:nvPr/>
        </p:nvSpPr>
        <p:spPr>
          <a:xfrm>
            <a:off x="274320" y="749808"/>
            <a:ext cx="54864" cy="18288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4"/>
          <p:cNvSpPr/>
          <p:nvPr/>
        </p:nvSpPr>
        <p:spPr>
          <a:xfrm>
            <a:off x="438912" y="914400"/>
            <a:ext cx="3264408" cy="4754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1100"/>
              <a:buFont typeface="Calibri"/>
              <a:buNone/>
            </a:pPr>
            <a:r>
              <a:rPr b="1" i="0" lang="en-US" u="none" cap="none" strike="noStrike">
                <a:solidFill>
                  <a:srgbClr val="1B3A5C"/>
                </a:solidFill>
                <a:latin typeface="Calibri"/>
                <a:ea typeface="Calibri"/>
                <a:cs typeface="Calibri"/>
                <a:sym typeface="Calibri"/>
              </a:rPr>
              <a:t>Deterministic first, AI-augmented where necessary</a:t>
            </a:r>
            <a:endParaRPr b="0" i="0" u="none" cap="none" strike="noStrike">
              <a:solidFill>
                <a:schemeClr val="dk1"/>
              </a:solidFill>
              <a:latin typeface="Calibri"/>
              <a:ea typeface="Calibri"/>
              <a:cs typeface="Calibri"/>
              <a:sym typeface="Calibri"/>
            </a:endParaRPr>
          </a:p>
        </p:txBody>
      </p:sp>
      <p:cxnSp>
        <p:nvCxnSpPr>
          <p:cNvPr id="525" name="Google Shape;525;p14"/>
          <p:cNvCxnSpPr/>
          <p:nvPr/>
        </p:nvCxnSpPr>
        <p:spPr>
          <a:xfrm>
            <a:off x="438912" y="1481328"/>
            <a:ext cx="3831336" cy="0"/>
          </a:xfrm>
          <a:prstGeom prst="straightConnector1">
            <a:avLst/>
          </a:prstGeom>
          <a:noFill/>
          <a:ln cap="flat" cmpd="sng" w="9525">
            <a:solidFill>
              <a:srgbClr val="D8DFE8"/>
            </a:solidFill>
            <a:prstDash val="solid"/>
            <a:round/>
            <a:headEnd len="sm" w="sm" type="none"/>
            <a:tailEnd len="sm" w="sm" type="none"/>
          </a:ln>
        </p:spPr>
      </p:cxnSp>
      <p:sp>
        <p:nvSpPr>
          <p:cNvPr id="526" name="Google Shape;526;p14"/>
          <p:cNvSpPr/>
          <p:nvPr/>
        </p:nvSpPr>
        <p:spPr>
          <a:xfrm>
            <a:off x="438912" y="1572768"/>
            <a:ext cx="3831336" cy="8595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900"/>
              <a:buFont typeface="Calibri"/>
              <a:buNone/>
            </a:pPr>
            <a:r>
              <a:rPr b="0" i="0" lang="en-US" sz="900" u="none" cap="none" strike="noStrike">
                <a:solidFill>
                  <a:srgbClr val="2E3A47"/>
                </a:solidFill>
                <a:latin typeface="Calibri"/>
                <a:ea typeface="Calibri"/>
                <a:cs typeface="Calibri"/>
                <a:sym typeface="Calibri"/>
              </a:rPr>
              <a:t>Core demand logic is based on structured, event-driven calculations. AI is applied selectively where it adds value (e.g., signal extraction, anomaly detection), ensuring early reliability and long-term extensibility.</a:t>
            </a:r>
            <a:endParaRPr b="0" i="0" sz="900" u="none" cap="none" strike="noStrike">
              <a:solidFill>
                <a:schemeClr val="dk1"/>
              </a:solidFill>
              <a:latin typeface="Calibri"/>
              <a:ea typeface="Calibri"/>
              <a:cs typeface="Calibri"/>
              <a:sym typeface="Calibri"/>
            </a:endParaRPr>
          </a:p>
        </p:txBody>
      </p:sp>
      <p:sp>
        <p:nvSpPr>
          <p:cNvPr id="527" name="Google Shape;527;p14"/>
          <p:cNvSpPr/>
          <p:nvPr/>
        </p:nvSpPr>
        <p:spPr>
          <a:xfrm>
            <a:off x="4709160" y="749808"/>
            <a:ext cx="4160520" cy="1828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4"/>
          <p:cNvSpPr/>
          <p:nvPr/>
        </p:nvSpPr>
        <p:spPr>
          <a:xfrm>
            <a:off x="8138160" y="841248"/>
            <a:ext cx="594360" cy="5943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EEF1F5"/>
              </a:buClr>
              <a:buSzPts val="5200"/>
              <a:buFont typeface="Calibri"/>
              <a:buNone/>
            </a:pPr>
            <a:r>
              <a:rPr b="1" i="0" lang="en-US" sz="5200" u="none" cap="none" strike="noStrike">
                <a:solidFill>
                  <a:srgbClr val="EEF1F5"/>
                </a:solidFill>
                <a:latin typeface="Calibri"/>
                <a:ea typeface="Calibri"/>
                <a:cs typeface="Calibri"/>
                <a:sym typeface="Calibri"/>
              </a:rPr>
              <a:t>2</a:t>
            </a:r>
            <a:endParaRPr b="0" i="0" sz="5200" u="none" cap="none" strike="noStrike">
              <a:solidFill>
                <a:schemeClr val="dk1"/>
              </a:solidFill>
              <a:latin typeface="Calibri"/>
              <a:ea typeface="Calibri"/>
              <a:cs typeface="Calibri"/>
              <a:sym typeface="Calibri"/>
            </a:endParaRPr>
          </a:p>
        </p:txBody>
      </p:sp>
      <p:sp>
        <p:nvSpPr>
          <p:cNvPr id="529" name="Google Shape;529;p14"/>
          <p:cNvSpPr/>
          <p:nvPr/>
        </p:nvSpPr>
        <p:spPr>
          <a:xfrm>
            <a:off x="4709160" y="749808"/>
            <a:ext cx="54864" cy="18288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4873752" y="914400"/>
            <a:ext cx="3264408" cy="4754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1100"/>
              <a:buFont typeface="Calibri"/>
              <a:buNone/>
            </a:pPr>
            <a:r>
              <a:rPr b="1" i="0" lang="en-US" u="none" cap="none" strike="noStrike">
                <a:solidFill>
                  <a:srgbClr val="1B3A5C"/>
                </a:solidFill>
                <a:latin typeface="Calibri"/>
                <a:ea typeface="Calibri"/>
                <a:cs typeface="Calibri"/>
                <a:sym typeface="Calibri"/>
              </a:rPr>
              <a:t>Explainable outputs with signal-level reasoning</a:t>
            </a:r>
            <a:endParaRPr b="0" i="0" u="none" cap="none" strike="noStrike">
              <a:solidFill>
                <a:schemeClr val="dk1"/>
              </a:solidFill>
              <a:latin typeface="Calibri"/>
              <a:ea typeface="Calibri"/>
              <a:cs typeface="Calibri"/>
              <a:sym typeface="Calibri"/>
            </a:endParaRPr>
          </a:p>
        </p:txBody>
      </p:sp>
      <p:cxnSp>
        <p:nvCxnSpPr>
          <p:cNvPr id="531" name="Google Shape;531;p14"/>
          <p:cNvCxnSpPr/>
          <p:nvPr/>
        </p:nvCxnSpPr>
        <p:spPr>
          <a:xfrm>
            <a:off x="4873752" y="1481328"/>
            <a:ext cx="3831336" cy="0"/>
          </a:xfrm>
          <a:prstGeom prst="straightConnector1">
            <a:avLst/>
          </a:prstGeom>
          <a:noFill/>
          <a:ln cap="flat" cmpd="sng" w="9525">
            <a:solidFill>
              <a:srgbClr val="D8DFE8"/>
            </a:solidFill>
            <a:prstDash val="solid"/>
            <a:round/>
            <a:headEnd len="sm" w="sm" type="none"/>
            <a:tailEnd len="sm" w="sm" type="none"/>
          </a:ln>
        </p:spPr>
      </p:cxnSp>
      <p:sp>
        <p:nvSpPr>
          <p:cNvPr id="532" name="Google Shape;532;p14"/>
          <p:cNvSpPr/>
          <p:nvPr/>
        </p:nvSpPr>
        <p:spPr>
          <a:xfrm>
            <a:off x="4873752" y="1572768"/>
            <a:ext cx="3831336" cy="8595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900"/>
              <a:buFont typeface="Calibri"/>
              <a:buNone/>
            </a:pPr>
            <a:r>
              <a:rPr b="0" i="0" lang="en-US" sz="900" u="none" cap="none" strike="noStrike">
                <a:solidFill>
                  <a:srgbClr val="2E3A47"/>
                </a:solidFill>
                <a:latin typeface="Calibri"/>
                <a:ea typeface="Calibri"/>
                <a:cs typeface="Calibri"/>
                <a:sym typeface="Calibri"/>
              </a:rPr>
              <a:t>Every recommendation is supported by a transparent chain of signals (e.g., tail-level demand drivers, compliance deadlines, lead times). Planners evaluate reasoning, not opaque model outputs.</a:t>
            </a:r>
            <a:endParaRPr b="0" i="0" sz="900" u="none" cap="none" strike="noStrike">
              <a:solidFill>
                <a:schemeClr val="dk1"/>
              </a:solidFill>
              <a:latin typeface="Calibri"/>
              <a:ea typeface="Calibri"/>
              <a:cs typeface="Calibri"/>
              <a:sym typeface="Calibri"/>
            </a:endParaRPr>
          </a:p>
        </p:txBody>
      </p:sp>
      <p:sp>
        <p:nvSpPr>
          <p:cNvPr id="533" name="Google Shape;533;p14"/>
          <p:cNvSpPr/>
          <p:nvPr/>
        </p:nvSpPr>
        <p:spPr>
          <a:xfrm>
            <a:off x="274320" y="2724912"/>
            <a:ext cx="4160520" cy="1828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3703320" y="2816352"/>
            <a:ext cx="594360" cy="5943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EEF1F5"/>
              </a:buClr>
              <a:buSzPts val="5200"/>
              <a:buFont typeface="Calibri"/>
              <a:buNone/>
            </a:pPr>
            <a:r>
              <a:rPr b="1" i="0" lang="en-US" sz="5200" u="none" cap="none" strike="noStrike">
                <a:solidFill>
                  <a:srgbClr val="EEF1F5"/>
                </a:solidFill>
                <a:latin typeface="Calibri"/>
                <a:ea typeface="Calibri"/>
                <a:cs typeface="Calibri"/>
                <a:sym typeface="Calibri"/>
              </a:rPr>
              <a:t>3</a:t>
            </a:r>
            <a:endParaRPr b="0" i="0" sz="5200" u="none" cap="none" strike="noStrike">
              <a:solidFill>
                <a:schemeClr val="dk1"/>
              </a:solidFill>
              <a:latin typeface="Calibri"/>
              <a:ea typeface="Calibri"/>
              <a:cs typeface="Calibri"/>
              <a:sym typeface="Calibri"/>
            </a:endParaRPr>
          </a:p>
        </p:txBody>
      </p:sp>
      <p:sp>
        <p:nvSpPr>
          <p:cNvPr id="535" name="Google Shape;535;p14"/>
          <p:cNvSpPr/>
          <p:nvPr/>
        </p:nvSpPr>
        <p:spPr>
          <a:xfrm>
            <a:off x="274320" y="2724912"/>
            <a:ext cx="54864" cy="18288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4"/>
          <p:cNvSpPr/>
          <p:nvPr/>
        </p:nvSpPr>
        <p:spPr>
          <a:xfrm>
            <a:off x="438912" y="2889504"/>
            <a:ext cx="3264408" cy="4754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1100"/>
              <a:buFont typeface="Calibri"/>
              <a:buNone/>
            </a:pPr>
            <a:r>
              <a:rPr b="1" i="0" lang="en-US" u="none" cap="none" strike="noStrike">
                <a:solidFill>
                  <a:srgbClr val="1B3A5C"/>
                </a:solidFill>
                <a:latin typeface="Calibri"/>
                <a:ea typeface="Calibri"/>
                <a:cs typeface="Calibri"/>
                <a:sym typeface="Calibri"/>
              </a:rPr>
              <a:t>Human-in-the-loop decision making with full auditability</a:t>
            </a:r>
            <a:endParaRPr b="0" i="0" u="none" cap="none" strike="noStrike">
              <a:solidFill>
                <a:schemeClr val="dk1"/>
              </a:solidFill>
              <a:latin typeface="Calibri"/>
              <a:ea typeface="Calibri"/>
              <a:cs typeface="Calibri"/>
              <a:sym typeface="Calibri"/>
            </a:endParaRPr>
          </a:p>
        </p:txBody>
      </p:sp>
      <p:cxnSp>
        <p:nvCxnSpPr>
          <p:cNvPr id="537" name="Google Shape;537;p14"/>
          <p:cNvCxnSpPr/>
          <p:nvPr/>
        </p:nvCxnSpPr>
        <p:spPr>
          <a:xfrm>
            <a:off x="438912" y="3456432"/>
            <a:ext cx="3831336" cy="0"/>
          </a:xfrm>
          <a:prstGeom prst="straightConnector1">
            <a:avLst/>
          </a:prstGeom>
          <a:noFill/>
          <a:ln cap="flat" cmpd="sng" w="9525">
            <a:solidFill>
              <a:srgbClr val="D8DFE8"/>
            </a:solidFill>
            <a:prstDash val="solid"/>
            <a:round/>
            <a:headEnd len="sm" w="sm" type="none"/>
            <a:tailEnd len="sm" w="sm" type="none"/>
          </a:ln>
        </p:spPr>
      </p:cxnSp>
      <p:sp>
        <p:nvSpPr>
          <p:cNvPr id="538" name="Google Shape;538;p14"/>
          <p:cNvSpPr/>
          <p:nvPr/>
        </p:nvSpPr>
        <p:spPr>
          <a:xfrm>
            <a:off x="438912" y="3547872"/>
            <a:ext cx="3831336" cy="8595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900"/>
              <a:buFont typeface="Calibri"/>
              <a:buNone/>
            </a:pPr>
            <a:r>
              <a:rPr b="0" i="0" lang="en-US" sz="900" u="none" cap="none" strike="noStrike">
                <a:solidFill>
                  <a:srgbClr val="2E3A47"/>
                </a:solidFill>
                <a:latin typeface="Calibri"/>
                <a:ea typeface="Calibri"/>
                <a:cs typeface="Calibri"/>
                <a:sym typeface="Calibri"/>
              </a:rPr>
              <a:t>Planners approve, override, or escalate all recommendations. Each decision is logged with structured rationale, enabling traceability and accountability across the planning process.</a:t>
            </a:r>
            <a:endParaRPr b="0" i="0" sz="900" u="none" cap="none" strike="noStrike">
              <a:solidFill>
                <a:schemeClr val="dk1"/>
              </a:solidFill>
              <a:latin typeface="Calibri"/>
              <a:ea typeface="Calibri"/>
              <a:cs typeface="Calibri"/>
              <a:sym typeface="Calibri"/>
            </a:endParaRPr>
          </a:p>
        </p:txBody>
      </p:sp>
      <p:sp>
        <p:nvSpPr>
          <p:cNvPr id="539" name="Google Shape;539;p14"/>
          <p:cNvSpPr/>
          <p:nvPr/>
        </p:nvSpPr>
        <p:spPr>
          <a:xfrm>
            <a:off x="4709160" y="2724912"/>
            <a:ext cx="4160520" cy="1828800"/>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8138160" y="2816352"/>
            <a:ext cx="594360" cy="5943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EEF1F5"/>
              </a:buClr>
              <a:buSzPts val="5200"/>
              <a:buFont typeface="Calibri"/>
              <a:buNone/>
            </a:pPr>
            <a:r>
              <a:rPr b="1" i="0" lang="en-US" sz="5200" u="none" cap="none" strike="noStrike">
                <a:solidFill>
                  <a:srgbClr val="EEF1F5"/>
                </a:solidFill>
                <a:latin typeface="Calibri"/>
                <a:ea typeface="Calibri"/>
                <a:cs typeface="Calibri"/>
                <a:sym typeface="Calibri"/>
              </a:rPr>
              <a:t>4</a:t>
            </a:r>
            <a:endParaRPr b="0" i="0" sz="5200" u="none" cap="none" strike="noStrike">
              <a:solidFill>
                <a:schemeClr val="dk1"/>
              </a:solidFill>
              <a:latin typeface="Calibri"/>
              <a:ea typeface="Calibri"/>
              <a:cs typeface="Calibri"/>
              <a:sym typeface="Calibri"/>
            </a:endParaRPr>
          </a:p>
        </p:txBody>
      </p:sp>
      <p:sp>
        <p:nvSpPr>
          <p:cNvPr id="541" name="Google Shape;541;p14"/>
          <p:cNvSpPr/>
          <p:nvPr/>
        </p:nvSpPr>
        <p:spPr>
          <a:xfrm>
            <a:off x="4709160" y="2724912"/>
            <a:ext cx="54864" cy="18288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4"/>
          <p:cNvSpPr/>
          <p:nvPr/>
        </p:nvSpPr>
        <p:spPr>
          <a:xfrm>
            <a:off x="4873752" y="2889504"/>
            <a:ext cx="3264408" cy="4754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3A5C"/>
              </a:buClr>
              <a:buSzPts val="1100"/>
              <a:buFont typeface="Calibri"/>
              <a:buNone/>
            </a:pPr>
            <a:r>
              <a:rPr b="1" i="0" lang="en-US" u="none" cap="none" strike="noStrike">
                <a:solidFill>
                  <a:srgbClr val="1B3A5C"/>
                </a:solidFill>
                <a:latin typeface="Calibri"/>
                <a:ea typeface="Calibri"/>
                <a:cs typeface="Calibri"/>
                <a:sym typeface="Calibri"/>
              </a:rPr>
              <a:t>Continuous learning from overrides and actual outcomes</a:t>
            </a:r>
            <a:endParaRPr b="0" i="0" u="none" cap="none" strike="noStrike">
              <a:solidFill>
                <a:schemeClr val="dk1"/>
              </a:solidFill>
              <a:latin typeface="Calibri"/>
              <a:ea typeface="Calibri"/>
              <a:cs typeface="Calibri"/>
              <a:sym typeface="Calibri"/>
            </a:endParaRPr>
          </a:p>
        </p:txBody>
      </p:sp>
      <p:cxnSp>
        <p:nvCxnSpPr>
          <p:cNvPr id="543" name="Google Shape;543;p14"/>
          <p:cNvCxnSpPr/>
          <p:nvPr/>
        </p:nvCxnSpPr>
        <p:spPr>
          <a:xfrm>
            <a:off x="4873752" y="3456432"/>
            <a:ext cx="3831336" cy="0"/>
          </a:xfrm>
          <a:prstGeom prst="straightConnector1">
            <a:avLst/>
          </a:prstGeom>
          <a:noFill/>
          <a:ln cap="flat" cmpd="sng" w="9525">
            <a:solidFill>
              <a:srgbClr val="D8DFE8"/>
            </a:solidFill>
            <a:prstDash val="solid"/>
            <a:round/>
            <a:headEnd len="sm" w="sm" type="none"/>
            <a:tailEnd len="sm" w="sm" type="none"/>
          </a:ln>
        </p:spPr>
      </p:cxnSp>
      <p:sp>
        <p:nvSpPr>
          <p:cNvPr id="544" name="Google Shape;544;p14"/>
          <p:cNvSpPr/>
          <p:nvPr/>
        </p:nvSpPr>
        <p:spPr>
          <a:xfrm>
            <a:off x="4873752" y="3547872"/>
            <a:ext cx="3831336" cy="8595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E3A47"/>
              </a:buClr>
              <a:buSzPts val="900"/>
              <a:buFont typeface="Calibri"/>
              <a:buNone/>
            </a:pPr>
            <a:r>
              <a:rPr b="0" i="0" lang="en-US" sz="900" u="none" cap="none" strike="noStrike">
                <a:solidFill>
                  <a:srgbClr val="2E3A47"/>
                </a:solidFill>
                <a:latin typeface="Calibri"/>
                <a:ea typeface="Calibri"/>
                <a:cs typeface="Calibri"/>
                <a:sym typeface="Calibri"/>
              </a:rPr>
              <a:t>Planner feedback and forecast-to-actual outcomes are captured as training signals. The system improves over time by learning from real-world decisions and their results.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49" name="Shape 549"/>
        <p:cNvGrpSpPr/>
        <p:nvPr/>
      </p:nvGrpSpPr>
      <p:grpSpPr>
        <a:xfrm>
          <a:off x="0" y="0"/>
          <a:ext cx="0" cy="0"/>
          <a:chOff x="0" y="0"/>
          <a:chExt cx="0" cy="0"/>
        </a:xfrm>
      </p:grpSpPr>
      <p:sp>
        <p:nvSpPr>
          <p:cNvPr id="550" name="Google Shape;550;p15"/>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5"/>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5"/>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Roadmap &amp; Prioritization</a:t>
            </a:r>
            <a:endParaRPr b="0" i="0" sz="2000" u="none" cap="none" strike="noStrike">
              <a:solidFill>
                <a:schemeClr val="dk1"/>
              </a:solidFill>
              <a:latin typeface="Calibri"/>
              <a:ea typeface="Calibri"/>
              <a:cs typeface="Calibri"/>
              <a:sym typeface="Calibri"/>
            </a:endParaRPr>
          </a:p>
        </p:txBody>
      </p:sp>
      <p:sp>
        <p:nvSpPr>
          <p:cNvPr id="553" name="Google Shape;553;p15"/>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5"/>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555" name="Google Shape;555;p15"/>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13</a:t>
            </a:r>
            <a:endParaRPr b="0" i="0" sz="750" u="none" cap="none" strike="noStrike">
              <a:solidFill>
                <a:schemeClr val="dk1"/>
              </a:solidFill>
              <a:latin typeface="Calibri"/>
              <a:ea typeface="Calibri"/>
              <a:cs typeface="Calibri"/>
              <a:sym typeface="Calibri"/>
            </a:endParaRPr>
          </a:p>
        </p:txBody>
      </p:sp>
      <p:sp>
        <p:nvSpPr>
          <p:cNvPr id="556" name="Google Shape;556;p15"/>
          <p:cNvSpPr/>
          <p:nvPr/>
        </p:nvSpPr>
        <p:spPr>
          <a:xfrm>
            <a:off x="274320" y="713232"/>
            <a:ext cx="85953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8D"/>
              </a:buClr>
              <a:buSzPts val="880"/>
              <a:buFont typeface="Calibri"/>
              <a:buNone/>
            </a:pPr>
            <a:r>
              <a:rPr b="0" i="1" lang="en-US" sz="880" u="none" cap="none" strike="noStrike">
                <a:solidFill>
                  <a:srgbClr val="6B7A8D"/>
                </a:solidFill>
                <a:latin typeface="Calibri"/>
                <a:ea typeface="Calibri"/>
                <a:cs typeface="Calibri"/>
                <a:sym typeface="Calibri"/>
              </a:rPr>
              <a:t>Prioritization follows a phased approach grounded in two core dimensions: immediate operational value for planning teams and long-term platform leverage through data accumulation and learning loops.</a:t>
            </a:r>
            <a:endParaRPr b="0" i="0" sz="880" u="none" cap="none" strike="noStrike">
              <a:solidFill>
                <a:schemeClr val="dk1"/>
              </a:solidFill>
              <a:latin typeface="Calibri"/>
              <a:ea typeface="Calibri"/>
              <a:cs typeface="Calibri"/>
              <a:sym typeface="Calibri"/>
            </a:endParaRPr>
          </a:p>
        </p:txBody>
      </p:sp>
      <p:sp>
        <p:nvSpPr>
          <p:cNvPr id="557" name="Google Shape;557;p15"/>
          <p:cNvSpPr/>
          <p:nvPr/>
        </p:nvSpPr>
        <p:spPr>
          <a:xfrm>
            <a:off x="274320" y="1042416"/>
            <a:ext cx="1828800" cy="329184"/>
          </a:xfrm>
          <a:prstGeom prst="rect">
            <a:avLst/>
          </a:prstGeom>
          <a:solidFill>
            <a:srgbClr val="1B3A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347472" y="1042416"/>
            <a:ext cx="171907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Phase 1</a:t>
            </a:r>
            <a:br>
              <a:rPr b="1" i="0" lang="en-US" sz="900" u="none" cap="none" strike="noStrike">
                <a:solidFill>
                  <a:srgbClr val="FFFF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Signal Foundation &amp; Trust</a:t>
            </a:r>
            <a:br>
              <a:rPr b="0" i="0" lang="en-US" sz="750" u="none" cap="none" strike="noStrike">
                <a:solidFill>
                  <a:srgbClr val="FFFF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C4DC"/>
              </a:buClr>
              <a:buSzPts val="700"/>
              <a:buFont typeface="Calibri"/>
              <a:buNone/>
            </a:pPr>
            <a:r>
              <a:rPr b="0" i="0" lang="en-US" sz="700" u="none" cap="none" strike="noStrike">
                <a:solidFill>
                  <a:srgbClr val="A8C4DC"/>
                </a:solidFill>
                <a:latin typeface="Calibri"/>
                <a:ea typeface="Calibri"/>
                <a:cs typeface="Calibri"/>
                <a:sym typeface="Calibri"/>
              </a:rPr>
              <a:t>0-6 months</a:t>
            </a:r>
            <a:endParaRPr b="0" i="0" sz="900" u="none" cap="none" strike="noStrike">
              <a:solidFill>
                <a:schemeClr val="dk1"/>
              </a:solidFill>
              <a:latin typeface="Calibri"/>
              <a:ea typeface="Calibri"/>
              <a:cs typeface="Calibri"/>
              <a:sym typeface="Calibri"/>
            </a:endParaRPr>
          </a:p>
        </p:txBody>
      </p:sp>
      <p:sp>
        <p:nvSpPr>
          <p:cNvPr id="559" name="Google Shape;559;p15"/>
          <p:cNvSpPr/>
          <p:nvPr/>
        </p:nvSpPr>
        <p:spPr>
          <a:xfrm>
            <a:off x="2148840" y="1042416"/>
            <a:ext cx="2103120" cy="329184"/>
          </a:xfrm>
          <a:prstGeom prst="rect">
            <a:avLst/>
          </a:prstGeom>
          <a:solidFill>
            <a:srgbClr val="2E6DA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2221992" y="1042416"/>
            <a:ext cx="199339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Phase 2</a:t>
            </a:r>
            <a:br>
              <a:rPr b="1" i="0" lang="en-US" sz="900" u="none" cap="none" strike="noStrike">
                <a:solidFill>
                  <a:srgbClr val="FFFF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AI Sensing &amp; Learning</a:t>
            </a:r>
            <a:br>
              <a:rPr b="0" i="0" lang="en-US" sz="750" u="none" cap="none" strike="noStrike">
                <a:solidFill>
                  <a:srgbClr val="FFFF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C4DC"/>
              </a:buClr>
              <a:buSzPts val="700"/>
              <a:buFont typeface="Calibri"/>
              <a:buNone/>
            </a:pPr>
            <a:r>
              <a:rPr b="0" i="0" lang="en-US" sz="700" u="none" cap="none" strike="noStrike">
                <a:solidFill>
                  <a:srgbClr val="A8C4DC"/>
                </a:solidFill>
                <a:latin typeface="Calibri"/>
                <a:ea typeface="Calibri"/>
                <a:cs typeface="Calibri"/>
                <a:sym typeface="Calibri"/>
              </a:rPr>
              <a:t>6-12 months</a:t>
            </a:r>
            <a:endParaRPr b="0" i="0" sz="900" u="none" cap="none" strike="noStrike">
              <a:solidFill>
                <a:schemeClr val="dk1"/>
              </a:solidFill>
              <a:latin typeface="Calibri"/>
              <a:ea typeface="Calibri"/>
              <a:cs typeface="Calibri"/>
              <a:sym typeface="Calibri"/>
            </a:endParaRPr>
          </a:p>
        </p:txBody>
      </p:sp>
      <p:sp>
        <p:nvSpPr>
          <p:cNvPr id="561" name="Google Shape;561;p15"/>
          <p:cNvSpPr/>
          <p:nvPr/>
        </p:nvSpPr>
        <p:spPr>
          <a:xfrm>
            <a:off x="4297680" y="1042416"/>
            <a:ext cx="2103120" cy="329184"/>
          </a:xfrm>
          <a:prstGeom prst="rect">
            <a:avLst/>
          </a:prstGeom>
          <a:solidFill>
            <a:srgbClr val="3D5C6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5"/>
          <p:cNvSpPr/>
          <p:nvPr/>
        </p:nvSpPr>
        <p:spPr>
          <a:xfrm>
            <a:off x="4370832" y="1042416"/>
            <a:ext cx="199339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Phase 3</a:t>
            </a:r>
            <a:br>
              <a:rPr b="1" i="0" lang="en-US" sz="900" u="none" cap="none" strike="noStrike">
                <a:solidFill>
                  <a:srgbClr val="FFFF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Supply Matching &amp; Risk</a:t>
            </a:r>
            <a:br>
              <a:rPr b="0" i="0" lang="en-US" sz="750" u="none" cap="none" strike="noStrike">
                <a:solidFill>
                  <a:srgbClr val="FFFF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C4DC"/>
              </a:buClr>
              <a:buSzPts val="700"/>
              <a:buFont typeface="Calibri"/>
              <a:buNone/>
            </a:pPr>
            <a:r>
              <a:rPr b="0" i="0" lang="en-US" sz="700" u="none" cap="none" strike="noStrike">
                <a:solidFill>
                  <a:srgbClr val="A8C4DC"/>
                </a:solidFill>
                <a:latin typeface="Calibri"/>
                <a:ea typeface="Calibri"/>
                <a:cs typeface="Calibri"/>
                <a:sym typeface="Calibri"/>
              </a:rPr>
              <a:t>12-18 months</a:t>
            </a:r>
            <a:endParaRPr b="0" i="0" sz="900" u="none" cap="none" strike="noStrike">
              <a:solidFill>
                <a:schemeClr val="dk1"/>
              </a:solidFill>
              <a:latin typeface="Calibri"/>
              <a:ea typeface="Calibri"/>
              <a:cs typeface="Calibri"/>
              <a:sym typeface="Calibri"/>
            </a:endParaRPr>
          </a:p>
        </p:txBody>
      </p:sp>
      <p:sp>
        <p:nvSpPr>
          <p:cNvPr id="563" name="Google Shape;563;p15"/>
          <p:cNvSpPr/>
          <p:nvPr/>
        </p:nvSpPr>
        <p:spPr>
          <a:xfrm>
            <a:off x="6446520" y="1042416"/>
            <a:ext cx="2423160" cy="329184"/>
          </a:xfrm>
          <a:prstGeom prst="rect">
            <a:avLst/>
          </a:prstGeom>
          <a:solidFill>
            <a:srgbClr val="4A674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6519672" y="1042416"/>
            <a:ext cx="231343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Phase 4</a:t>
            </a:r>
            <a:br>
              <a:rPr b="1" i="0" lang="en-US" sz="900" u="none" cap="none" strike="noStrike">
                <a:solidFill>
                  <a:srgbClr val="FFFF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Agentic Planning &amp; Autonomy</a:t>
            </a:r>
            <a:br>
              <a:rPr b="0" i="0" lang="en-US" sz="750" u="none" cap="none" strike="noStrike">
                <a:solidFill>
                  <a:srgbClr val="FFFF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C4DC"/>
              </a:buClr>
              <a:buSzPts val="700"/>
              <a:buFont typeface="Calibri"/>
              <a:buNone/>
            </a:pPr>
            <a:r>
              <a:rPr b="0" i="0" lang="en-US" sz="700" u="none" cap="none" strike="noStrike">
                <a:solidFill>
                  <a:srgbClr val="A8C4DC"/>
                </a:solidFill>
                <a:latin typeface="Calibri"/>
                <a:ea typeface="Calibri"/>
                <a:cs typeface="Calibri"/>
                <a:sym typeface="Calibri"/>
              </a:rPr>
              <a:t>18-24 months</a:t>
            </a:r>
            <a:endParaRPr b="0" i="0" sz="900" u="none" cap="none" strike="noStrike">
              <a:solidFill>
                <a:schemeClr val="dk1"/>
              </a:solidFill>
              <a:latin typeface="Calibri"/>
              <a:ea typeface="Calibri"/>
              <a:cs typeface="Calibri"/>
              <a:sym typeface="Calibri"/>
            </a:endParaRPr>
          </a:p>
        </p:txBody>
      </p:sp>
      <p:sp>
        <p:nvSpPr>
          <p:cNvPr id="565" name="Google Shape;565;p15"/>
          <p:cNvSpPr/>
          <p:nvPr/>
        </p:nvSpPr>
        <p:spPr>
          <a:xfrm>
            <a:off x="0" y="1371600"/>
            <a:ext cx="256032" cy="118872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rot="-5400000">
            <a:off x="0" y="1371600"/>
            <a:ext cx="256032"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Key Capabilities</a:t>
            </a:r>
            <a:endParaRPr b="0" i="0" sz="650" u="none" cap="none" strike="noStrike">
              <a:solidFill>
                <a:schemeClr val="dk1"/>
              </a:solidFill>
              <a:latin typeface="Calibri"/>
              <a:ea typeface="Calibri"/>
              <a:cs typeface="Calibri"/>
              <a:sym typeface="Calibri"/>
            </a:endParaRPr>
          </a:p>
        </p:txBody>
      </p:sp>
      <p:sp>
        <p:nvSpPr>
          <p:cNvPr id="567" name="Google Shape;567;p15"/>
          <p:cNvSpPr/>
          <p:nvPr/>
        </p:nvSpPr>
        <p:spPr>
          <a:xfrm>
            <a:off x="274320" y="1371600"/>
            <a:ext cx="1828800" cy="118872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365760" y="1426464"/>
            <a:ext cx="1682496" cy="10972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Signal ingestion (ERP, schedules, ADs), event-driven demand baseline (part x tail), demand review UX, recommendation explanations, audit trail and override capture</a:t>
            </a:r>
            <a:endParaRPr b="0" i="0" sz="750" u="none" cap="none" strike="noStrike">
              <a:solidFill>
                <a:schemeClr val="dk1"/>
              </a:solidFill>
              <a:latin typeface="Calibri"/>
              <a:ea typeface="Calibri"/>
              <a:cs typeface="Calibri"/>
              <a:sym typeface="Calibri"/>
            </a:endParaRPr>
          </a:p>
        </p:txBody>
      </p:sp>
      <p:sp>
        <p:nvSpPr>
          <p:cNvPr id="569" name="Google Shape;569;p15"/>
          <p:cNvSpPr/>
          <p:nvPr/>
        </p:nvSpPr>
        <p:spPr>
          <a:xfrm>
            <a:off x="2148840" y="1371600"/>
            <a:ext cx="2103120" cy="118872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5"/>
          <p:cNvSpPr/>
          <p:nvPr/>
        </p:nvSpPr>
        <p:spPr>
          <a:xfrm>
            <a:off x="2240280" y="1426464"/>
            <a:ext cx="1956816" cy="10972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ML models trained on overrides and actuals, anomaly detection, confidence ranges, FVA tracking, bias analytics</a:t>
            </a:r>
            <a:endParaRPr b="0" i="0" sz="750" u="none" cap="none" strike="noStrike">
              <a:solidFill>
                <a:schemeClr val="dk1"/>
              </a:solidFill>
              <a:latin typeface="Calibri"/>
              <a:ea typeface="Calibri"/>
              <a:cs typeface="Calibri"/>
              <a:sym typeface="Calibri"/>
            </a:endParaRPr>
          </a:p>
        </p:txBody>
      </p:sp>
      <p:sp>
        <p:nvSpPr>
          <p:cNvPr id="571" name="Google Shape;571;p15"/>
          <p:cNvSpPr/>
          <p:nvPr/>
        </p:nvSpPr>
        <p:spPr>
          <a:xfrm>
            <a:off x="4297680" y="1371600"/>
            <a:ext cx="2103120" cy="118872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5"/>
          <p:cNvSpPr/>
          <p:nvPr/>
        </p:nvSpPr>
        <p:spPr>
          <a:xfrm>
            <a:off x="4389120" y="1426464"/>
            <a:ext cx="1956816" cy="10972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Demand-supply matching engine, serialized inventory mapping, AOG risk scoring per tail, repositioning recommendations, S&amp;OP package generation</a:t>
            </a:r>
            <a:endParaRPr b="0" i="0" sz="750" u="none" cap="none" strike="noStrike">
              <a:solidFill>
                <a:schemeClr val="dk1"/>
              </a:solidFill>
              <a:latin typeface="Calibri"/>
              <a:ea typeface="Calibri"/>
              <a:cs typeface="Calibri"/>
              <a:sym typeface="Calibri"/>
            </a:endParaRPr>
          </a:p>
        </p:txBody>
      </p:sp>
      <p:sp>
        <p:nvSpPr>
          <p:cNvPr id="573" name="Google Shape;573;p15"/>
          <p:cNvSpPr/>
          <p:nvPr/>
        </p:nvSpPr>
        <p:spPr>
          <a:xfrm>
            <a:off x="6446520" y="1371600"/>
            <a:ext cx="2423160" cy="118872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p:nvPr/>
        </p:nvSpPr>
        <p:spPr>
          <a:xfrm>
            <a:off x="6537960" y="1426464"/>
            <a:ext cx="2276856" cy="10972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Autonomous agents for demand updates and risk monitoring, planner supervision controls, continuous planning loop, incremental autonomy based on performance</a:t>
            </a:r>
            <a:endParaRPr b="0" i="0" sz="750" u="none" cap="none" strike="noStrike">
              <a:solidFill>
                <a:schemeClr val="dk1"/>
              </a:solidFill>
              <a:latin typeface="Calibri"/>
              <a:ea typeface="Calibri"/>
              <a:cs typeface="Calibri"/>
              <a:sym typeface="Calibri"/>
            </a:endParaRPr>
          </a:p>
        </p:txBody>
      </p:sp>
      <p:sp>
        <p:nvSpPr>
          <p:cNvPr id="575" name="Google Shape;575;p15"/>
          <p:cNvSpPr/>
          <p:nvPr/>
        </p:nvSpPr>
        <p:spPr>
          <a:xfrm>
            <a:off x="0" y="2560320"/>
            <a:ext cx="256032" cy="56692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5"/>
          <p:cNvSpPr/>
          <p:nvPr/>
        </p:nvSpPr>
        <p:spPr>
          <a:xfrm rot="-5400000">
            <a:off x="0" y="2560320"/>
            <a:ext cx="25603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Value Delivered</a:t>
            </a:r>
            <a:endParaRPr b="0" i="0" sz="650" u="none" cap="none" strike="noStrike">
              <a:solidFill>
                <a:schemeClr val="dk1"/>
              </a:solidFill>
              <a:latin typeface="Calibri"/>
              <a:ea typeface="Calibri"/>
              <a:cs typeface="Calibri"/>
              <a:sym typeface="Calibri"/>
            </a:endParaRPr>
          </a:p>
        </p:txBody>
      </p:sp>
      <p:sp>
        <p:nvSpPr>
          <p:cNvPr id="577" name="Google Shape;577;p15"/>
          <p:cNvSpPr/>
          <p:nvPr/>
        </p:nvSpPr>
        <p:spPr>
          <a:xfrm>
            <a:off x="274320" y="2560320"/>
            <a:ext cx="1828800" cy="566928"/>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5"/>
          <p:cNvSpPr/>
          <p:nvPr/>
        </p:nvSpPr>
        <p:spPr>
          <a:xfrm>
            <a:off x="365760" y="2615184"/>
            <a:ext cx="1682496"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3A5C"/>
              </a:buClr>
              <a:buSzPts val="750"/>
              <a:buFont typeface="Calibri"/>
              <a:buNone/>
            </a:pPr>
            <a:r>
              <a:rPr b="1" i="0" lang="en-US" sz="750" u="none" cap="none" strike="noStrike">
                <a:solidFill>
                  <a:srgbClr val="1B3A5C"/>
                </a:solidFill>
                <a:latin typeface="Calibri"/>
                <a:ea typeface="Calibri"/>
                <a:cs typeface="Calibri"/>
                <a:sym typeface="Calibri"/>
              </a:rPr>
              <a:t>Immediate improvement in planning cycle time and visibility</a:t>
            </a:r>
            <a:endParaRPr b="0" i="0" sz="750" u="none" cap="none" strike="noStrike">
              <a:solidFill>
                <a:schemeClr val="dk1"/>
              </a:solidFill>
              <a:latin typeface="Calibri"/>
              <a:ea typeface="Calibri"/>
              <a:cs typeface="Calibri"/>
              <a:sym typeface="Calibri"/>
            </a:endParaRPr>
          </a:p>
        </p:txBody>
      </p:sp>
      <p:sp>
        <p:nvSpPr>
          <p:cNvPr id="579" name="Google Shape;579;p15"/>
          <p:cNvSpPr/>
          <p:nvPr/>
        </p:nvSpPr>
        <p:spPr>
          <a:xfrm>
            <a:off x="2148840" y="2560320"/>
            <a:ext cx="2103120" cy="566928"/>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2240280" y="2615184"/>
            <a:ext cx="1956816"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3A5C"/>
              </a:buClr>
              <a:buSzPts val="750"/>
              <a:buFont typeface="Calibri"/>
              <a:buNone/>
            </a:pPr>
            <a:r>
              <a:rPr b="1" i="0" lang="en-US" sz="750" u="none" cap="none" strike="noStrike">
                <a:solidFill>
                  <a:srgbClr val="1B3A5C"/>
                </a:solidFill>
                <a:latin typeface="Calibri"/>
                <a:ea typeface="Calibri"/>
                <a:cs typeface="Calibri"/>
                <a:sym typeface="Calibri"/>
              </a:rPr>
              <a:t>Measurable improvement in forecast accuracy</a:t>
            </a:r>
            <a:endParaRPr b="0" i="0" sz="750" u="none" cap="none" strike="noStrike">
              <a:solidFill>
                <a:schemeClr val="dk1"/>
              </a:solidFill>
              <a:latin typeface="Calibri"/>
              <a:ea typeface="Calibri"/>
              <a:cs typeface="Calibri"/>
              <a:sym typeface="Calibri"/>
            </a:endParaRPr>
          </a:p>
        </p:txBody>
      </p:sp>
      <p:sp>
        <p:nvSpPr>
          <p:cNvPr id="581" name="Google Shape;581;p15"/>
          <p:cNvSpPr/>
          <p:nvPr/>
        </p:nvSpPr>
        <p:spPr>
          <a:xfrm>
            <a:off x="4297680" y="2560320"/>
            <a:ext cx="2103120" cy="566928"/>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4389120" y="2615184"/>
            <a:ext cx="1956816"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3A5C"/>
              </a:buClr>
              <a:buSzPts val="750"/>
              <a:buFont typeface="Calibri"/>
              <a:buNone/>
            </a:pPr>
            <a:r>
              <a:rPr b="1" i="0" lang="en-US" sz="750" u="none" cap="none" strike="noStrike">
                <a:solidFill>
                  <a:srgbClr val="1B3A5C"/>
                </a:solidFill>
                <a:latin typeface="Calibri"/>
                <a:ea typeface="Calibri"/>
                <a:cs typeface="Calibri"/>
                <a:sym typeface="Calibri"/>
              </a:rPr>
              <a:t>Shift from reactive execution to proactive risk management</a:t>
            </a:r>
            <a:endParaRPr b="0" i="0" sz="750" u="none" cap="none" strike="noStrike">
              <a:solidFill>
                <a:schemeClr val="dk1"/>
              </a:solidFill>
              <a:latin typeface="Calibri"/>
              <a:ea typeface="Calibri"/>
              <a:cs typeface="Calibri"/>
              <a:sym typeface="Calibri"/>
            </a:endParaRPr>
          </a:p>
        </p:txBody>
      </p:sp>
      <p:sp>
        <p:nvSpPr>
          <p:cNvPr id="583" name="Google Shape;583;p15"/>
          <p:cNvSpPr/>
          <p:nvPr/>
        </p:nvSpPr>
        <p:spPr>
          <a:xfrm>
            <a:off x="6446520" y="2560320"/>
            <a:ext cx="2423160" cy="566928"/>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5"/>
          <p:cNvSpPr/>
          <p:nvPr/>
        </p:nvSpPr>
        <p:spPr>
          <a:xfrm>
            <a:off x="6537960" y="2615184"/>
            <a:ext cx="2276856"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3A5C"/>
              </a:buClr>
              <a:buSzPts val="750"/>
              <a:buFont typeface="Calibri"/>
              <a:buNone/>
            </a:pPr>
            <a:r>
              <a:rPr b="1" i="0" lang="en-US" sz="750" u="none" cap="none" strike="noStrike">
                <a:solidFill>
                  <a:srgbClr val="1B3A5C"/>
                </a:solidFill>
                <a:latin typeface="Calibri"/>
                <a:ea typeface="Calibri"/>
                <a:cs typeface="Calibri"/>
                <a:sym typeface="Calibri"/>
              </a:rPr>
              <a:t>Significant reduction in manual planning effort</a:t>
            </a:r>
            <a:endParaRPr b="0" i="0" sz="750" u="none" cap="none" strike="noStrike">
              <a:solidFill>
                <a:schemeClr val="dk1"/>
              </a:solidFill>
              <a:latin typeface="Calibri"/>
              <a:ea typeface="Calibri"/>
              <a:cs typeface="Calibri"/>
              <a:sym typeface="Calibri"/>
            </a:endParaRPr>
          </a:p>
        </p:txBody>
      </p:sp>
      <p:sp>
        <p:nvSpPr>
          <p:cNvPr id="585" name="Google Shape;585;p15"/>
          <p:cNvSpPr/>
          <p:nvPr/>
        </p:nvSpPr>
        <p:spPr>
          <a:xfrm>
            <a:off x="0" y="3127248"/>
            <a:ext cx="256032" cy="56692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5"/>
          <p:cNvSpPr/>
          <p:nvPr/>
        </p:nvSpPr>
        <p:spPr>
          <a:xfrm rot="-5400000">
            <a:off x="0" y="3127248"/>
            <a:ext cx="25603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Moat Being Built</a:t>
            </a:r>
            <a:endParaRPr b="0" i="0" sz="650" u="none" cap="none" strike="noStrike">
              <a:solidFill>
                <a:schemeClr val="dk1"/>
              </a:solidFill>
              <a:latin typeface="Calibri"/>
              <a:ea typeface="Calibri"/>
              <a:cs typeface="Calibri"/>
              <a:sym typeface="Calibri"/>
            </a:endParaRPr>
          </a:p>
        </p:txBody>
      </p:sp>
      <p:sp>
        <p:nvSpPr>
          <p:cNvPr id="587" name="Google Shape;587;p15"/>
          <p:cNvSpPr/>
          <p:nvPr/>
        </p:nvSpPr>
        <p:spPr>
          <a:xfrm>
            <a:off x="274320" y="3127248"/>
            <a:ext cx="1828800" cy="566928"/>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5"/>
          <p:cNvSpPr/>
          <p:nvPr/>
        </p:nvSpPr>
        <p:spPr>
          <a:xfrm>
            <a:off x="365760" y="3182112"/>
            <a:ext cx="1682496"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B7A8D"/>
              </a:buClr>
              <a:buSzPts val="750"/>
              <a:buFont typeface="Calibri"/>
              <a:buNone/>
            </a:pPr>
            <a:r>
              <a:rPr b="0" i="0" lang="en-US" sz="750" u="none" cap="none" strike="noStrike">
                <a:solidFill>
                  <a:srgbClr val="6B7A8D"/>
                </a:solidFill>
                <a:latin typeface="Calibri"/>
                <a:ea typeface="Calibri"/>
                <a:cs typeface="Calibri"/>
                <a:sym typeface="Calibri"/>
              </a:rPr>
              <a:t>Structured demand signal + override rationale dataset begins forming</a:t>
            </a:r>
            <a:endParaRPr b="0" i="0" sz="750" u="none" cap="none" strike="noStrike">
              <a:solidFill>
                <a:schemeClr val="dk1"/>
              </a:solidFill>
              <a:latin typeface="Calibri"/>
              <a:ea typeface="Calibri"/>
              <a:cs typeface="Calibri"/>
              <a:sym typeface="Calibri"/>
            </a:endParaRPr>
          </a:p>
        </p:txBody>
      </p:sp>
      <p:sp>
        <p:nvSpPr>
          <p:cNvPr id="589" name="Google Shape;589;p15"/>
          <p:cNvSpPr/>
          <p:nvPr/>
        </p:nvSpPr>
        <p:spPr>
          <a:xfrm>
            <a:off x="2148840" y="3127248"/>
            <a:ext cx="2103120" cy="566928"/>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2240280" y="3182112"/>
            <a:ext cx="1956816"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B7A8D"/>
              </a:buClr>
              <a:buSzPts val="750"/>
              <a:buFont typeface="Calibri"/>
              <a:buNone/>
            </a:pPr>
            <a:r>
              <a:rPr b="0" i="0" lang="en-US" sz="750" u="none" cap="none" strike="noStrike">
                <a:solidFill>
                  <a:srgbClr val="6B7A8D"/>
                </a:solidFill>
                <a:latin typeface="Calibri"/>
                <a:ea typeface="Calibri"/>
                <a:cs typeface="Calibri"/>
                <a:sym typeface="Calibri"/>
              </a:rPr>
              <a:t>Customer-specific learning loop tied to real planning behavior</a:t>
            </a:r>
            <a:endParaRPr b="0" i="0" sz="750" u="none" cap="none" strike="noStrike">
              <a:solidFill>
                <a:schemeClr val="dk1"/>
              </a:solidFill>
              <a:latin typeface="Calibri"/>
              <a:ea typeface="Calibri"/>
              <a:cs typeface="Calibri"/>
              <a:sym typeface="Calibri"/>
            </a:endParaRPr>
          </a:p>
        </p:txBody>
      </p:sp>
      <p:sp>
        <p:nvSpPr>
          <p:cNvPr id="591" name="Google Shape;591;p15"/>
          <p:cNvSpPr/>
          <p:nvPr/>
        </p:nvSpPr>
        <p:spPr>
          <a:xfrm>
            <a:off x="4297680" y="3127248"/>
            <a:ext cx="2103120" cy="566928"/>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a:off x="4389120" y="3182112"/>
            <a:ext cx="1956816"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B7A8D"/>
              </a:buClr>
              <a:buSzPts val="750"/>
              <a:buFont typeface="Calibri"/>
              <a:buNone/>
            </a:pPr>
            <a:r>
              <a:rPr b="0" i="0" lang="en-US" sz="750" u="none" cap="none" strike="noStrike">
                <a:solidFill>
                  <a:srgbClr val="6B7A8D"/>
                </a:solidFill>
                <a:latin typeface="Calibri"/>
                <a:ea typeface="Calibri"/>
                <a:cs typeface="Calibri"/>
                <a:sym typeface="Calibri"/>
              </a:rPr>
              <a:t>Workflow integration into S&amp;OP and supply decision processes</a:t>
            </a:r>
            <a:endParaRPr b="0" i="0" sz="750" u="none" cap="none" strike="noStrike">
              <a:solidFill>
                <a:schemeClr val="dk1"/>
              </a:solidFill>
              <a:latin typeface="Calibri"/>
              <a:ea typeface="Calibri"/>
              <a:cs typeface="Calibri"/>
              <a:sym typeface="Calibri"/>
            </a:endParaRPr>
          </a:p>
        </p:txBody>
      </p:sp>
      <p:sp>
        <p:nvSpPr>
          <p:cNvPr id="593" name="Google Shape;593;p15"/>
          <p:cNvSpPr/>
          <p:nvPr/>
        </p:nvSpPr>
        <p:spPr>
          <a:xfrm>
            <a:off x="6446520" y="3127248"/>
            <a:ext cx="2423160" cy="566928"/>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5"/>
          <p:cNvSpPr/>
          <p:nvPr/>
        </p:nvSpPr>
        <p:spPr>
          <a:xfrm>
            <a:off x="6537960" y="3182112"/>
            <a:ext cx="2276856"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B7A8D"/>
              </a:buClr>
              <a:buSzPts val="750"/>
              <a:buFont typeface="Calibri"/>
              <a:buNone/>
            </a:pPr>
            <a:r>
              <a:rPr b="0" i="0" lang="en-US" sz="750" u="none" cap="none" strike="noStrike">
                <a:solidFill>
                  <a:srgbClr val="6B7A8D"/>
                </a:solidFill>
                <a:latin typeface="Calibri"/>
                <a:ea typeface="Calibri"/>
                <a:cs typeface="Calibri"/>
                <a:sym typeface="Calibri"/>
              </a:rPr>
              <a:t>Institutional knowledge captured in system + high switching cost</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99" name="Shape 599"/>
        <p:cNvGrpSpPr/>
        <p:nvPr/>
      </p:nvGrpSpPr>
      <p:grpSpPr>
        <a:xfrm>
          <a:off x="0" y="0"/>
          <a:ext cx="0" cy="0"/>
          <a:chOff x="0" y="0"/>
          <a:chExt cx="0" cy="0"/>
        </a:xfrm>
      </p:grpSpPr>
      <p:sp>
        <p:nvSpPr>
          <p:cNvPr id="600" name="Google Shape;600;p16"/>
          <p:cNvSpPr/>
          <p:nvPr/>
        </p:nvSpPr>
        <p:spPr>
          <a:xfrm>
            <a:off x="-35250" y="50"/>
            <a:ext cx="9144000" cy="6219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6"/>
          <p:cNvSpPr/>
          <p:nvPr/>
        </p:nvSpPr>
        <p:spPr>
          <a:xfrm>
            <a:off x="-35250" y="50"/>
            <a:ext cx="54900" cy="621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6"/>
          <p:cNvSpPr/>
          <p:nvPr/>
        </p:nvSpPr>
        <p:spPr>
          <a:xfrm>
            <a:off x="165918" y="50"/>
            <a:ext cx="85038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Roadmap &amp; Prioritization</a:t>
            </a:r>
            <a:endParaRPr b="0" i="0" sz="2000" u="none" cap="none" strike="noStrike">
              <a:solidFill>
                <a:schemeClr val="dk1"/>
              </a:solidFill>
              <a:latin typeface="Calibri"/>
              <a:ea typeface="Calibri"/>
              <a:cs typeface="Calibri"/>
              <a:sym typeface="Calibri"/>
            </a:endParaRPr>
          </a:p>
        </p:txBody>
      </p:sp>
      <p:sp>
        <p:nvSpPr>
          <p:cNvPr id="603" name="Google Shape;603;p16"/>
          <p:cNvSpPr/>
          <p:nvPr/>
        </p:nvSpPr>
        <p:spPr>
          <a:xfrm>
            <a:off x="-35250" y="4965242"/>
            <a:ext cx="9144000" cy="178200"/>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6"/>
          <p:cNvSpPr/>
          <p:nvPr/>
        </p:nvSpPr>
        <p:spPr>
          <a:xfrm>
            <a:off x="193350" y="4965242"/>
            <a:ext cx="2743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605" name="Google Shape;605;p16"/>
          <p:cNvSpPr/>
          <p:nvPr/>
        </p:nvSpPr>
        <p:spPr>
          <a:xfrm>
            <a:off x="8651550" y="4965242"/>
            <a:ext cx="365700" cy="178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13</a:t>
            </a:r>
            <a:endParaRPr b="0" i="0" sz="750" u="none" cap="none" strike="noStrike">
              <a:solidFill>
                <a:schemeClr val="dk1"/>
              </a:solidFill>
              <a:latin typeface="Calibri"/>
              <a:ea typeface="Calibri"/>
              <a:cs typeface="Calibri"/>
              <a:sym typeface="Calibri"/>
            </a:endParaRPr>
          </a:p>
        </p:txBody>
      </p:sp>
      <p:sp>
        <p:nvSpPr>
          <p:cNvPr id="606" name="Google Shape;606;p16"/>
          <p:cNvSpPr/>
          <p:nvPr/>
        </p:nvSpPr>
        <p:spPr>
          <a:xfrm>
            <a:off x="239120" y="2137364"/>
            <a:ext cx="1591200" cy="274200"/>
          </a:xfrm>
          <a:prstGeom prst="rect">
            <a:avLst/>
          </a:prstGeom>
          <a:solidFill>
            <a:srgbClr val="1B3A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6"/>
          <p:cNvSpPr/>
          <p:nvPr/>
        </p:nvSpPr>
        <p:spPr>
          <a:xfrm>
            <a:off x="312272" y="2137364"/>
            <a:ext cx="1499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Phase</a:t>
            </a:r>
            <a:endParaRPr b="0" i="0" sz="850" u="none" cap="none" strike="noStrike">
              <a:solidFill>
                <a:schemeClr val="dk1"/>
              </a:solidFill>
              <a:latin typeface="Calibri"/>
              <a:ea typeface="Calibri"/>
              <a:cs typeface="Calibri"/>
              <a:sym typeface="Calibri"/>
            </a:endParaRPr>
          </a:p>
        </p:txBody>
      </p:sp>
      <p:sp>
        <p:nvSpPr>
          <p:cNvPr id="608" name="Google Shape;608;p16"/>
          <p:cNvSpPr/>
          <p:nvPr/>
        </p:nvSpPr>
        <p:spPr>
          <a:xfrm>
            <a:off x="1866752" y="2137364"/>
            <a:ext cx="2066400" cy="274200"/>
          </a:xfrm>
          <a:prstGeom prst="rect">
            <a:avLst/>
          </a:prstGeom>
          <a:solidFill>
            <a:srgbClr val="2A4E7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6"/>
          <p:cNvSpPr/>
          <p:nvPr/>
        </p:nvSpPr>
        <p:spPr>
          <a:xfrm>
            <a:off x="1939904" y="2137364"/>
            <a:ext cx="1975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Focus</a:t>
            </a:r>
            <a:endParaRPr b="0" i="0" sz="850" u="none" cap="none" strike="noStrike">
              <a:solidFill>
                <a:schemeClr val="dk1"/>
              </a:solidFill>
              <a:latin typeface="Calibri"/>
              <a:ea typeface="Calibri"/>
              <a:cs typeface="Calibri"/>
              <a:sym typeface="Calibri"/>
            </a:endParaRPr>
          </a:p>
        </p:txBody>
      </p:sp>
      <p:sp>
        <p:nvSpPr>
          <p:cNvPr id="610" name="Google Shape;610;p16"/>
          <p:cNvSpPr/>
          <p:nvPr/>
        </p:nvSpPr>
        <p:spPr>
          <a:xfrm>
            <a:off x="3969872" y="2137364"/>
            <a:ext cx="4864500" cy="274200"/>
          </a:xfrm>
          <a:prstGeom prst="rect">
            <a:avLst/>
          </a:prstGeom>
          <a:solidFill>
            <a:srgbClr val="3D5C6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6"/>
          <p:cNvSpPr/>
          <p:nvPr/>
        </p:nvSpPr>
        <p:spPr>
          <a:xfrm>
            <a:off x="4043024" y="2137364"/>
            <a:ext cx="4773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Key Capabilities</a:t>
            </a:r>
            <a:endParaRPr b="0" i="0" sz="850" u="none" cap="none" strike="noStrike">
              <a:solidFill>
                <a:schemeClr val="dk1"/>
              </a:solidFill>
              <a:latin typeface="Calibri"/>
              <a:ea typeface="Calibri"/>
              <a:cs typeface="Calibri"/>
              <a:sym typeface="Calibri"/>
            </a:endParaRPr>
          </a:p>
        </p:txBody>
      </p:sp>
      <p:sp>
        <p:nvSpPr>
          <p:cNvPr id="612" name="Google Shape;612;p16"/>
          <p:cNvSpPr/>
          <p:nvPr/>
        </p:nvSpPr>
        <p:spPr>
          <a:xfrm>
            <a:off x="239125" y="2411676"/>
            <a:ext cx="1591200" cy="586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6"/>
          <p:cNvSpPr/>
          <p:nvPr/>
        </p:nvSpPr>
        <p:spPr>
          <a:xfrm>
            <a:off x="239125" y="2411676"/>
            <a:ext cx="54900" cy="5862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p:nvPr/>
        </p:nvSpPr>
        <p:spPr>
          <a:xfrm>
            <a:off x="348853" y="2460513"/>
            <a:ext cx="1426500" cy="50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3A5C"/>
              </a:buClr>
              <a:buSzPts val="900"/>
              <a:buFont typeface="Calibri"/>
              <a:buNone/>
            </a:pPr>
            <a:r>
              <a:rPr b="1" i="0" lang="en-US" sz="1100" u="none" cap="none" strike="noStrike">
                <a:solidFill>
                  <a:srgbClr val="1B3A5C"/>
                </a:solidFill>
                <a:latin typeface="Calibri"/>
                <a:ea typeface="Calibri"/>
                <a:cs typeface="Calibri"/>
                <a:sym typeface="Calibri"/>
              </a:rPr>
              <a:t>Phase 1</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A8D"/>
              </a:buClr>
              <a:buSzPts val="750"/>
              <a:buFont typeface="Calibri"/>
              <a:buNone/>
            </a:pPr>
            <a:r>
              <a:rPr b="0" i="0" lang="en-US" sz="950" u="none" cap="none" strike="noStrike">
                <a:solidFill>
                  <a:srgbClr val="6B7A8D"/>
                </a:solidFill>
                <a:latin typeface="Calibri"/>
                <a:ea typeface="Calibri"/>
                <a:cs typeface="Calibri"/>
                <a:sym typeface="Calibri"/>
              </a:rPr>
              <a:t>Signal Foundation &amp; Trust</a:t>
            </a:r>
            <a:endParaRPr b="0" i="0" sz="1100" u="none" cap="none" strike="noStrike">
              <a:solidFill>
                <a:schemeClr val="dk1"/>
              </a:solidFill>
              <a:latin typeface="Calibri"/>
              <a:ea typeface="Calibri"/>
              <a:cs typeface="Calibri"/>
              <a:sym typeface="Calibri"/>
            </a:endParaRPr>
          </a:p>
        </p:txBody>
      </p:sp>
      <p:sp>
        <p:nvSpPr>
          <p:cNvPr id="615" name="Google Shape;615;p16"/>
          <p:cNvSpPr/>
          <p:nvPr/>
        </p:nvSpPr>
        <p:spPr>
          <a:xfrm>
            <a:off x="1866757" y="2411676"/>
            <a:ext cx="2066400" cy="586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a:off x="1958200" y="2460525"/>
            <a:ext cx="19752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1000" u="none" cap="none" strike="noStrike">
                <a:solidFill>
                  <a:srgbClr val="2E3A47"/>
                </a:solidFill>
                <a:latin typeface="Calibri"/>
                <a:ea typeface="Calibri"/>
                <a:cs typeface="Calibri"/>
                <a:sym typeface="Calibri"/>
              </a:rPr>
              <a:t>Establish demand visibility and replace manual reconciliation workflows</a:t>
            </a:r>
            <a:endParaRPr b="0" i="0" sz="1000" u="none" cap="none" strike="noStrike">
              <a:solidFill>
                <a:schemeClr val="dk1"/>
              </a:solidFill>
              <a:latin typeface="Calibri"/>
              <a:ea typeface="Calibri"/>
              <a:cs typeface="Calibri"/>
              <a:sym typeface="Calibri"/>
            </a:endParaRPr>
          </a:p>
        </p:txBody>
      </p:sp>
      <p:sp>
        <p:nvSpPr>
          <p:cNvPr id="617" name="Google Shape;617;p16"/>
          <p:cNvSpPr/>
          <p:nvPr/>
        </p:nvSpPr>
        <p:spPr>
          <a:xfrm>
            <a:off x="3969876" y="2411676"/>
            <a:ext cx="4864500" cy="586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p:nvPr/>
        </p:nvSpPr>
        <p:spPr>
          <a:xfrm>
            <a:off x="4061316" y="2460513"/>
            <a:ext cx="47367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1000" u="none" cap="none" strike="noStrike">
                <a:solidFill>
                  <a:srgbClr val="2E3A47"/>
                </a:solidFill>
                <a:latin typeface="Calibri"/>
                <a:ea typeface="Calibri"/>
                <a:cs typeface="Calibri"/>
                <a:sym typeface="Calibri"/>
              </a:rPr>
              <a:t>Signal ingestion (ERP, schedules, ADs), event-driven demand baseline (part × tail), demand review UX, recommendation explanations, audit trail and override capture</a:t>
            </a:r>
            <a:endParaRPr b="0" i="0" sz="1000" u="none" cap="none" strike="noStrike">
              <a:solidFill>
                <a:schemeClr val="dk1"/>
              </a:solidFill>
              <a:latin typeface="Calibri"/>
              <a:ea typeface="Calibri"/>
              <a:cs typeface="Calibri"/>
              <a:sym typeface="Calibri"/>
            </a:endParaRPr>
          </a:p>
        </p:txBody>
      </p:sp>
      <p:sp>
        <p:nvSpPr>
          <p:cNvPr id="619" name="Google Shape;619;p16"/>
          <p:cNvSpPr/>
          <p:nvPr/>
        </p:nvSpPr>
        <p:spPr>
          <a:xfrm>
            <a:off x="239125" y="2997722"/>
            <a:ext cx="1591200" cy="586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p:nvPr/>
        </p:nvSpPr>
        <p:spPr>
          <a:xfrm>
            <a:off x="239125" y="2997722"/>
            <a:ext cx="54900" cy="586200"/>
          </a:xfrm>
          <a:prstGeom prst="rect">
            <a:avLst/>
          </a:prstGeom>
          <a:solidFill>
            <a:srgbClr val="2E6DA4"/>
          </a:solidFill>
          <a:ln cap="flat" cmpd="sng" w="12700">
            <a:solidFill>
              <a:srgbClr val="2E6D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348853" y="3046559"/>
            <a:ext cx="1426500" cy="50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3A5C"/>
              </a:buClr>
              <a:buSzPts val="900"/>
              <a:buFont typeface="Calibri"/>
              <a:buNone/>
            </a:pPr>
            <a:r>
              <a:rPr b="1" i="0" lang="en-US" sz="1100" u="none" cap="none" strike="noStrike">
                <a:solidFill>
                  <a:srgbClr val="1B3A5C"/>
                </a:solidFill>
                <a:latin typeface="Calibri"/>
                <a:ea typeface="Calibri"/>
                <a:cs typeface="Calibri"/>
                <a:sym typeface="Calibri"/>
              </a:rPr>
              <a:t>Phase 2</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A8D"/>
              </a:buClr>
              <a:buSzPts val="750"/>
              <a:buFont typeface="Calibri"/>
              <a:buNone/>
            </a:pPr>
            <a:r>
              <a:rPr b="0" i="0" lang="en-US" sz="950" u="none" cap="none" strike="noStrike">
                <a:solidFill>
                  <a:srgbClr val="6B7A8D"/>
                </a:solidFill>
                <a:latin typeface="Calibri"/>
                <a:ea typeface="Calibri"/>
                <a:cs typeface="Calibri"/>
                <a:sym typeface="Calibri"/>
              </a:rPr>
              <a:t>AI Sensing &amp; Learning</a:t>
            </a:r>
            <a:endParaRPr b="0" i="0" sz="1100" u="none" cap="none" strike="noStrike">
              <a:solidFill>
                <a:schemeClr val="dk1"/>
              </a:solidFill>
              <a:latin typeface="Calibri"/>
              <a:ea typeface="Calibri"/>
              <a:cs typeface="Calibri"/>
              <a:sym typeface="Calibri"/>
            </a:endParaRPr>
          </a:p>
        </p:txBody>
      </p:sp>
      <p:sp>
        <p:nvSpPr>
          <p:cNvPr id="622" name="Google Shape;622;p16"/>
          <p:cNvSpPr/>
          <p:nvPr/>
        </p:nvSpPr>
        <p:spPr>
          <a:xfrm>
            <a:off x="1866757" y="2997722"/>
            <a:ext cx="2066400" cy="586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6"/>
          <p:cNvSpPr/>
          <p:nvPr/>
        </p:nvSpPr>
        <p:spPr>
          <a:xfrm>
            <a:off x="1958197" y="3046559"/>
            <a:ext cx="19203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1000" u="none" cap="none" strike="noStrike">
                <a:solidFill>
                  <a:srgbClr val="2E3A47"/>
                </a:solidFill>
                <a:latin typeface="Calibri"/>
                <a:ea typeface="Calibri"/>
                <a:cs typeface="Calibri"/>
                <a:sym typeface="Calibri"/>
              </a:rPr>
              <a:t>Improve forecast accuracy and introduce measurable learning</a:t>
            </a:r>
            <a:endParaRPr b="0" i="0" sz="1000" u="none" cap="none" strike="noStrike">
              <a:solidFill>
                <a:schemeClr val="dk1"/>
              </a:solidFill>
              <a:latin typeface="Calibri"/>
              <a:ea typeface="Calibri"/>
              <a:cs typeface="Calibri"/>
              <a:sym typeface="Calibri"/>
            </a:endParaRPr>
          </a:p>
        </p:txBody>
      </p:sp>
      <p:sp>
        <p:nvSpPr>
          <p:cNvPr id="624" name="Google Shape;624;p16"/>
          <p:cNvSpPr/>
          <p:nvPr/>
        </p:nvSpPr>
        <p:spPr>
          <a:xfrm>
            <a:off x="3969876" y="2997722"/>
            <a:ext cx="4864500" cy="586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a:off x="4061316" y="3046559"/>
            <a:ext cx="47367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1000" u="none" cap="none" strike="noStrike">
                <a:solidFill>
                  <a:srgbClr val="2E3A47"/>
                </a:solidFill>
                <a:latin typeface="Calibri"/>
                <a:ea typeface="Calibri"/>
                <a:cs typeface="Calibri"/>
                <a:sym typeface="Calibri"/>
              </a:rPr>
              <a:t>ML models trained on overrides and actuals, anomaly detection, confidence ranges, FVA tracking, bias analytics</a:t>
            </a:r>
            <a:endParaRPr b="0" i="0" sz="1000" u="none" cap="none" strike="noStrike">
              <a:solidFill>
                <a:schemeClr val="dk1"/>
              </a:solidFill>
              <a:latin typeface="Calibri"/>
              <a:ea typeface="Calibri"/>
              <a:cs typeface="Calibri"/>
              <a:sym typeface="Calibri"/>
            </a:endParaRPr>
          </a:p>
        </p:txBody>
      </p:sp>
      <p:sp>
        <p:nvSpPr>
          <p:cNvPr id="626" name="Google Shape;626;p16"/>
          <p:cNvSpPr/>
          <p:nvPr/>
        </p:nvSpPr>
        <p:spPr>
          <a:xfrm>
            <a:off x="239125" y="3583767"/>
            <a:ext cx="1591200" cy="586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6"/>
          <p:cNvSpPr/>
          <p:nvPr/>
        </p:nvSpPr>
        <p:spPr>
          <a:xfrm>
            <a:off x="239125" y="3583767"/>
            <a:ext cx="54900" cy="586200"/>
          </a:xfrm>
          <a:prstGeom prst="rect">
            <a:avLst/>
          </a:prstGeom>
          <a:solidFill>
            <a:srgbClr val="3D5C6E"/>
          </a:solidFill>
          <a:ln cap="flat" cmpd="sng" w="12700">
            <a:solidFill>
              <a:srgbClr val="3D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a:off x="348853" y="3632604"/>
            <a:ext cx="1426500" cy="50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3A5C"/>
              </a:buClr>
              <a:buSzPts val="900"/>
              <a:buFont typeface="Calibri"/>
              <a:buNone/>
            </a:pPr>
            <a:r>
              <a:rPr b="1" i="0" lang="en-US" sz="1100" u="none" cap="none" strike="noStrike">
                <a:solidFill>
                  <a:srgbClr val="1B3A5C"/>
                </a:solidFill>
                <a:latin typeface="Calibri"/>
                <a:ea typeface="Calibri"/>
                <a:cs typeface="Calibri"/>
                <a:sym typeface="Calibri"/>
              </a:rPr>
              <a:t>Phase 3</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A8D"/>
              </a:buClr>
              <a:buSzPts val="750"/>
              <a:buFont typeface="Calibri"/>
              <a:buNone/>
            </a:pPr>
            <a:r>
              <a:rPr b="0" i="0" lang="en-US" sz="950" u="none" cap="none" strike="noStrike">
                <a:solidFill>
                  <a:srgbClr val="6B7A8D"/>
                </a:solidFill>
                <a:latin typeface="Calibri"/>
                <a:ea typeface="Calibri"/>
                <a:cs typeface="Calibri"/>
                <a:sym typeface="Calibri"/>
              </a:rPr>
              <a:t>Supply Matching &amp; Risk Management</a:t>
            </a:r>
            <a:endParaRPr b="0" i="0" sz="1100" u="none" cap="none" strike="noStrike">
              <a:solidFill>
                <a:schemeClr val="dk1"/>
              </a:solidFill>
              <a:latin typeface="Calibri"/>
              <a:ea typeface="Calibri"/>
              <a:cs typeface="Calibri"/>
              <a:sym typeface="Calibri"/>
            </a:endParaRPr>
          </a:p>
        </p:txBody>
      </p:sp>
      <p:sp>
        <p:nvSpPr>
          <p:cNvPr id="629" name="Google Shape;629;p16"/>
          <p:cNvSpPr/>
          <p:nvPr/>
        </p:nvSpPr>
        <p:spPr>
          <a:xfrm>
            <a:off x="1866757" y="3583767"/>
            <a:ext cx="2066400" cy="586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6"/>
          <p:cNvSpPr/>
          <p:nvPr/>
        </p:nvSpPr>
        <p:spPr>
          <a:xfrm>
            <a:off x="1958197" y="3632604"/>
            <a:ext cx="19203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1000" u="none" cap="none" strike="noStrike">
                <a:solidFill>
                  <a:srgbClr val="2E3A47"/>
                </a:solidFill>
                <a:latin typeface="Calibri"/>
                <a:ea typeface="Calibri"/>
                <a:cs typeface="Calibri"/>
                <a:sym typeface="Calibri"/>
              </a:rPr>
              <a:t>Connect demand planning to inventory decisions and AOG risk</a:t>
            </a:r>
            <a:endParaRPr b="0" i="0" sz="1000" u="none" cap="none" strike="noStrike">
              <a:solidFill>
                <a:schemeClr val="dk1"/>
              </a:solidFill>
              <a:latin typeface="Calibri"/>
              <a:ea typeface="Calibri"/>
              <a:cs typeface="Calibri"/>
              <a:sym typeface="Calibri"/>
            </a:endParaRPr>
          </a:p>
        </p:txBody>
      </p:sp>
      <p:sp>
        <p:nvSpPr>
          <p:cNvPr id="631" name="Google Shape;631;p16"/>
          <p:cNvSpPr/>
          <p:nvPr/>
        </p:nvSpPr>
        <p:spPr>
          <a:xfrm>
            <a:off x="3969876" y="3583767"/>
            <a:ext cx="4864500" cy="5862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6"/>
          <p:cNvSpPr/>
          <p:nvPr/>
        </p:nvSpPr>
        <p:spPr>
          <a:xfrm>
            <a:off x="4061316" y="3632604"/>
            <a:ext cx="47367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1000" u="none" cap="none" strike="noStrike">
                <a:solidFill>
                  <a:srgbClr val="2E3A47"/>
                </a:solidFill>
                <a:latin typeface="Calibri"/>
                <a:ea typeface="Calibri"/>
                <a:cs typeface="Calibri"/>
                <a:sym typeface="Calibri"/>
              </a:rPr>
              <a:t>Demand-supply matching engine, serialized inventory mapping, AOG risk scoring per tail, repositioning recommendations, S&amp;OP package generation</a:t>
            </a:r>
            <a:endParaRPr b="0" i="0" sz="1000" u="none" cap="none" strike="noStrike">
              <a:solidFill>
                <a:schemeClr val="dk1"/>
              </a:solidFill>
              <a:latin typeface="Calibri"/>
              <a:ea typeface="Calibri"/>
              <a:cs typeface="Calibri"/>
              <a:sym typeface="Calibri"/>
            </a:endParaRPr>
          </a:p>
        </p:txBody>
      </p:sp>
      <p:sp>
        <p:nvSpPr>
          <p:cNvPr id="633" name="Google Shape;633;p16"/>
          <p:cNvSpPr/>
          <p:nvPr/>
        </p:nvSpPr>
        <p:spPr>
          <a:xfrm>
            <a:off x="239125" y="4169813"/>
            <a:ext cx="1591200" cy="5862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a:off x="239125" y="4169813"/>
            <a:ext cx="54900" cy="586200"/>
          </a:xfrm>
          <a:prstGeom prst="rect">
            <a:avLst/>
          </a:prstGeom>
          <a:solidFill>
            <a:srgbClr val="4A6741"/>
          </a:solidFill>
          <a:ln cap="flat" cmpd="sng" w="12700">
            <a:solidFill>
              <a:srgbClr val="4A67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a:off x="348853" y="4218650"/>
            <a:ext cx="1426500" cy="50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3A5C"/>
              </a:buClr>
              <a:buSzPts val="900"/>
              <a:buFont typeface="Calibri"/>
              <a:buNone/>
            </a:pPr>
            <a:r>
              <a:rPr b="1" i="0" lang="en-US" sz="1100" u="none" cap="none" strike="noStrike">
                <a:solidFill>
                  <a:srgbClr val="1B3A5C"/>
                </a:solidFill>
                <a:latin typeface="Calibri"/>
                <a:ea typeface="Calibri"/>
                <a:cs typeface="Calibri"/>
                <a:sym typeface="Calibri"/>
              </a:rPr>
              <a:t>Phase 4</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A8D"/>
              </a:buClr>
              <a:buSzPts val="750"/>
              <a:buFont typeface="Calibri"/>
              <a:buNone/>
            </a:pPr>
            <a:r>
              <a:rPr b="0" i="0" lang="en-US" sz="950" u="none" cap="none" strike="noStrike">
                <a:solidFill>
                  <a:srgbClr val="6B7A8D"/>
                </a:solidFill>
                <a:latin typeface="Calibri"/>
                <a:ea typeface="Calibri"/>
                <a:cs typeface="Calibri"/>
                <a:sym typeface="Calibri"/>
              </a:rPr>
              <a:t>Agentic Planning &amp; Autonomy</a:t>
            </a:r>
            <a:endParaRPr b="0" i="0" sz="1100" u="none" cap="none" strike="noStrike">
              <a:solidFill>
                <a:schemeClr val="dk1"/>
              </a:solidFill>
              <a:latin typeface="Calibri"/>
              <a:ea typeface="Calibri"/>
              <a:cs typeface="Calibri"/>
              <a:sym typeface="Calibri"/>
            </a:endParaRPr>
          </a:p>
        </p:txBody>
      </p:sp>
      <p:sp>
        <p:nvSpPr>
          <p:cNvPr id="636" name="Google Shape;636;p16"/>
          <p:cNvSpPr/>
          <p:nvPr/>
        </p:nvSpPr>
        <p:spPr>
          <a:xfrm>
            <a:off x="1866757" y="4169813"/>
            <a:ext cx="2066400" cy="586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a:off x="1958197" y="4218650"/>
            <a:ext cx="19203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1000" u="none" cap="none" strike="noStrike">
                <a:solidFill>
                  <a:srgbClr val="2E3A47"/>
                </a:solidFill>
                <a:latin typeface="Calibri"/>
                <a:ea typeface="Calibri"/>
                <a:cs typeface="Calibri"/>
                <a:sym typeface="Calibri"/>
              </a:rPr>
              <a:t>Transition to continuous, exception-based planning</a:t>
            </a:r>
            <a:endParaRPr b="0" i="0" sz="1000" u="none" cap="none" strike="noStrike">
              <a:solidFill>
                <a:schemeClr val="dk1"/>
              </a:solidFill>
              <a:latin typeface="Calibri"/>
              <a:ea typeface="Calibri"/>
              <a:cs typeface="Calibri"/>
              <a:sym typeface="Calibri"/>
            </a:endParaRPr>
          </a:p>
        </p:txBody>
      </p:sp>
      <p:sp>
        <p:nvSpPr>
          <p:cNvPr id="638" name="Google Shape;638;p16"/>
          <p:cNvSpPr/>
          <p:nvPr/>
        </p:nvSpPr>
        <p:spPr>
          <a:xfrm>
            <a:off x="3969876" y="4169813"/>
            <a:ext cx="4864500" cy="5862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6"/>
          <p:cNvSpPr/>
          <p:nvPr/>
        </p:nvSpPr>
        <p:spPr>
          <a:xfrm>
            <a:off x="4061316" y="4218650"/>
            <a:ext cx="47367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A47"/>
              </a:buClr>
              <a:buSzPts val="800"/>
              <a:buFont typeface="Calibri"/>
              <a:buNone/>
            </a:pPr>
            <a:r>
              <a:rPr b="0" i="0" lang="en-US" sz="1000" u="none" cap="none" strike="noStrike">
                <a:solidFill>
                  <a:srgbClr val="2E3A47"/>
                </a:solidFill>
                <a:latin typeface="Calibri"/>
                <a:ea typeface="Calibri"/>
                <a:cs typeface="Calibri"/>
                <a:sym typeface="Calibri"/>
              </a:rPr>
              <a:t>Autonomous agents for demand updates and risk monitoring, planner supervision controls, continuous planning loop, incremental autonomy based on performance</a:t>
            </a:r>
            <a:endParaRPr b="0" i="0" sz="1000" u="none" cap="none" strike="noStrike">
              <a:solidFill>
                <a:schemeClr val="dk1"/>
              </a:solidFill>
              <a:latin typeface="Calibri"/>
              <a:ea typeface="Calibri"/>
              <a:cs typeface="Calibri"/>
              <a:sym typeface="Calibri"/>
            </a:endParaRPr>
          </a:p>
        </p:txBody>
      </p:sp>
      <p:sp>
        <p:nvSpPr>
          <p:cNvPr id="640" name="Google Shape;640;p16"/>
          <p:cNvSpPr txBox="1"/>
          <p:nvPr/>
        </p:nvSpPr>
        <p:spPr>
          <a:xfrm>
            <a:off x="193350" y="671663"/>
            <a:ext cx="8906100" cy="1416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b="1" lang="en-US" sz="1000">
                <a:solidFill>
                  <a:srgbClr val="000000"/>
                </a:solidFill>
              </a:rPr>
              <a:t>Approach</a:t>
            </a:r>
            <a:endParaRPr b="1" sz="1000">
              <a:solidFill>
                <a:srgbClr val="000000"/>
              </a:solidFill>
            </a:endParaRPr>
          </a:p>
          <a:p>
            <a:pPr indent="0" lvl="0" marL="0" rtl="0" algn="l">
              <a:lnSpc>
                <a:spcPct val="100000"/>
              </a:lnSpc>
              <a:spcBef>
                <a:spcPts val="1200"/>
              </a:spcBef>
              <a:spcAft>
                <a:spcPts val="0"/>
              </a:spcAft>
              <a:buNone/>
            </a:pPr>
            <a:r>
              <a:rPr lang="en-US" sz="800">
                <a:solidFill>
                  <a:srgbClr val="000000"/>
                </a:solidFill>
              </a:rPr>
              <a:t>Given the complexity of MRO demand planning and the need to build trust in an AI-assisted system, it is neither practical nor desirable to deliver full autonomy from day one. Instead, prioritization follows a phased approach grounded in two core dimensions:</a:t>
            </a:r>
            <a:endParaRPr sz="800">
              <a:solidFill>
                <a:srgbClr val="000000"/>
              </a:solidFill>
            </a:endParaRPr>
          </a:p>
          <a:p>
            <a:pPr indent="-279400" lvl="0" marL="457200" rtl="0" algn="l">
              <a:lnSpc>
                <a:spcPct val="100000"/>
              </a:lnSpc>
              <a:spcBef>
                <a:spcPts val="1200"/>
              </a:spcBef>
              <a:spcAft>
                <a:spcPts val="0"/>
              </a:spcAft>
              <a:buClr>
                <a:srgbClr val="000000"/>
              </a:buClr>
              <a:buSzPts val="800"/>
              <a:buChar char="●"/>
            </a:pPr>
            <a:r>
              <a:rPr b="1" lang="en-US" sz="800">
                <a:solidFill>
                  <a:srgbClr val="000000"/>
                </a:solidFill>
              </a:rPr>
              <a:t>Immediate operational value for planning teams</a:t>
            </a:r>
            <a:r>
              <a:rPr lang="en-US" sz="800">
                <a:solidFill>
                  <a:srgbClr val="000000"/>
                </a:solidFill>
              </a:rPr>
              <a:t> (cycle time reduction, visibility, AOG risk awareness)</a:t>
            </a:r>
            <a:endParaRPr sz="800">
              <a:solidFill>
                <a:srgbClr val="000000"/>
              </a:solidFill>
            </a:endParaRPr>
          </a:p>
          <a:p>
            <a:pPr indent="-279400" lvl="0" marL="457200" rtl="0" algn="l">
              <a:lnSpc>
                <a:spcPct val="100000"/>
              </a:lnSpc>
              <a:spcBef>
                <a:spcPts val="0"/>
              </a:spcBef>
              <a:spcAft>
                <a:spcPts val="0"/>
              </a:spcAft>
              <a:buClr>
                <a:srgbClr val="000000"/>
              </a:buClr>
              <a:buSzPts val="800"/>
              <a:buChar char="●"/>
            </a:pPr>
            <a:r>
              <a:rPr b="1" lang="en-US" sz="800">
                <a:solidFill>
                  <a:srgbClr val="000000"/>
                </a:solidFill>
              </a:rPr>
              <a:t>Long-term platform leverage through data accumulation and learning loops</a:t>
            </a:r>
            <a:endParaRPr b="1" sz="800">
              <a:solidFill>
                <a:srgbClr val="000000"/>
              </a:solidFill>
            </a:endParaRPr>
          </a:p>
          <a:p>
            <a:pPr indent="0" lvl="0" marL="0" rtl="0" algn="l">
              <a:lnSpc>
                <a:spcPct val="100000"/>
              </a:lnSpc>
              <a:spcBef>
                <a:spcPts val="1200"/>
              </a:spcBef>
              <a:spcAft>
                <a:spcPts val="1200"/>
              </a:spcAft>
              <a:buNone/>
            </a:pPr>
            <a:r>
              <a:rPr lang="en-US" sz="800">
                <a:solidFill>
                  <a:srgbClr val="000000"/>
                </a:solidFill>
              </a:rPr>
              <a:t>This approach ensures early, tangible value to drive adoption and trust, while building the structured data and workflow foundation required for advanced AI capabilities.</a:t>
            </a:r>
            <a:endParaRPr sz="8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645" name="Shape 645"/>
        <p:cNvGrpSpPr/>
        <p:nvPr/>
      </p:nvGrpSpPr>
      <p:grpSpPr>
        <a:xfrm>
          <a:off x="0" y="0"/>
          <a:ext cx="0" cy="0"/>
          <a:chOff x="0" y="0"/>
          <a:chExt cx="0" cy="0"/>
        </a:xfrm>
      </p:grpSpPr>
      <p:sp>
        <p:nvSpPr>
          <p:cNvPr id="646" name="Google Shape;646;p17"/>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7"/>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7"/>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Roadmap &amp; Prioritization</a:t>
            </a:r>
            <a:endParaRPr b="0" i="0" sz="2000" u="none" cap="none" strike="noStrike">
              <a:solidFill>
                <a:schemeClr val="dk1"/>
              </a:solidFill>
              <a:latin typeface="Calibri"/>
              <a:ea typeface="Calibri"/>
              <a:cs typeface="Calibri"/>
              <a:sym typeface="Calibri"/>
            </a:endParaRPr>
          </a:p>
        </p:txBody>
      </p:sp>
      <p:sp>
        <p:nvSpPr>
          <p:cNvPr id="649" name="Google Shape;649;p17"/>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7"/>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651" name="Google Shape;651;p17"/>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14</a:t>
            </a:r>
            <a:endParaRPr b="0" i="0" sz="750" u="none" cap="none" strike="noStrike">
              <a:solidFill>
                <a:schemeClr val="dk1"/>
              </a:solidFill>
              <a:latin typeface="Calibri"/>
              <a:ea typeface="Calibri"/>
              <a:cs typeface="Calibri"/>
              <a:sym typeface="Calibri"/>
            </a:endParaRPr>
          </a:p>
        </p:txBody>
      </p:sp>
      <p:sp>
        <p:nvSpPr>
          <p:cNvPr id="652" name="Google Shape;652;p17"/>
          <p:cNvSpPr/>
          <p:nvPr/>
        </p:nvSpPr>
        <p:spPr>
          <a:xfrm>
            <a:off x="274320" y="749808"/>
            <a:ext cx="2011680" cy="3767328"/>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53" name="Google Shape;653;p17"/>
          <p:cNvSpPr/>
          <p:nvPr/>
        </p:nvSpPr>
        <p:spPr>
          <a:xfrm>
            <a:off x="274320" y="749808"/>
            <a:ext cx="2011680" cy="65836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7"/>
          <p:cNvSpPr/>
          <p:nvPr/>
        </p:nvSpPr>
        <p:spPr>
          <a:xfrm>
            <a:off x="384048" y="804672"/>
            <a:ext cx="4572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01</a:t>
            </a:r>
            <a:endParaRPr b="0" i="0" sz="1600" u="none" cap="none" strike="noStrike">
              <a:solidFill>
                <a:schemeClr val="dk1"/>
              </a:solidFill>
              <a:latin typeface="Calibri"/>
              <a:ea typeface="Calibri"/>
              <a:cs typeface="Calibri"/>
              <a:sym typeface="Calibri"/>
            </a:endParaRPr>
          </a:p>
        </p:txBody>
      </p:sp>
      <p:sp>
        <p:nvSpPr>
          <p:cNvPr id="655" name="Google Shape;655;p17"/>
          <p:cNvSpPr/>
          <p:nvPr/>
        </p:nvSpPr>
        <p:spPr>
          <a:xfrm>
            <a:off x="384048" y="1078992"/>
            <a:ext cx="18288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Signal Foundation</a:t>
            </a:r>
            <a:endParaRPr b="0" i="0" sz="900" u="none" cap="none" strike="noStrike">
              <a:solidFill>
                <a:schemeClr val="dk1"/>
              </a:solidFill>
              <a:latin typeface="Calibri"/>
              <a:ea typeface="Calibri"/>
              <a:cs typeface="Calibri"/>
              <a:sym typeface="Calibri"/>
            </a:endParaRPr>
          </a:p>
        </p:txBody>
      </p:sp>
      <p:sp>
        <p:nvSpPr>
          <p:cNvPr id="656" name="Google Shape;656;p17"/>
          <p:cNvSpPr/>
          <p:nvPr/>
        </p:nvSpPr>
        <p:spPr>
          <a:xfrm>
            <a:off x="1371600" y="804672"/>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8C4DC"/>
              </a:buClr>
              <a:buSzPts val="750"/>
              <a:buFont typeface="Calibri"/>
              <a:buNone/>
            </a:pPr>
            <a:r>
              <a:rPr b="0" i="0" lang="en-US" sz="750" u="none" cap="none" strike="noStrike">
                <a:solidFill>
                  <a:srgbClr val="A8C4DC"/>
                </a:solidFill>
                <a:latin typeface="Calibri"/>
                <a:ea typeface="Calibri"/>
                <a:cs typeface="Calibri"/>
                <a:sym typeface="Calibri"/>
              </a:rPr>
              <a:t>0-6 months</a:t>
            </a:r>
            <a:endParaRPr b="0" i="0" sz="750" u="none" cap="none" strike="noStrike">
              <a:solidFill>
                <a:schemeClr val="dk1"/>
              </a:solidFill>
              <a:latin typeface="Calibri"/>
              <a:ea typeface="Calibri"/>
              <a:cs typeface="Calibri"/>
              <a:sym typeface="Calibri"/>
            </a:endParaRPr>
          </a:p>
        </p:txBody>
      </p:sp>
      <p:sp>
        <p:nvSpPr>
          <p:cNvPr id="657" name="Google Shape;657;p17"/>
          <p:cNvSpPr/>
          <p:nvPr/>
        </p:nvSpPr>
        <p:spPr>
          <a:xfrm>
            <a:off x="384048" y="1499616"/>
            <a:ext cx="18288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750"/>
              <a:buFont typeface="Calibri"/>
              <a:buNone/>
            </a:pPr>
            <a:r>
              <a:rPr b="1" i="0" lang="en-US" sz="750" u="none" cap="none" strike="noStrike">
                <a:solidFill>
                  <a:srgbClr val="C0392B"/>
                </a:solidFill>
                <a:latin typeface="Calibri"/>
                <a:ea typeface="Calibri"/>
                <a:cs typeface="Calibri"/>
                <a:sym typeface="Calibri"/>
              </a:rPr>
              <a:t>Scope</a:t>
            </a:r>
            <a:endParaRPr b="0" i="0" sz="750" u="none" cap="none" strike="noStrike">
              <a:solidFill>
                <a:schemeClr val="dk1"/>
              </a:solidFill>
              <a:latin typeface="Calibri"/>
              <a:ea typeface="Calibri"/>
              <a:cs typeface="Calibri"/>
              <a:sym typeface="Calibri"/>
            </a:endParaRPr>
          </a:p>
        </p:txBody>
      </p:sp>
      <p:sp>
        <p:nvSpPr>
          <p:cNvPr id="658" name="Google Shape;658;p17"/>
          <p:cNvSpPr/>
          <p:nvPr/>
        </p:nvSpPr>
        <p:spPr>
          <a:xfrm>
            <a:off x="402336" y="1810512"/>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7"/>
          <p:cNvSpPr/>
          <p:nvPr/>
        </p:nvSpPr>
        <p:spPr>
          <a:xfrm>
            <a:off x="512064" y="1754301"/>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Ingest ERP, flight schedules, and maintenance event data</a:t>
            </a:r>
            <a:endParaRPr b="0" i="0" sz="950" u="none" cap="none" strike="noStrike">
              <a:solidFill>
                <a:schemeClr val="dk1"/>
              </a:solidFill>
              <a:latin typeface="Calibri"/>
              <a:ea typeface="Calibri"/>
              <a:cs typeface="Calibri"/>
              <a:sym typeface="Calibri"/>
            </a:endParaRPr>
          </a:p>
        </p:txBody>
      </p:sp>
      <p:sp>
        <p:nvSpPr>
          <p:cNvPr id="660" name="Google Shape;660;p17"/>
          <p:cNvSpPr/>
          <p:nvPr/>
        </p:nvSpPr>
        <p:spPr>
          <a:xfrm>
            <a:off x="402336" y="2212848"/>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7"/>
          <p:cNvSpPr/>
          <p:nvPr/>
        </p:nvSpPr>
        <p:spPr>
          <a:xfrm>
            <a:off x="512064" y="2156637"/>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Build deterministic, event-driven demand baseline (per part x tail)</a:t>
            </a:r>
            <a:endParaRPr b="0" i="0" sz="950" u="none" cap="none" strike="noStrike">
              <a:solidFill>
                <a:schemeClr val="dk1"/>
              </a:solidFill>
              <a:latin typeface="Calibri"/>
              <a:ea typeface="Calibri"/>
              <a:cs typeface="Calibri"/>
              <a:sym typeface="Calibri"/>
            </a:endParaRPr>
          </a:p>
        </p:txBody>
      </p:sp>
      <p:sp>
        <p:nvSpPr>
          <p:cNvPr id="662" name="Google Shape;662;p17"/>
          <p:cNvSpPr/>
          <p:nvPr/>
        </p:nvSpPr>
        <p:spPr>
          <a:xfrm>
            <a:off x="402336" y="2615184"/>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7"/>
          <p:cNvSpPr/>
          <p:nvPr/>
        </p:nvSpPr>
        <p:spPr>
          <a:xfrm>
            <a:off x="512064" y="2558973"/>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Launch demand review UX with AI-generated recommendations and audit trail</a:t>
            </a:r>
            <a:endParaRPr b="0" i="0" sz="950" u="none" cap="none" strike="noStrike">
              <a:solidFill>
                <a:schemeClr val="dk1"/>
              </a:solidFill>
              <a:latin typeface="Calibri"/>
              <a:ea typeface="Calibri"/>
              <a:cs typeface="Calibri"/>
              <a:sym typeface="Calibri"/>
            </a:endParaRPr>
          </a:p>
        </p:txBody>
      </p:sp>
      <p:cxnSp>
        <p:nvCxnSpPr>
          <p:cNvPr id="664" name="Google Shape;664;p17"/>
          <p:cNvCxnSpPr/>
          <p:nvPr/>
        </p:nvCxnSpPr>
        <p:spPr>
          <a:xfrm>
            <a:off x="384048" y="3547872"/>
            <a:ext cx="1792224" cy="0"/>
          </a:xfrm>
          <a:prstGeom prst="straightConnector1">
            <a:avLst/>
          </a:prstGeom>
          <a:noFill/>
          <a:ln cap="flat" cmpd="sng" w="9525">
            <a:solidFill>
              <a:srgbClr val="D8DFE8"/>
            </a:solidFill>
            <a:prstDash val="solid"/>
            <a:round/>
            <a:headEnd len="sm" w="sm" type="none"/>
            <a:tailEnd len="sm" w="sm" type="none"/>
          </a:ln>
        </p:spPr>
      </p:cxnSp>
      <p:sp>
        <p:nvSpPr>
          <p:cNvPr id="665" name="Google Shape;665;p17"/>
          <p:cNvSpPr/>
          <p:nvPr/>
        </p:nvSpPr>
        <p:spPr>
          <a:xfrm>
            <a:off x="384048" y="3602736"/>
            <a:ext cx="1828800" cy="164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700"/>
              <a:buFont typeface="Calibri"/>
              <a:buNone/>
            </a:pPr>
            <a:r>
              <a:rPr b="1" i="0" lang="en-US" sz="800" u="none" cap="none" strike="noStrike">
                <a:solidFill>
                  <a:srgbClr val="1B3A5C"/>
                </a:solidFill>
                <a:latin typeface="Calibri"/>
                <a:ea typeface="Calibri"/>
                <a:cs typeface="Calibri"/>
                <a:sym typeface="Calibri"/>
              </a:rPr>
              <a:t>Value delivered:</a:t>
            </a:r>
            <a:endParaRPr b="0" i="0" sz="800" u="none" cap="none" strike="noStrike">
              <a:solidFill>
                <a:schemeClr val="dk1"/>
              </a:solidFill>
              <a:latin typeface="Calibri"/>
              <a:ea typeface="Calibri"/>
              <a:cs typeface="Calibri"/>
              <a:sym typeface="Calibri"/>
            </a:endParaRPr>
          </a:p>
        </p:txBody>
      </p:sp>
      <p:sp>
        <p:nvSpPr>
          <p:cNvPr id="666" name="Google Shape;666;p17"/>
          <p:cNvSpPr/>
          <p:nvPr/>
        </p:nvSpPr>
        <p:spPr>
          <a:xfrm>
            <a:off x="384048" y="3767328"/>
            <a:ext cx="1828800" cy="2560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E3A47"/>
              </a:buClr>
              <a:buSzPts val="700"/>
              <a:buFont typeface="Calibri"/>
              <a:buNone/>
            </a:pPr>
            <a:r>
              <a:rPr b="0" i="0" lang="en-US" sz="800" u="none" cap="none" strike="noStrike">
                <a:solidFill>
                  <a:srgbClr val="2E3A47"/>
                </a:solidFill>
                <a:latin typeface="Calibri"/>
                <a:ea typeface="Calibri"/>
                <a:cs typeface="Calibri"/>
                <a:sym typeface="Calibri"/>
              </a:rPr>
              <a:t>Immediate improvement in planning cycle time and visibility</a:t>
            </a:r>
            <a:endParaRPr b="0" i="0" sz="800" u="none" cap="none" strike="noStrike">
              <a:solidFill>
                <a:schemeClr val="dk1"/>
              </a:solidFill>
              <a:latin typeface="Calibri"/>
              <a:ea typeface="Calibri"/>
              <a:cs typeface="Calibri"/>
              <a:sym typeface="Calibri"/>
            </a:endParaRPr>
          </a:p>
        </p:txBody>
      </p:sp>
      <p:sp>
        <p:nvSpPr>
          <p:cNvPr id="667" name="Google Shape;667;p17"/>
          <p:cNvSpPr/>
          <p:nvPr/>
        </p:nvSpPr>
        <p:spPr>
          <a:xfrm>
            <a:off x="384048" y="4050792"/>
            <a:ext cx="1828800" cy="164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700"/>
              <a:buFont typeface="Calibri"/>
              <a:buNone/>
            </a:pPr>
            <a:r>
              <a:rPr b="1" i="0" lang="en-US" sz="800" u="none" cap="none" strike="noStrike">
                <a:solidFill>
                  <a:srgbClr val="C0392B"/>
                </a:solidFill>
                <a:latin typeface="Calibri"/>
                <a:ea typeface="Calibri"/>
                <a:cs typeface="Calibri"/>
                <a:sym typeface="Calibri"/>
              </a:rPr>
              <a:t>Moat:</a:t>
            </a:r>
            <a:endParaRPr b="0" i="0" sz="800" u="none" cap="none" strike="noStrike">
              <a:solidFill>
                <a:schemeClr val="dk1"/>
              </a:solidFill>
              <a:latin typeface="Calibri"/>
              <a:ea typeface="Calibri"/>
              <a:cs typeface="Calibri"/>
              <a:sym typeface="Calibri"/>
            </a:endParaRPr>
          </a:p>
        </p:txBody>
      </p:sp>
      <p:sp>
        <p:nvSpPr>
          <p:cNvPr id="668" name="Google Shape;668;p17"/>
          <p:cNvSpPr/>
          <p:nvPr/>
        </p:nvSpPr>
        <p:spPr>
          <a:xfrm>
            <a:off x="384048" y="4206240"/>
            <a:ext cx="1828800" cy="2560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E3A47"/>
              </a:buClr>
              <a:buSzPts val="700"/>
              <a:buFont typeface="Calibri"/>
              <a:buNone/>
            </a:pPr>
            <a:r>
              <a:rPr b="0" i="0" lang="en-US" sz="800" u="none" cap="none" strike="noStrike">
                <a:solidFill>
                  <a:srgbClr val="2E3A47"/>
                </a:solidFill>
                <a:latin typeface="Calibri"/>
                <a:ea typeface="Calibri"/>
                <a:cs typeface="Calibri"/>
                <a:sym typeface="Calibri"/>
              </a:rPr>
              <a:t>Structured demand signal + override rationale dataset begins forming</a:t>
            </a:r>
            <a:endParaRPr b="0" i="0" sz="800" u="none" cap="none" strike="noStrike">
              <a:solidFill>
                <a:schemeClr val="dk1"/>
              </a:solidFill>
              <a:latin typeface="Calibri"/>
              <a:ea typeface="Calibri"/>
              <a:cs typeface="Calibri"/>
              <a:sym typeface="Calibri"/>
            </a:endParaRPr>
          </a:p>
        </p:txBody>
      </p:sp>
      <p:sp>
        <p:nvSpPr>
          <p:cNvPr id="669" name="Google Shape;669;p17"/>
          <p:cNvSpPr/>
          <p:nvPr/>
        </p:nvSpPr>
        <p:spPr>
          <a:xfrm>
            <a:off x="2432304" y="749808"/>
            <a:ext cx="2011680" cy="3767328"/>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70" name="Google Shape;670;p17"/>
          <p:cNvSpPr/>
          <p:nvPr/>
        </p:nvSpPr>
        <p:spPr>
          <a:xfrm>
            <a:off x="2432304" y="749808"/>
            <a:ext cx="2011680" cy="658368"/>
          </a:xfrm>
          <a:prstGeom prst="rect">
            <a:avLst/>
          </a:prstGeom>
          <a:solidFill>
            <a:srgbClr val="2E6DA4"/>
          </a:solidFill>
          <a:ln cap="flat" cmpd="sng" w="12700">
            <a:solidFill>
              <a:srgbClr val="2E6D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7"/>
          <p:cNvSpPr/>
          <p:nvPr/>
        </p:nvSpPr>
        <p:spPr>
          <a:xfrm>
            <a:off x="2542032" y="804672"/>
            <a:ext cx="4572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02</a:t>
            </a:r>
            <a:endParaRPr b="0" i="0" sz="1600" u="none" cap="none" strike="noStrike">
              <a:solidFill>
                <a:schemeClr val="dk1"/>
              </a:solidFill>
              <a:latin typeface="Calibri"/>
              <a:ea typeface="Calibri"/>
              <a:cs typeface="Calibri"/>
              <a:sym typeface="Calibri"/>
            </a:endParaRPr>
          </a:p>
        </p:txBody>
      </p:sp>
      <p:sp>
        <p:nvSpPr>
          <p:cNvPr id="672" name="Google Shape;672;p17"/>
          <p:cNvSpPr/>
          <p:nvPr/>
        </p:nvSpPr>
        <p:spPr>
          <a:xfrm>
            <a:off x="2542032" y="1078992"/>
            <a:ext cx="18288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AI Sensing</a:t>
            </a:r>
            <a:endParaRPr b="0" i="0" sz="900" u="none" cap="none" strike="noStrike">
              <a:solidFill>
                <a:schemeClr val="dk1"/>
              </a:solidFill>
              <a:latin typeface="Calibri"/>
              <a:ea typeface="Calibri"/>
              <a:cs typeface="Calibri"/>
              <a:sym typeface="Calibri"/>
            </a:endParaRPr>
          </a:p>
        </p:txBody>
      </p:sp>
      <p:sp>
        <p:nvSpPr>
          <p:cNvPr id="673" name="Google Shape;673;p17"/>
          <p:cNvSpPr/>
          <p:nvPr/>
        </p:nvSpPr>
        <p:spPr>
          <a:xfrm>
            <a:off x="3529584" y="804672"/>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8C4DC"/>
              </a:buClr>
              <a:buSzPts val="750"/>
              <a:buFont typeface="Calibri"/>
              <a:buNone/>
            </a:pPr>
            <a:r>
              <a:rPr b="0" i="0" lang="en-US" sz="750" u="none" cap="none" strike="noStrike">
                <a:solidFill>
                  <a:srgbClr val="A8C4DC"/>
                </a:solidFill>
                <a:latin typeface="Calibri"/>
                <a:ea typeface="Calibri"/>
                <a:cs typeface="Calibri"/>
                <a:sym typeface="Calibri"/>
              </a:rPr>
              <a:t>6-12 months</a:t>
            </a:r>
            <a:endParaRPr b="0" i="0" sz="750" u="none" cap="none" strike="noStrike">
              <a:solidFill>
                <a:schemeClr val="dk1"/>
              </a:solidFill>
              <a:latin typeface="Calibri"/>
              <a:ea typeface="Calibri"/>
              <a:cs typeface="Calibri"/>
              <a:sym typeface="Calibri"/>
            </a:endParaRPr>
          </a:p>
        </p:txBody>
      </p:sp>
      <p:sp>
        <p:nvSpPr>
          <p:cNvPr id="674" name="Google Shape;674;p17"/>
          <p:cNvSpPr/>
          <p:nvPr/>
        </p:nvSpPr>
        <p:spPr>
          <a:xfrm>
            <a:off x="2542032" y="1499616"/>
            <a:ext cx="18288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750"/>
              <a:buFont typeface="Calibri"/>
              <a:buNone/>
            </a:pPr>
            <a:r>
              <a:rPr b="1" i="0" lang="en-US" sz="750" u="none" cap="none" strike="noStrike">
                <a:solidFill>
                  <a:srgbClr val="C0392B"/>
                </a:solidFill>
                <a:latin typeface="Calibri"/>
                <a:ea typeface="Calibri"/>
                <a:cs typeface="Calibri"/>
                <a:sym typeface="Calibri"/>
              </a:rPr>
              <a:t>Scope</a:t>
            </a:r>
            <a:endParaRPr b="0" i="0" sz="750" u="none" cap="none" strike="noStrike">
              <a:solidFill>
                <a:schemeClr val="dk1"/>
              </a:solidFill>
              <a:latin typeface="Calibri"/>
              <a:ea typeface="Calibri"/>
              <a:cs typeface="Calibri"/>
              <a:sym typeface="Calibri"/>
            </a:endParaRPr>
          </a:p>
        </p:txBody>
      </p:sp>
      <p:sp>
        <p:nvSpPr>
          <p:cNvPr id="675" name="Google Shape;675;p17"/>
          <p:cNvSpPr/>
          <p:nvPr/>
        </p:nvSpPr>
        <p:spPr>
          <a:xfrm>
            <a:off x="2560320" y="1810512"/>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7"/>
          <p:cNvSpPr/>
          <p:nvPr/>
        </p:nvSpPr>
        <p:spPr>
          <a:xfrm>
            <a:off x="2670048" y="1754301"/>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Train ML models on override and actuals data</a:t>
            </a:r>
            <a:endParaRPr b="0" i="0" sz="950" u="none" cap="none" strike="noStrike">
              <a:solidFill>
                <a:schemeClr val="dk1"/>
              </a:solidFill>
              <a:latin typeface="Calibri"/>
              <a:ea typeface="Calibri"/>
              <a:cs typeface="Calibri"/>
              <a:sym typeface="Calibri"/>
            </a:endParaRPr>
          </a:p>
        </p:txBody>
      </p:sp>
      <p:sp>
        <p:nvSpPr>
          <p:cNvPr id="677" name="Google Shape;677;p17"/>
          <p:cNvSpPr/>
          <p:nvPr/>
        </p:nvSpPr>
        <p:spPr>
          <a:xfrm>
            <a:off x="2560320" y="2212848"/>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2670048" y="2156637"/>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Add confidence ranges and anomaly detection</a:t>
            </a:r>
            <a:endParaRPr b="0" i="0" sz="950" u="none" cap="none" strike="noStrike">
              <a:solidFill>
                <a:schemeClr val="dk1"/>
              </a:solidFill>
              <a:latin typeface="Calibri"/>
              <a:ea typeface="Calibri"/>
              <a:cs typeface="Calibri"/>
              <a:sym typeface="Calibri"/>
            </a:endParaRPr>
          </a:p>
        </p:txBody>
      </p:sp>
      <p:sp>
        <p:nvSpPr>
          <p:cNvPr id="679" name="Google Shape;679;p17"/>
          <p:cNvSpPr/>
          <p:nvPr/>
        </p:nvSpPr>
        <p:spPr>
          <a:xfrm>
            <a:off x="2560320" y="2615184"/>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a:off x="2670048" y="2558973"/>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Launch FVA tracking and bias analytics</a:t>
            </a:r>
            <a:endParaRPr b="0" i="0" sz="950" u="none" cap="none" strike="noStrike">
              <a:solidFill>
                <a:schemeClr val="dk1"/>
              </a:solidFill>
              <a:latin typeface="Calibri"/>
              <a:ea typeface="Calibri"/>
              <a:cs typeface="Calibri"/>
              <a:sym typeface="Calibri"/>
            </a:endParaRPr>
          </a:p>
        </p:txBody>
      </p:sp>
      <p:cxnSp>
        <p:nvCxnSpPr>
          <p:cNvPr id="681" name="Google Shape;681;p17"/>
          <p:cNvCxnSpPr/>
          <p:nvPr/>
        </p:nvCxnSpPr>
        <p:spPr>
          <a:xfrm>
            <a:off x="2542032" y="3547872"/>
            <a:ext cx="1792224" cy="0"/>
          </a:xfrm>
          <a:prstGeom prst="straightConnector1">
            <a:avLst/>
          </a:prstGeom>
          <a:noFill/>
          <a:ln cap="flat" cmpd="sng" w="9525">
            <a:solidFill>
              <a:srgbClr val="D8DFE8"/>
            </a:solidFill>
            <a:prstDash val="solid"/>
            <a:round/>
            <a:headEnd len="sm" w="sm" type="none"/>
            <a:tailEnd len="sm" w="sm" type="none"/>
          </a:ln>
        </p:spPr>
      </p:cxnSp>
      <p:sp>
        <p:nvSpPr>
          <p:cNvPr id="682" name="Google Shape;682;p17"/>
          <p:cNvSpPr/>
          <p:nvPr/>
        </p:nvSpPr>
        <p:spPr>
          <a:xfrm>
            <a:off x="2542032" y="3602736"/>
            <a:ext cx="1828800" cy="164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700"/>
              <a:buFont typeface="Calibri"/>
              <a:buNone/>
            </a:pPr>
            <a:r>
              <a:rPr b="1" i="0" lang="en-US" sz="800" u="none" cap="none" strike="noStrike">
                <a:solidFill>
                  <a:srgbClr val="1B3A5C"/>
                </a:solidFill>
                <a:latin typeface="Calibri"/>
                <a:ea typeface="Calibri"/>
                <a:cs typeface="Calibri"/>
                <a:sym typeface="Calibri"/>
              </a:rPr>
              <a:t>Value delivered:</a:t>
            </a:r>
            <a:endParaRPr b="0" i="0" sz="800" u="none" cap="none" strike="noStrike">
              <a:solidFill>
                <a:schemeClr val="dk1"/>
              </a:solidFill>
              <a:latin typeface="Calibri"/>
              <a:ea typeface="Calibri"/>
              <a:cs typeface="Calibri"/>
              <a:sym typeface="Calibri"/>
            </a:endParaRPr>
          </a:p>
        </p:txBody>
      </p:sp>
      <p:sp>
        <p:nvSpPr>
          <p:cNvPr id="683" name="Google Shape;683;p17"/>
          <p:cNvSpPr/>
          <p:nvPr/>
        </p:nvSpPr>
        <p:spPr>
          <a:xfrm>
            <a:off x="2542032" y="3767328"/>
            <a:ext cx="1828800" cy="2560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E3A47"/>
              </a:buClr>
              <a:buSzPts val="700"/>
              <a:buFont typeface="Calibri"/>
              <a:buNone/>
            </a:pPr>
            <a:r>
              <a:rPr b="0" i="0" lang="en-US" sz="800" u="none" cap="none" strike="noStrike">
                <a:solidFill>
                  <a:srgbClr val="2E3A47"/>
                </a:solidFill>
                <a:latin typeface="Calibri"/>
                <a:ea typeface="Calibri"/>
                <a:cs typeface="Calibri"/>
                <a:sym typeface="Calibri"/>
              </a:rPr>
              <a:t>Measurable improvement in forecast accuracy</a:t>
            </a:r>
            <a:endParaRPr b="0" i="0" sz="800" u="none" cap="none" strike="noStrike">
              <a:solidFill>
                <a:schemeClr val="dk1"/>
              </a:solidFill>
              <a:latin typeface="Calibri"/>
              <a:ea typeface="Calibri"/>
              <a:cs typeface="Calibri"/>
              <a:sym typeface="Calibri"/>
            </a:endParaRPr>
          </a:p>
        </p:txBody>
      </p:sp>
      <p:sp>
        <p:nvSpPr>
          <p:cNvPr id="684" name="Google Shape;684;p17"/>
          <p:cNvSpPr/>
          <p:nvPr/>
        </p:nvSpPr>
        <p:spPr>
          <a:xfrm>
            <a:off x="2542032" y="4050792"/>
            <a:ext cx="1828800" cy="164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700"/>
              <a:buFont typeface="Calibri"/>
              <a:buNone/>
            </a:pPr>
            <a:r>
              <a:rPr b="1" i="0" lang="en-US" sz="800" u="none" cap="none" strike="noStrike">
                <a:solidFill>
                  <a:srgbClr val="C0392B"/>
                </a:solidFill>
                <a:latin typeface="Calibri"/>
                <a:ea typeface="Calibri"/>
                <a:cs typeface="Calibri"/>
                <a:sym typeface="Calibri"/>
              </a:rPr>
              <a:t>Moat:</a:t>
            </a:r>
            <a:endParaRPr b="0" i="0" sz="800" u="none" cap="none" strike="noStrike">
              <a:solidFill>
                <a:schemeClr val="dk1"/>
              </a:solidFill>
              <a:latin typeface="Calibri"/>
              <a:ea typeface="Calibri"/>
              <a:cs typeface="Calibri"/>
              <a:sym typeface="Calibri"/>
            </a:endParaRPr>
          </a:p>
        </p:txBody>
      </p:sp>
      <p:sp>
        <p:nvSpPr>
          <p:cNvPr id="685" name="Google Shape;685;p17"/>
          <p:cNvSpPr/>
          <p:nvPr/>
        </p:nvSpPr>
        <p:spPr>
          <a:xfrm>
            <a:off x="2542032" y="4206240"/>
            <a:ext cx="1828800" cy="2560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E3A47"/>
              </a:buClr>
              <a:buSzPts val="700"/>
              <a:buFont typeface="Calibri"/>
              <a:buNone/>
            </a:pPr>
            <a:r>
              <a:rPr b="0" i="0" lang="en-US" sz="800" u="none" cap="none" strike="noStrike">
                <a:solidFill>
                  <a:srgbClr val="2E3A47"/>
                </a:solidFill>
                <a:latin typeface="Calibri"/>
                <a:ea typeface="Calibri"/>
                <a:cs typeface="Calibri"/>
                <a:sym typeface="Calibri"/>
              </a:rPr>
              <a:t>Customer-specific learning loop tied to real planning behavior</a:t>
            </a:r>
            <a:endParaRPr b="0" i="0" sz="800" u="none" cap="none" strike="noStrike">
              <a:solidFill>
                <a:schemeClr val="dk1"/>
              </a:solidFill>
              <a:latin typeface="Calibri"/>
              <a:ea typeface="Calibri"/>
              <a:cs typeface="Calibri"/>
              <a:sym typeface="Calibri"/>
            </a:endParaRPr>
          </a:p>
        </p:txBody>
      </p:sp>
      <p:sp>
        <p:nvSpPr>
          <p:cNvPr id="686" name="Google Shape;686;p17"/>
          <p:cNvSpPr/>
          <p:nvPr/>
        </p:nvSpPr>
        <p:spPr>
          <a:xfrm>
            <a:off x="4590288" y="749808"/>
            <a:ext cx="2011680" cy="3767328"/>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87" name="Google Shape;687;p17"/>
          <p:cNvSpPr/>
          <p:nvPr/>
        </p:nvSpPr>
        <p:spPr>
          <a:xfrm>
            <a:off x="4590288" y="749808"/>
            <a:ext cx="2011680" cy="658368"/>
          </a:xfrm>
          <a:prstGeom prst="rect">
            <a:avLst/>
          </a:prstGeom>
          <a:solidFill>
            <a:srgbClr val="3D5C6E"/>
          </a:solidFill>
          <a:ln cap="flat" cmpd="sng" w="12700">
            <a:solidFill>
              <a:srgbClr val="3D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7"/>
          <p:cNvSpPr/>
          <p:nvPr/>
        </p:nvSpPr>
        <p:spPr>
          <a:xfrm>
            <a:off x="4700016" y="804672"/>
            <a:ext cx="4572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03</a:t>
            </a:r>
            <a:endParaRPr b="0" i="0" sz="1600" u="none" cap="none" strike="noStrike">
              <a:solidFill>
                <a:schemeClr val="dk1"/>
              </a:solidFill>
              <a:latin typeface="Calibri"/>
              <a:ea typeface="Calibri"/>
              <a:cs typeface="Calibri"/>
              <a:sym typeface="Calibri"/>
            </a:endParaRPr>
          </a:p>
        </p:txBody>
      </p:sp>
      <p:sp>
        <p:nvSpPr>
          <p:cNvPr id="689" name="Google Shape;689;p17"/>
          <p:cNvSpPr/>
          <p:nvPr/>
        </p:nvSpPr>
        <p:spPr>
          <a:xfrm>
            <a:off x="4700016" y="1078992"/>
            <a:ext cx="18288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Supply Matching</a:t>
            </a:r>
            <a:endParaRPr b="0" i="0" sz="900" u="none" cap="none" strike="noStrike">
              <a:solidFill>
                <a:schemeClr val="dk1"/>
              </a:solidFill>
              <a:latin typeface="Calibri"/>
              <a:ea typeface="Calibri"/>
              <a:cs typeface="Calibri"/>
              <a:sym typeface="Calibri"/>
            </a:endParaRPr>
          </a:p>
        </p:txBody>
      </p:sp>
      <p:sp>
        <p:nvSpPr>
          <p:cNvPr id="690" name="Google Shape;690;p17"/>
          <p:cNvSpPr/>
          <p:nvPr/>
        </p:nvSpPr>
        <p:spPr>
          <a:xfrm>
            <a:off x="5687568" y="804672"/>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8C4DC"/>
              </a:buClr>
              <a:buSzPts val="750"/>
              <a:buFont typeface="Calibri"/>
              <a:buNone/>
            </a:pPr>
            <a:r>
              <a:rPr b="0" i="0" lang="en-US" sz="750" u="none" cap="none" strike="noStrike">
                <a:solidFill>
                  <a:srgbClr val="A8C4DC"/>
                </a:solidFill>
                <a:latin typeface="Calibri"/>
                <a:ea typeface="Calibri"/>
                <a:cs typeface="Calibri"/>
                <a:sym typeface="Calibri"/>
              </a:rPr>
              <a:t>12-18 months</a:t>
            </a:r>
            <a:endParaRPr b="0" i="0" sz="750" u="none" cap="none" strike="noStrike">
              <a:solidFill>
                <a:schemeClr val="dk1"/>
              </a:solidFill>
              <a:latin typeface="Calibri"/>
              <a:ea typeface="Calibri"/>
              <a:cs typeface="Calibri"/>
              <a:sym typeface="Calibri"/>
            </a:endParaRPr>
          </a:p>
        </p:txBody>
      </p:sp>
      <p:sp>
        <p:nvSpPr>
          <p:cNvPr id="691" name="Google Shape;691;p17"/>
          <p:cNvSpPr/>
          <p:nvPr/>
        </p:nvSpPr>
        <p:spPr>
          <a:xfrm>
            <a:off x="4700016" y="1499616"/>
            <a:ext cx="18288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750"/>
              <a:buFont typeface="Calibri"/>
              <a:buNone/>
            </a:pPr>
            <a:r>
              <a:rPr b="1" i="0" lang="en-US" sz="750" u="none" cap="none" strike="noStrike">
                <a:solidFill>
                  <a:srgbClr val="C0392B"/>
                </a:solidFill>
                <a:latin typeface="Calibri"/>
                <a:ea typeface="Calibri"/>
                <a:cs typeface="Calibri"/>
                <a:sym typeface="Calibri"/>
              </a:rPr>
              <a:t>Scope</a:t>
            </a:r>
            <a:endParaRPr b="0" i="0" sz="750" u="none" cap="none" strike="noStrike">
              <a:solidFill>
                <a:schemeClr val="dk1"/>
              </a:solidFill>
              <a:latin typeface="Calibri"/>
              <a:ea typeface="Calibri"/>
              <a:cs typeface="Calibri"/>
              <a:sym typeface="Calibri"/>
            </a:endParaRPr>
          </a:p>
        </p:txBody>
      </p:sp>
      <p:sp>
        <p:nvSpPr>
          <p:cNvPr id="692" name="Google Shape;692;p17"/>
          <p:cNvSpPr/>
          <p:nvPr/>
        </p:nvSpPr>
        <p:spPr>
          <a:xfrm>
            <a:off x="4718304" y="1810512"/>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7"/>
          <p:cNvSpPr/>
          <p:nvPr/>
        </p:nvSpPr>
        <p:spPr>
          <a:xfrm>
            <a:off x="4828032" y="1754301"/>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Launch demand-supply matching engine</a:t>
            </a:r>
            <a:endParaRPr b="0" i="0" sz="950" u="none" cap="none" strike="noStrike">
              <a:solidFill>
                <a:schemeClr val="dk1"/>
              </a:solidFill>
              <a:latin typeface="Calibri"/>
              <a:ea typeface="Calibri"/>
              <a:cs typeface="Calibri"/>
              <a:sym typeface="Calibri"/>
            </a:endParaRPr>
          </a:p>
        </p:txBody>
      </p:sp>
      <p:sp>
        <p:nvSpPr>
          <p:cNvPr id="694" name="Google Shape;694;p17"/>
          <p:cNvSpPr/>
          <p:nvPr/>
        </p:nvSpPr>
        <p:spPr>
          <a:xfrm>
            <a:off x="4718304" y="2212848"/>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a:off x="4828032" y="2156637"/>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Introduce AOG risk scoring per tail</a:t>
            </a:r>
            <a:endParaRPr b="0" i="0" sz="950" u="none" cap="none" strike="noStrike">
              <a:solidFill>
                <a:schemeClr val="dk1"/>
              </a:solidFill>
              <a:latin typeface="Calibri"/>
              <a:ea typeface="Calibri"/>
              <a:cs typeface="Calibri"/>
              <a:sym typeface="Calibri"/>
            </a:endParaRPr>
          </a:p>
        </p:txBody>
      </p:sp>
      <p:sp>
        <p:nvSpPr>
          <p:cNvPr id="696" name="Google Shape;696;p17"/>
          <p:cNvSpPr/>
          <p:nvPr/>
        </p:nvSpPr>
        <p:spPr>
          <a:xfrm>
            <a:off x="4718304" y="2502450"/>
            <a:ext cx="54900" cy="549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7"/>
          <p:cNvSpPr/>
          <p:nvPr/>
        </p:nvSpPr>
        <p:spPr>
          <a:xfrm>
            <a:off x="4828032" y="2446239"/>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Generate repositioning recommendations with trade-off visibility</a:t>
            </a:r>
            <a:endParaRPr b="0" i="0" sz="950" u="none" cap="none" strike="noStrike">
              <a:solidFill>
                <a:schemeClr val="dk1"/>
              </a:solidFill>
              <a:latin typeface="Calibri"/>
              <a:ea typeface="Calibri"/>
              <a:cs typeface="Calibri"/>
              <a:sym typeface="Calibri"/>
            </a:endParaRPr>
          </a:p>
        </p:txBody>
      </p:sp>
      <p:sp>
        <p:nvSpPr>
          <p:cNvPr id="698" name="Google Shape;698;p17"/>
          <p:cNvSpPr/>
          <p:nvPr/>
        </p:nvSpPr>
        <p:spPr>
          <a:xfrm>
            <a:off x="4718304" y="3017520"/>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7"/>
          <p:cNvSpPr/>
          <p:nvPr/>
        </p:nvSpPr>
        <p:spPr>
          <a:xfrm>
            <a:off x="4828032" y="2961309"/>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Auto-generate S&amp;OP planning package</a:t>
            </a:r>
            <a:endParaRPr b="0" i="0" sz="950" u="none" cap="none" strike="noStrike">
              <a:solidFill>
                <a:schemeClr val="dk1"/>
              </a:solidFill>
              <a:latin typeface="Calibri"/>
              <a:ea typeface="Calibri"/>
              <a:cs typeface="Calibri"/>
              <a:sym typeface="Calibri"/>
            </a:endParaRPr>
          </a:p>
        </p:txBody>
      </p:sp>
      <p:cxnSp>
        <p:nvCxnSpPr>
          <p:cNvPr id="700" name="Google Shape;700;p17"/>
          <p:cNvCxnSpPr/>
          <p:nvPr/>
        </p:nvCxnSpPr>
        <p:spPr>
          <a:xfrm>
            <a:off x="4700016" y="3547872"/>
            <a:ext cx="1792224" cy="0"/>
          </a:xfrm>
          <a:prstGeom prst="straightConnector1">
            <a:avLst/>
          </a:prstGeom>
          <a:noFill/>
          <a:ln cap="flat" cmpd="sng" w="9525">
            <a:solidFill>
              <a:srgbClr val="D8DFE8"/>
            </a:solidFill>
            <a:prstDash val="solid"/>
            <a:round/>
            <a:headEnd len="sm" w="sm" type="none"/>
            <a:tailEnd len="sm" w="sm" type="none"/>
          </a:ln>
        </p:spPr>
      </p:cxnSp>
      <p:sp>
        <p:nvSpPr>
          <p:cNvPr id="701" name="Google Shape;701;p17"/>
          <p:cNvSpPr/>
          <p:nvPr/>
        </p:nvSpPr>
        <p:spPr>
          <a:xfrm>
            <a:off x="4700016" y="3602736"/>
            <a:ext cx="1828800" cy="164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700"/>
              <a:buFont typeface="Calibri"/>
              <a:buNone/>
            </a:pPr>
            <a:r>
              <a:rPr b="1" i="0" lang="en-US" sz="800" u="none" cap="none" strike="noStrike">
                <a:solidFill>
                  <a:srgbClr val="1B3A5C"/>
                </a:solidFill>
                <a:latin typeface="Calibri"/>
                <a:ea typeface="Calibri"/>
                <a:cs typeface="Calibri"/>
                <a:sym typeface="Calibri"/>
              </a:rPr>
              <a:t>Value delivered:</a:t>
            </a:r>
            <a:endParaRPr b="0" i="0" sz="800" u="none" cap="none" strike="noStrike">
              <a:solidFill>
                <a:schemeClr val="dk1"/>
              </a:solidFill>
              <a:latin typeface="Calibri"/>
              <a:ea typeface="Calibri"/>
              <a:cs typeface="Calibri"/>
              <a:sym typeface="Calibri"/>
            </a:endParaRPr>
          </a:p>
        </p:txBody>
      </p:sp>
      <p:sp>
        <p:nvSpPr>
          <p:cNvPr id="702" name="Google Shape;702;p17"/>
          <p:cNvSpPr/>
          <p:nvPr/>
        </p:nvSpPr>
        <p:spPr>
          <a:xfrm>
            <a:off x="4700016" y="3767328"/>
            <a:ext cx="1828800" cy="2560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E3A47"/>
              </a:buClr>
              <a:buSzPts val="700"/>
              <a:buFont typeface="Calibri"/>
              <a:buNone/>
            </a:pPr>
            <a:r>
              <a:rPr b="0" i="0" lang="en-US" sz="800" u="none" cap="none" strike="noStrike">
                <a:solidFill>
                  <a:srgbClr val="2E3A47"/>
                </a:solidFill>
                <a:latin typeface="Calibri"/>
                <a:ea typeface="Calibri"/>
                <a:cs typeface="Calibri"/>
                <a:sym typeface="Calibri"/>
              </a:rPr>
              <a:t>Shift from reactive execution to proactive risk management</a:t>
            </a:r>
            <a:endParaRPr b="0" i="0" sz="800" u="none" cap="none" strike="noStrike">
              <a:solidFill>
                <a:schemeClr val="dk1"/>
              </a:solidFill>
              <a:latin typeface="Calibri"/>
              <a:ea typeface="Calibri"/>
              <a:cs typeface="Calibri"/>
              <a:sym typeface="Calibri"/>
            </a:endParaRPr>
          </a:p>
        </p:txBody>
      </p:sp>
      <p:sp>
        <p:nvSpPr>
          <p:cNvPr id="703" name="Google Shape;703;p17"/>
          <p:cNvSpPr/>
          <p:nvPr/>
        </p:nvSpPr>
        <p:spPr>
          <a:xfrm>
            <a:off x="4700016" y="4050792"/>
            <a:ext cx="1828800" cy="164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700"/>
              <a:buFont typeface="Calibri"/>
              <a:buNone/>
            </a:pPr>
            <a:r>
              <a:rPr b="1" i="0" lang="en-US" sz="800" u="none" cap="none" strike="noStrike">
                <a:solidFill>
                  <a:srgbClr val="C0392B"/>
                </a:solidFill>
                <a:latin typeface="Calibri"/>
                <a:ea typeface="Calibri"/>
                <a:cs typeface="Calibri"/>
                <a:sym typeface="Calibri"/>
              </a:rPr>
              <a:t>Moat:</a:t>
            </a:r>
            <a:endParaRPr b="0" i="0" sz="800" u="none" cap="none" strike="noStrike">
              <a:solidFill>
                <a:schemeClr val="dk1"/>
              </a:solidFill>
              <a:latin typeface="Calibri"/>
              <a:ea typeface="Calibri"/>
              <a:cs typeface="Calibri"/>
              <a:sym typeface="Calibri"/>
            </a:endParaRPr>
          </a:p>
        </p:txBody>
      </p:sp>
      <p:sp>
        <p:nvSpPr>
          <p:cNvPr id="704" name="Google Shape;704;p17"/>
          <p:cNvSpPr/>
          <p:nvPr/>
        </p:nvSpPr>
        <p:spPr>
          <a:xfrm>
            <a:off x="4700016" y="4206240"/>
            <a:ext cx="1828800" cy="2560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E3A47"/>
              </a:buClr>
              <a:buSzPts val="700"/>
              <a:buFont typeface="Calibri"/>
              <a:buNone/>
            </a:pPr>
            <a:r>
              <a:rPr b="0" i="0" lang="en-US" sz="800" u="none" cap="none" strike="noStrike">
                <a:solidFill>
                  <a:srgbClr val="2E3A47"/>
                </a:solidFill>
                <a:latin typeface="Calibri"/>
                <a:ea typeface="Calibri"/>
                <a:cs typeface="Calibri"/>
                <a:sym typeface="Calibri"/>
              </a:rPr>
              <a:t>Workflow integration into S&amp;OP and supply decision processes</a:t>
            </a:r>
            <a:endParaRPr b="0" i="0" sz="800" u="none" cap="none" strike="noStrike">
              <a:solidFill>
                <a:schemeClr val="dk1"/>
              </a:solidFill>
              <a:latin typeface="Calibri"/>
              <a:ea typeface="Calibri"/>
              <a:cs typeface="Calibri"/>
              <a:sym typeface="Calibri"/>
            </a:endParaRPr>
          </a:p>
        </p:txBody>
      </p:sp>
      <p:sp>
        <p:nvSpPr>
          <p:cNvPr id="705" name="Google Shape;705;p17"/>
          <p:cNvSpPr/>
          <p:nvPr/>
        </p:nvSpPr>
        <p:spPr>
          <a:xfrm>
            <a:off x="6748272" y="749808"/>
            <a:ext cx="2011680" cy="3767328"/>
          </a:xfrm>
          <a:prstGeom prst="rect">
            <a:avLst/>
          </a:prstGeom>
          <a:solidFill>
            <a:srgbClr val="FFFFFF"/>
          </a:solidFill>
          <a:ln cap="flat" cmpd="sng" w="9525">
            <a:solidFill>
              <a:srgbClr val="D8DFE8"/>
            </a:solidFill>
            <a:prstDash val="solid"/>
            <a:round/>
            <a:headEnd len="sm" w="sm" type="none"/>
            <a:tailEnd len="sm" w="sm" type="none"/>
          </a:ln>
          <a:effectLst>
            <a:outerShdw blurRad="63500" rotWithShape="0" algn="bl" dir="81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706" name="Google Shape;706;p17"/>
          <p:cNvSpPr/>
          <p:nvPr/>
        </p:nvSpPr>
        <p:spPr>
          <a:xfrm>
            <a:off x="6748272" y="749808"/>
            <a:ext cx="2011680" cy="658368"/>
          </a:xfrm>
          <a:prstGeom prst="rect">
            <a:avLst/>
          </a:prstGeom>
          <a:solidFill>
            <a:srgbClr val="4A6741"/>
          </a:solidFill>
          <a:ln cap="flat" cmpd="sng" w="12700">
            <a:solidFill>
              <a:srgbClr val="4A67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7"/>
          <p:cNvSpPr/>
          <p:nvPr/>
        </p:nvSpPr>
        <p:spPr>
          <a:xfrm>
            <a:off x="6858000" y="804672"/>
            <a:ext cx="4572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04</a:t>
            </a:r>
            <a:endParaRPr b="0" i="0" sz="1600" u="none" cap="none" strike="noStrike">
              <a:solidFill>
                <a:schemeClr val="dk1"/>
              </a:solidFill>
              <a:latin typeface="Calibri"/>
              <a:ea typeface="Calibri"/>
              <a:cs typeface="Calibri"/>
              <a:sym typeface="Calibri"/>
            </a:endParaRPr>
          </a:p>
        </p:txBody>
      </p:sp>
      <p:sp>
        <p:nvSpPr>
          <p:cNvPr id="708" name="Google Shape;708;p17"/>
          <p:cNvSpPr/>
          <p:nvPr/>
        </p:nvSpPr>
        <p:spPr>
          <a:xfrm>
            <a:off x="6858000" y="1078992"/>
            <a:ext cx="18288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Agentic Planning</a:t>
            </a:r>
            <a:endParaRPr b="0" i="0" sz="900" u="none" cap="none" strike="noStrike">
              <a:solidFill>
                <a:schemeClr val="dk1"/>
              </a:solidFill>
              <a:latin typeface="Calibri"/>
              <a:ea typeface="Calibri"/>
              <a:cs typeface="Calibri"/>
              <a:sym typeface="Calibri"/>
            </a:endParaRPr>
          </a:p>
        </p:txBody>
      </p:sp>
      <p:sp>
        <p:nvSpPr>
          <p:cNvPr id="709" name="Google Shape;709;p17"/>
          <p:cNvSpPr/>
          <p:nvPr/>
        </p:nvSpPr>
        <p:spPr>
          <a:xfrm>
            <a:off x="7845552" y="804672"/>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8C4DC"/>
              </a:buClr>
              <a:buSzPts val="750"/>
              <a:buFont typeface="Calibri"/>
              <a:buNone/>
            </a:pPr>
            <a:r>
              <a:rPr b="0" i="0" lang="en-US" sz="750" u="none" cap="none" strike="noStrike">
                <a:solidFill>
                  <a:srgbClr val="A8C4DC"/>
                </a:solidFill>
                <a:latin typeface="Calibri"/>
                <a:ea typeface="Calibri"/>
                <a:cs typeface="Calibri"/>
                <a:sym typeface="Calibri"/>
              </a:rPr>
              <a:t>18-24 months</a:t>
            </a:r>
            <a:endParaRPr b="0" i="0" sz="750" u="none" cap="none" strike="noStrike">
              <a:solidFill>
                <a:schemeClr val="dk1"/>
              </a:solidFill>
              <a:latin typeface="Calibri"/>
              <a:ea typeface="Calibri"/>
              <a:cs typeface="Calibri"/>
              <a:sym typeface="Calibri"/>
            </a:endParaRPr>
          </a:p>
        </p:txBody>
      </p:sp>
      <p:sp>
        <p:nvSpPr>
          <p:cNvPr id="710" name="Google Shape;710;p17"/>
          <p:cNvSpPr/>
          <p:nvPr/>
        </p:nvSpPr>
        <p:spPr>
          <a:xfrm>
            <a:off x="6858000" y="1499616"/>
            <a:ext cx="18288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750"/>
              <a:buFont typeface="Calibri"/>
              <a:buNone/>
            </a:pPr>
            <a:r>
              <a:rPr b="1" i="0" lang="en-US" sz="750" u="none" cap="none" strike="noStrike">
                <a:solidFill>
                  <a:srgbClr val="C0392B"/>
                </a:solidFill>
                <a:latin typeface="Calibri"/>
                <a:ea typeface="Calibri"/>
                <a:cs typeface="Calibri"/>
                <a:sym typeface="Calibri"/>
              </a:rPr>
              <a:t>Scope</a:t>
            </a:r>
            <a:endParaRPr b="0" i="0" sz="750" u="none" cap="none" strike="noStrike">
              <a:solidFill>
                <a:schemeClr val="dk1"/>
              </a:solidFill>
              <a:latin typeface="Calibri"/>
              <a:ea typeface="Calibri"/>
              <a:cs typeface="Calibri"/>
              <a:sym typeface="Calibri"/>
            </a:endParaRPr>
          </a:p>
        </p:txBody>
      </p:sp>
      <p:sp>
        <p:nvSpPr>
          <p:cNvPr id="711" name="Google Shape;711;p17"/>
          <p:cNvSpPr/>
          <p:nvPr/>
        </p:nvSpPr>
        <p:spPr>
          <a:xfrm>
            <a:off x="6876288" y="1810512"/>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6986016" y="1754301"/>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Deploy autonomous agents for demand updates and risk monitoring</a:t>
            </a:r>
            <a:endParaRPr b="0" i="0" sz="950" u="none" cap="none" strike="noStrike">
              <a:solidFill>
                <a:schemeClr val="dk1"/>
              </a:solidFill>
              <a:latin typeface="Calibri"/>
              <a:ea typeface="Calibri"/>
              <a:cs typeface="Calibri"/>
              <a:sym typeface="Calibri"/>
            </a:endParaRPr>
          </a:p>
        </p:txBody>
      </p:sp>
      <p:sp>
        <p:nvSpPr>
          <p:cNvPr id="713" name="Google Shape;713;p17"/>
          <p:cNvSpPr/>
          <p:nvPr/>
        </p:nvSpPr>
        <p:spPr>
          <a:xfrm>
            <a:off x="6876288" y="2212848"/>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6986016" y="2156637"/>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Enable planner supervision and controlled autonomy</a:t>
            </a:r>
            <a:endParaRPr b="0" i="0" sz="950" u="none" cap="none" strike="noStrike">
              <a:solidFill>
                <a:schemeClr val="dk1"/>
              </a:solidFill>
              <a:latin typeface="Calibri"/>
              <a:ea typeface="Calibri"/>
              <a:cs typeface="Calibri"/>
              <a:sym typeface="Calibri"/>
            </a:endParaRPr>
          </a:p>
        </p:txBody>
      </p:sp>
      <p:sp>
        <p:nvSpPr>
          <p:cNvPr id="715" name="Google Shape;715;p17"/>
          <p:cNvSpPr/>
          <p:nvPr/>
        </p:nvSpPr>
        <p:spPr>
          <a:xfrm>
            <a:off x="6876288" y="2615184"/>
            <a:ext cx="54864"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7"/>
          <p:cNvSpPr/>
          <p:nvPr/>
        </p:nvSpPr>
        <p:spPr>
          <a:xfrm>
            <a:off x="6986016" y="2558973"/>
            <a:ext cx="16824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950" u="none" cap="none" strike="noStrike">
                <a:solidFill>
                  <a:srgbClr val="2E3A47"/>
                </a:solidFill>
                <a:latin typeface="Calibri"/>
                <a:ea typeface="Calibri"/>
                <a:cs typeface="Calibri"/>
                <a:sym typeface="Calibri"/>
              </a:rPr>
              <a:t>Expand system to continuous planning vs periodic cycles</a:t>
            </a:r>
            <a:endParaRPr b="0" i="0" sz="950" u="none" cap="none" strike="noStrike">
              <a:solidFill>
                <a:schemeClr val="dk1"/>
              </a:solidFill>
              <a:latin typeface="Calibri"/>
              <a:ea typeface="Calibri"/>
              <a:cs typeface="Calibri"/>
              <a:sym typeface="Calibri"/>
            </a:endParaRPr>
          </a:p>
        </p:txBody>
      </p:sp>
      <p:cxnSp>
        <p:nvCxnSpPr>
          <p:cNvPr id="717" name="Google Shape;717;p17"/>
          <p:cNvCxnSpPr/>
          <p:nvPr/>
        </p:nvCxnSpPr>
        <p:spPr>
          <a:xfrm>
            <a:off x="6858000" y="3547872"/>
            <a:ext cx="1792224" cy="0"/>
          </a:xfrm>
          <a:prstGeom prst="straightConnector1">
            <a:avLst/>
          </a:prstGeom>
          <a:noFill/>
          <a:ln cap="flat" cmpd="sng" w="9525">
            <a:solidFill>
              <a:srgbClr val="D8DFE8"/>
            </a:solidFill>
            <a:prstDash val="solid"/>
            <a:round/>
            <a:headEnd len="sm" w="sm" type="none"/>
            <a:tailEnd len="sm" w="sm" type="none"/>
          </a:ln>
        </p:spPr>
      </p:cxnSp>
      <p:sp>
        <p:nvSpPr>
          <p:cNvPr id="718" name="Google Shape;718;p17"/>
          <p:cNvSpPr/>
          <p:nvPr/>
        </p:nvSpPr>
        <p:spPr>
          <a:xfrm>
            <a:off x="6858000" y="3602736"/>
            <a:ext cx="1828800" cy="164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3A5C"/>
              </a:buClr>
              <a:buSzPts val="700"/>
              <a:buFont typeface="Calibri"/>
              <a:buNone/>
            </a:pPr>
            <a:r>
              <a:rPr b="1" i="0" lang="en-US" sz="800" u="none" cap="none" strike="noStrike">
                <a:solidFill>
                  <a:srgbClr val="1B3A5C"/>
                </a:solidFill>
                <a:latin typeface="Calibri"/>
                <a:ea typeface="Calibri"/>
                <a:cs typeface="Calibri"/>
                <a:sym typeface="Calibri"/>
              </a:rPr>
              <a:t>Value delivered:</a:t>
            </a:r>
            <a:endParaRPr b="0" i="0" sz="800" u="none" cap="none" strike="noStrike">
              <a:solidFill>
                <a:schemeClr val="dk1"/>
              </a:solidFill>
              <a:latin typeface="Calibri"/>
              <a:ea typeface="Calibri"/>
              <a:cs typeface="Calibri"/>
              <a:sym typeface="Calibri"/>
            </a:endParaRPr>
          </a:p>
        </p:txBody>
      </p:sp>
      <p:sp>
        <p:nvSpPr>
          <p:cNvPr id="719" name="Google Shape;719;p17"/>
          <p:cNvSpPr/>
          <p:nvPr/>
        </p:nvSpPr>
        <p:spPr>
          <a:xfrm>
            <a:off x="6858000" y="3767328"/>
            <a:ext cx="1828800" cy="2560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E3A47"/>
              </a:buClr>
              <a:buSzPts val="700"/>
              <a:buFont typeface="Calibri"/>
              <a:buNone/>
            </a:pPr>
            <a:r>
              <a:rPr b="0" i="0" lang="en-US" sz="800" u="none" cap="none" strike="noStrike">
                <a:solidFill>
                  <a:srgbClr val="2E3A47"/>
                </a:solidFill>
                <a:latin typeface="Calibri"/>
                <a:ea typeface="Calibri"/>
                <a:cs typeface="Calibri"/>
                <a:sym typeface="Calibri"/>
              </a:rPr>
              <a:t>Significant reduction in manual planning effort</a:t>
            </a:r>
            <a:endParaRPr b="0" i="0" sz="800" u="none" cap="none" strike="noStrike">
              <a:solidFill>
                <a:schemeClr val="dk1"/>
              </a:solidFill>
              <a:latin typeface="Calibri"/>
              <a:ea typeface="Calibri"/>
              <a:cs typeface="Calibri"/>
              <a:sym typeface="Calibri"/>
            </a:endParaRPr>
          </a:p>
        </p:txBody>
      </p:sp>
      <p:sp>
        <p:nvSpPr>
          <p:cNvPr id="720" name="Google Shape;720;p17"/>
          <p:cNvSpPr/>
          <p:nvPr/>
        </p:nvSpPr>
        <p:spPr>
          <a:xfrm>
            <a:off x="6858000" y="4050792"/>
            <a:ext cx="1828800" cy="1645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700"/>
              <a:buFont typeface="Calibri"/>
              <a:buNone/>
            </a:pPr>
            <a:r>
              <a:rPr b="1" i="0" lang="en-US" sz="800" u="none" cap="none" strike="noStrike">
                <a:solidFill>
                  <a:srgbClr val="C0392B"/>
                </a:solidFill>
                <a:latin typeface="Calibri"/>
                <a:ea typeface="Calibri"/>
                <a:cs typeface="Calibri"/>
                <a:sym typeface="Calibri"/>
              </a:rPr>
              <a:t>Moat:</a:t>
            </a:r>
            <a:endParaRPr b="0" i="0" sz="800" u="none" cap="none" strike="noStrike">
              <a:solidFill>
                <a:schemeClr val="dk1"/>
              </a:solidFill>
              <a:latin typeface="Calibri"/>
              <a:ea typeface="Calibri"/>
              <a:cs typeface="Calibri"/>
              <a:sym typeface="Calibri"/>
            </a:endParaRPr>
          </a:p>
        </p:txBody>
      </p:sp>
      <p:sp>
        <p:nvSpPr>
          <p:cNvPr id="721" name="Google Shape;721;p17"/>
          <p:cNvSpPr/>
          <p:nvPr/>
        </p:nvSpPr>
        <p:spPr>
          <a:xfrm>
            <a:off x="6858000" y="4206240"/>
            <a:ext cx="1828800" cy="2560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E3A47"/>
              </a:buClr>
              <a:buSzPts val="700"/>
              <a:buFont typeface="Calibri"/>
              <a:buNone/>
            </a:pPr>
            <a:r>
              <a:rPr b="0" i="0" lang="en-US" sz="800" u="none" cap="none" strike="noStrike">
                <a:solidFill>
                  <a:srgbClr val="2E3A47"/>
                </a:solidFill>
                <a:latin typeface="Calibri"/>
                <a:ea typeface="Calibri"/>
                <a:cs typeface="Calibri"/>
                <a:sym typeface="Calibri"/>
              </a:rPr>
              <a:t>Institutional knowledge captured in system + high switching cost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726" name="Shape 726"/>
        <p:cNvGrpSpPr/>
        <p:nvPr/>
      </p:nvGrpSpPr>
      <p:grpSpPr>
        <a:xfrm>
          <a:off x="0" y="0"/>
          <a:ext cx="0" cy="0"/>
          <a:chOff x="0" y="0"/>
          <a:chExt cx="0" cy="0"/>
        </a:xfrm>
      </p:grpSpPr>
      <p:sp>
        <p:nvSpPr>
          <p:cNvPr id="727" name="Google Shape;727;p18"/>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8"/>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UX: Demand Review Queue</a:t>
            </a:r>
            <a:endParaRPr b="0" i="0" sz="2000" u="none" cap="none" strike="noStrike">
              <a:solidFill>
                <a:schemeClr val="dk1"/>
              </a:solidFill>
              <a:latin typeface="Calibri"/>
              <a:ea typeface="Calibri"/>
              <a:cs typeface="Calibri"/>
              <a:sym typeface="Calibri"/>
            </a:endParaRPr>
          </a:p>
        </p:txBody>
      </p:sp>
      <p:sp>
        <p:nvSpPr>
          <p:cNvPr id="730" name="Google Shape;730;p18"/>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8"/>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732" name="Google Shape;732;p18"/>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15</a:t>
            </a:r>
            <a:endParaRPr b="0" i="0" sz="750" u="none" cap="none" strike="noStrike">
              <a:solidFill>
                <a:schemeClr val="dk1"/>
              </a:solidFill>
              <a:latin typeface="Calibri"/>
              <a:ea typeface="Calibri"/>
              <a:cs typeface="Calibri"/>
              <a:sym typeface="Calibri"/>
            </a:endParaRPr>
          </a:p>
        </p:txBody>
      </p:sp>
      <p:sp>
        <p:nvSpPr>
          <p:cNvPr id="733" name="Google Shape;733;p18"/>
          <p:cNvSpPr/>
          <p:nvPr/>
        </p:nvSpPr>
        <p:spPr>
          <a:xfrm>
            <a:off x="274325" y="749797"/>
            <a:ext cx="2834700" cy="6219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8"/>
          <p:cNvSpPr/>
          <p:nvPr/>
        </p:nvSpPr>
        <p:spPr>
          <a:xfrm>
            <a:off x="365750" y="768102"/>
            <a:ext cx="2688300" cy="621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1" i="1" lang="en-US" sz="880">
                <a:solidFill>
                  <a:srgbClr val="2E3A47"/>
                </a:solidFill>
                <a:latin typeface="Calibri"/>
                <a:ea typeface="Calibri"/>
                <a:cs typeface="Calibri"/>
                <a:sym typeface="Calibri"/>
              </a:rPr>
              <a:t>Purpose: </a:t>
            </a:r>
            <a:r>
              <a:rPr b="1" i="1" lang="en-US" sz="880" u="none" cap="none" strike="noStrike">
                <a:solidFill>
                  <a:srgbClr val="2E3A47"/>
                </a:solidFill>
                <a:latin typeface="Calibri"/>
                <a:ea typeface="Calibri"/>
                <a:cs typeface="Calibri"/>
                <a:sym typeface="Calibri"/>
              </a:rPr>
              <a:t>The planner's daily starting point. Transforms fragmented demand signals into a prioritized queue of actionable decisions, replacing manual reconciliation.</a:t>
            </a:r>
            <a:endParaRPr b="1" i="0" sz="880" u="none" cap="none" strike="noStrike">
              <a:solidFill>
                <a:schemeClr val="dk1"/>
              </a:solidFill>
              <a:latin typeface="Calibri"/>
              <a:ea typeface="Calibri"/>
              <a:cs typeface="Calibri"/>
              <a:sym typeface="Calibri"/>
            </a:endParaRPr>
          </a:p>
        </p:txBody>
      </p:sp>
      <p:sp>
        <p:nvSpPr>
          <p:cNvPr id="735" name="Google Shape;735;p18"/>
          <p:cNvSpPr/>
          <p:nvPr/>
        </p:nvSpPr>
        <p:spPr>
          <a:xfrm>
            <a:off x="274320" y="1456307"/>
            <a:ext cx="2834700" cy="237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8"/>
          <p:cNvSpPr/>
          <p:nvPr/>
        </p:nvSpPr>
        <p:spPr>
          <a:xfrm>
            <a:off x="365760" y="1456307"/>
            <a:ext cx="269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Workflow</a:t>
            </a:r>
            <a:endParaRPr b="0" i="0" sz="850" u="none" cap="none" strike="noStrike">
              <a:solidFill>
                <a:schemeClr val="dk1"/>
              </a:solidFill>
              <a:latin typeface="Calibri"/>
              <a:ea typeface="Calibri"/>
              <a:cs typeface="Calibri"/>
              <a:sym typeface="Calibri"/>
            </a:endParaRPr>
          </a:p>
        </p:txBody>
      </p:sp>
      <p:sp>
        <p:nvSpPr>
          <p:cNvPr id="737" name="Google Shape;737;p18"/>
          <p:cNvSpPr/>
          <p:nvPr/>
        </p:nvSpPr>
        <p:spPr>
          <a:xfrm>
            <a:off x="274320" y="1730627"/>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8"/>
          <p:cNvSpPr/>
          <p:nvPr/>
        </p:nvSpPr>
        <p:spPr>
          <a:xfrm>
            <a:off x="365760" y="1812923"/>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8"/>
          <p:cNvSpPr/>
          <p:nvPr/>
        </p:nvSpPr>
        <p:spPr>
          <a:xfrm>
            <a:off x="365760" y="1812923"/>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740" name="Google Shape;740;p18"/>
          <p:cNvSpPr/>
          <p:nvPr/>
        </p:nvSpPr>
        <p:spPr>
          <a:xfrm>
            <a:off x="676656" y="1767203"/>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Assess cycle status -- view items awaiting review, new exceptions, and overall cycle progress</a:t>
            </a:r>
            <a:endParaRPr b="0" i="0" sz="750" u="none" cap="none" strike="noStrike">
              <a:solidFill>
                <a:schemeClr val="dk1"/>
              </a:solidFill>
              <a:latin typeface="Calibri"/>
              <a:ea typeface="Calibri"/>
              <a:cs typeface="Calibri"/>
              <a:sym typeface="Calibri"/>
            </a:endParaRPr>
          </a:p>
        </p:txBody>
      </p:sp>
      <p:sp>
        <p:nvSpPr>
          <p:cNvPr id="741" name="Google Shape;741;p18"/>
          <p:cNvSpPr/>
          <p:nvPr/>
        </p:nvSpPr>
        <p:spPr>
          <a:xfrm>
            <a:off x="274320" y="2151251"/>
            <a:ext cx="2834700" cy="4206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8"/>
          <p:cNvSpPr/>
          <p:nvPr/>
        </p:nvSpPr>
        <p:spPr>
          <a:xfrm>
            <a:off x="365760" y="2233547"/>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8"/>
          <p:cNvSpPr/>
          <p:nvPr/>
        </p:nvSpPr>
        <p:spPr>
          <a:xfrm>
            <a:off x="365760" y="2233547"/>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744" name="Google Shape;744;p18"/>
          <p:cNvSpPr/>
          <p:nvPr/>
        </p:nvSpPr>
        <p:spPr>
          <a:xfrm>
            <a:off x="676656" y="2187827"/>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Work through prioritized queue -- each row represents a demand decision, ranked by urgency and signal change</a:t>
            </a:r>
            <a:endParaRPr b="0" i="0" sz="750" u="none" cap="none" strike="noStrike">
              <a:solidFill>
                <a:schemeClr val="dk1"/>
              </a:solidFill>
              <a:latin typeface="Calibri"/>
              <a:ea typeface="Calibri"/>
              <a:cs typeface="Calibri"/>
              <a:sym typeface="Calibri"/>
            </a:endParaRPr>
          </a:p>
        </p:txBody>
      </p:sp>
      <p:sp>
        <p:nvSpPr>
          <p:cNvPr id="745" name="Google Shape;745;p18"/>
          <p:cNvSpPr/>
          <p:nvPr/>
        </p:nvSpPr>
        <p:spPr>
          <a:xfrm>
            <a:off x="274320" y="2571875"/>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8"/>
          <p:cNvSpPr/>
          <p:nvPr/>
        </p:nvSpPr>
        <p:spPr>
          <a:xfrm>
            <a:off x="365760" y="2654171"/>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8"/>
          <p:cNvSpPr/>
          <p:nvPr/>
        </p:nvSpPr>
        <p:spPr>
          <a:xfrm>
            <a:off x="365760" y="2654171"/>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748" name="Google Shape;748;p18"/>
          <p:cNvSpPr/>
          <p:nvPr/>
        </p:nvSpPr>
        <p:spPr>
          <a:xfrm>
            <a:off x="676656" y="2608451"/>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Evaluate signals at a glance -- see key drivers (ADs, maintenance events, supplier updates) and affected tails</a:t>
            </a:r>
            <a:endParaRPr b="0" i="0" sz="750" u="none" cap="none" strike="noStrike">
              <a:solidFill>
                <a:schemeClr val="dk1"/>
              </a:solidFill>
              <a:latin typeface="Calibri"/>
              <a:ea typeface="Calibri"/>
              <a:cs typeface="Calibri"/>
              <a:sym typeface="Calibri"/>
            </a:endParaRPr>
          </a:p>
        </p:txBody>
      </p:sp>
      <p:sp>
        <p:nvSpPr>
          <p:cNvPr id="749" name="Google Shape;749;p18"/>
          <p:cNvSpPr/>
          <p:nvPr/>
        </p:nvSpPr>
        <p:spPr>
          <a:xfrm>
            <a:off x="274320" y="2992499"/>
            <a:ext cx="2834700" cy="4206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8"/>
          <p:cNvSpPr/>
          <p:nvPr/>
        </p:nvSpPr>
        <p:spPr>
          <a:xfrm>
            <a:off x="365760" y="3074795"/>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8"/>
          <p:cNvSpPr/>
          <p:nvPr/>
        </p:nvSpPr>
        <p:spPr>
          <a:xfrm>
            <a:off x="365760" y="3074795"/>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752" name="Google Shape;752;p18"/>
          <p:cNvSpPr/>
          <p:nvPr/>
        </p:nvSpPr>
        <p:spPr>
          <a:xfrm>
            <a:off x="676656" y="3029075"/>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Focus using filters -- filter by status, confidence, or signal type to isolate high-priority items</a:t>
            </a:r>
            <a:endParaRPr b="0" i="0" sz="750" u="none" cap="none" strike="noStrike">
              <a:solidFill>
                <a:schemeClr val="dk1"/>
              </a:solidFill>
              <a:latin typeface="Calibri"/>
              <a:ea typeface="Calibri"/>
              <a:cs typeface="Calibri"/>
              <a:sym typeface="Calibri"/>
            </a:endParaRPr>
          </a:p>
        </p:txBody>
      </p:sp>
      <p:sp>
        <p:nvSpPr>
          <p:cNvPr id="753" name="Google Shape;753;p18"/>
          <p:cNvSpPr/>
          <p:nvPr/>
        </p:nvSpPr>
        <p:spPr>
          <a:xfrm>
            <a:off x="274320" y="3413123"/>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8"/>
          <p:cNvSpPr/>
          <p:nvPr/>
        </p:nvSpPr>
        <p:spPr>
          <a:xfrm>
            <a:off x="365760" y="3495419"/>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8"/>
          <p:cNvSpPr/>
          <p:nvPr/>
        </p:nvSpPr>
        <p:spPr>
          <a:xfrm>
            <a:off x="365760" y="3495419"/>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
        <p:nvSpPr>
          <p:cNvPr id="756" name="Google Shape;756;p18"/>
          <p:cNvSpPr/>
          <p:nvPr/>
        </p:nvSpPr>
        <p:spPr>
          <a:xfrm>
            <a:off x="676656" y="3449699"/>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Drill into decision -- select a row to evaluate recommendation and take action (approve / override / escalate)</a:t>
            </a:r>
            <a:endParaRPr b="0" i="0" sz="750" u="none" cap="none" strike="noStrike">
              <a:solidFill>
                <a:schemeClr val="dk1"/>
              </a:solidFill>
              <a:latin typeface="Calibri"/>
              <a:ea typeface="Calibri"/>
              <a:cs typeface="Calibri"/>
              <a:sym typeface="Calibri"/>
            </a:endParaRPr>
          </a:p>
        </p:txBody>
      </p:sp>
      <p:sp>
        <p:nvSpPr>
          <p:cNvPr id="757" name="Google Shape;757;p18"/>
          <p:cNvSpPr/>
          <p:nvPr/>
        </p:nvSpPr>
        <p:spPr>
          <a:xfrm>
            <a:off x="274325" y="3888625"/>
            <a:ext cx="2834700" cy="557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758" name="Google Shape;758;p18"/>
          <p:cNvSpPr/>
          <p:nvPr/>
        </p:nvSpPr>
        <p:spPr>
          <a:xfrm>
            <a:off x="402336" y="3925187"/>
            <a:ext cx="2651700" cy="38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lang="en-US" sz="850">
                <a:solidFill>
                  <a:srgbClr val="FFFFFF"/>
                </a:solidFill>
                <a:latin typeface="Calibri"/>
                <a:ea typeface="Calibri"/>
                <a:cs typeface="Calibri"/>
                <a:sym typeface="Calibri"/>
              </a:rPr>
              <a:t>Outcome: </a:t>
            </a:r>
            <a:r>
              <a:rPr b="0" i="0" lang="en-US" sz="850" u="none" cap="none" strike="noStrike">
                <a:solidFill>
                  <a:srgbClr val="FFFFFF"/>
                </a:solidFill>
                <a:latin typeface="Calibri"/>
                <a:ea typeface="Calibri"/>
                <a:cs typeface="Calibri"/>
                <a:sym typeface="Calibri"/>
              </a:rPr>
              <a:t>Reduces planning cycle time by shifting from manual data gathering to structured, AI-assisted decision-making</a:t>
            </a:r>
            <a:endParaRPr b="0" i="0" sz="850" u="none" cap="none" strike="noStrike">
              <a:solidFill>
                <a:schemeClr val="dk1"/>
              </a:solidFill>
              <a:latin typeface="Calibri"/>
              <a:ea typeface="Calibri"/>
              <a:cs typeface="Calibri"/>
              <a:sym typeface="Calibri"/>
            </a:endParaRPr>
          </a:p>
        </p:txBody>
      </p:sp>
      <p:pic>
        <p:nvPicPr>
          <p:cNvPr id="759" name="Google Shape;759;p18" title="Screen1-Dashboard.png"/>
          <p:cNvPicPr preferRelativeResize="0"/>
          <p:nvPr/>
        </p:nvPicPr>
        <p:blipFill>
          <a:blip r:embed="rId3">
            <a:alphaModFix/>
          </a:blip>
          <a:stretch>
            <a:fillRect/>
          </a:stretch>
        </p:blipFill>
        <p:spPr>
          <a:xfrm>
            <a:off x="3284300" y="993400"/>
            <a:ext cx="5768252" cy="35112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764" name="Shape 764"/>
        <p:cNvGrpSpPr/>
        <p:nvPr/>
      </p:nvGrpSpPr>
      <p:grpSpPr>
        <a:xfrm>
          <a:off x="0" y="0"/>
          <a:ext cx="0" cy="0"/>
          <a:chOff x="0" y="0"/>
          <a:chExt cx="0" cy="0"/>
        </a:xfrm>
      </p:grpSpPr>
      <p:sp>
        <p:nvSpPr>
          <p:cNvPr id="765" name="Google Shape;765;p19"/>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9"/>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9"/>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UX: Demand Recommendation Detail</a:t>
            </a:r>
            <a:endParaRPr b="0" i="0" sz="2000" u="none" cap="none" strike="noStrike">
              <a:solidFill>
                <a:schemeClr val="dk1"/>
              </a:solidFill>
              <a:latin typeface="Calibri"/>
              <a:ea typeface="Calibri"/>
              <a:cs typeface="Calibri"/>
              <a:sym typeface="Calibri"/>
            </a:endParaRPr>
          </a:p>
        </p:txBody>
      </p:sp>
      <p:sp>
        <p:nvSpPr>
          <p:cNvPr id="768" name="Google Shape;768;p19"/>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770" name="Google Shape;770;p19"/>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16</a:t>
            </a:r>
            <a:endParaRPr b="0" i="0" sz="750" u="none" cap="none" strike="noStrike">
              <a:solidFill>
                <a:schemeClr val="dk1"/>
              </a:solidFill>
              <a:latin typeface="Calibri"/>
              <a:ea typeface="Calibri"/>
              <a:cs typeface="Calibri"/>
              <a:sym typeface="Calibri"/>
            </a:endParaRPr>
          </a:p>
        </p:txBody>
      </p:sp>
      <p:sp>
        <p:nvSpPr>
          <p:cNvPr id="771" name="Google Shape;771;p19"/>
          <p:cNvSpPr/>
          <p:nvPr/>
        </p:nvSpPr>
        <p:spPr>
          <a:xfrm>
            <a:off x="302520" y="1503722"/>
            <a:ext cx="2834700" cy="237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9"/>
          <p:cNvSpPr/>
          <p:nvPr/>
        </p:nvSpPr>
        <p:spPr>
          <a:xfrm>
            <a:off x="393960" y="1503722"/>
            <a:ext cx="269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Workflow</a:t>
            </a:r>
            <a:endParaRPr b="0" i="0" sz="850" u="none" cap="none" strike="noStrike">
              <a:solidFill>
                <a:schemeClr val="dk1"/>
              </a:solidFill>
              <a:latin typeface="Calibri"/>
              <a:ea typeface="Calibri"/>
              <a:cs typeface="Calibri"/>
              <a:sym typeface="Calibri"/>
            </a:endParaRPr>
          </a:p>
        </p:txBody>
      </p:sp>
      <p:sp>
        <p:nvSpPr>
          <p:cNvPr id="773" name="Google Shape;773;p19"/>
          <p:cNvSpPr/>
          <p:nvPr/>
        </p:nvSpPr>
        <p:spPr>
          <a:xfrm>
            <a:off x="302520" y="1778042"/>
            <a:ext cx="2834700" cy="4938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9"/>
          <p:cNvSpPr/>
          <p:nvPr/>
        </p:nvSpPr>
        <p:spPr>
          <a:xfrm>
            <a:off x="393960" y="1896914"/>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393960" y="1896914"/>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776" name="Google Shape;776;p19"/>
          <p:cNvSpPr/>
          <p:nvPr/>
        </p:nvSpPr>
        <p:spPr>
          <a:xfrm>
            <a:off x="704856" y="1814618"/>
            <a:ext cx="2340900" cy="438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Understand forecast differences -- compare current plan, AI recommendation, and statistical baseline across time</a:t>
            </a:r>
            <a:endParaRPr b="0" i="0" sz="750" u="none" cap="none" strike="noStrike">
              <a:solidFill>
                <a:schemeClr val="dk1"/>
              </a:solidFill>
              <a:latin typeface="Calibri"/>
              <a:ea typeface="Calibri"/>
              <a:cs typeface="Calibri"/>
              <a:sym typeface="Calibri"/>
            </a:endParaRPr>
          </a:p>
        </p:txBody>
      </p:sp>
      <p:sp>
        <p:nvSpPr>
          <p:cNvPr id="777" name="Google Shape;777;p19"/>
          <p:cNvSpPr/>
          <p:nvPr/>
        </p:nvSpPr>
        <p:spPr>
          <a:xfrm>
            <a:off x="302520" y="2271818"/>
            <a:ext cx="2834700" cy="4938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9"/>
          <p:cNvSpPr/>
          <p:nvPr/>
        </p:nvSpPr>
        <p:spPr>
          <a:xfrm>
            <a:off x="393960" y="2390690"/>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9"/>
          <p:cNvSpPr/>
          <p:nvPr/>
        </p:nvSpPr>
        <p:spPr>
          <a:xfrm>
            <a:off x="393960" y="2390690"/>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780" name="Google Shape;780;p19"/>
          <p:cNvSpPr/>
          <p:nvPr/>
        </p:nvSpPr>
        <p:spPr>
          <a:xfrm>
            <a:off x="704856" y="2308394"/>
            <a:ext cx="2340900" cy="438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Review signal evidence -- evaluate ranked signals (e.g., maintenance events, ADs, utilization) with per-signal demand impact</a:t>
            </a:r>
            <a:endParaRPr b="0" i="0" sz="750" u="none" cap="none" strike="noStrike">
              <a:solidFill>
                <a:schemeClr val="dk1"/>
              </a:solidFill>
              <a:latin typeface="Calibri"/>
              <a:ea typeface="Calibri"/>
              <a:cs typeface="Calibri"/>
              <a:sym typeface="Calibri"/>
            </a:endParaRPr>
          </a:p>
        </p:txBody>
      </p:sp>
      <p:sp>
        <p:nvSpPr>
          <p:cNvPr id="781" name="Google Shape;781;p19"/>
          <p:cNvSpPr/>
          <p:nvPr/>
        </p:nvSpPr>
        <p:spPr>
          <a:xfrm>
            <a:off x="302520" y="2765594"/>
            <a:ext cx="2834700" cy="4938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9"/>
          <p:cNvSpPr/>
          <p:nvPr/>
        </p:nvSpPr>
        <p:spPr>
          <a:xfrm>
            <a:off x="393960" y="2884466"/>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9"/>
          <p:cNvSpPr/>
          <p:nvPr/>
        </p:nvSpPr>
        <p:spPr>
          <a:xfrm>
            <a:off x="393960" y="2884466"/>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784" name="Google Shape;784;p19"/>
          <p:cNvSpPr/>
          <p:nvPr/>
        </p:nvSpPr>
        <p:spPr>
          <a:xfrm>
            <a:off x="704856" y="2802170"/>
            <a:ext cx="2340900" cy="438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Assess inventory risk -- view stocking scenarios in operational terms (coverage, AOG exposure, carrying cost)</a:t>
            </a:r>
            <a:endParaRPr b="0" i="0" sz="750" u="none" cap="none" strike="noStrike">
              <a:solidFill>
                <a:schemeClr val="dk1"/>
              </a:solidFill>
              <a:latin typeface="Calibri"/>
              <a:ea typeface="Calibri"/>
              <a:cs typeface="Calibri"/>
              <a:sym typeface="Calibri"/>
            </a:endParaRPr>
          </a:p>
        </p:txBody>
      </p:sp>
      <p:sp>
        <p:nvSpPr>
          <p:cNvPr id="785" name="Google Shape;785;p19"/>
          <p:cNvSpPr/>
          <p:nvPr/>
        </p:nvSpPr>
        <p:spPr>
          <a:xfrm>
            <a:off x="302520" y="3259370"/>
            <a:ext cx="2834700" cy="4938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393960" y="3378242"/>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9"/>
          <p:cNvSpPr/>
          <p:nvPr/>
        </p:nvSpPr>
        <p:spPr>
          <a:xfrm>
            <a:off x="393960" y="3378242"/>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788" name="Google Shape;788;p19"/>
          <p:cNvSpPr/>
          <p:nvPr/>
        </p:nvSpPr>
        <p:spPr>
          <a:xfrm>
            <a:off x="704856" y="3295946"/>
            <a:ext cx="2340900" cy="438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Reference historical decisions -- review past overrides and actual outcomes to inform current judgment</a:t>
            </a:r>
            <a:endParaRPr b="0" i="0" sz="750" u="none" cap="none" strike="noStrike">
              <a:solidFill>
                <a:schemeClr val="dk1"/>
              </a:solidFill>
              <a:latin typeface="Calibri"/>
              <a:ea typeface="Calibri"/>
              <a:cs typeface="Calibri"/>
              <a:sym typeface="Calibri"/>
            </a:endParaRPr>
          </a:p>
        </p:txBody>
      </p:sp>
      <p:sp>
        <p:nvSpPr>
          <p:cNvPr id="789" name="Google Shape;789;p19"/>
          <p:cNvSpPr/>
          <p:nvPr/>
        </p:nvSpPr>
        <p:spPr>
          <a:xfrm>
            <a:off x="302520" y="3753146"/>
            <a:ext cx="2834700" cy="4938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9"/>
          <p:cNvSpPr/>
          <p:nvPr/>
        </p:nvSpPr>
        <p:spPr>
          <a:xfrm>
            <a:off x="393960" y="3872018"/>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9"/>
          <p:cNvSpPr/>
          <p:nvPr/>
        </p:nvSpPr>
        <p:spPr>
          <a:xfrm>
            <a:off x="393960" y="3872018"/>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
        <p:nvSpPr>
          <p:cNvPr id="792" name="Google Shape;792;p19"/>
          <p:cNvSpPr/>
          <p:nvPr/>
        </p:nvSpPr>
        <p:spPr>
          <a:xfrm>
            <a:off x="704856" y="3789722"/>
            <a:ext cx="2340900" cy="438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750" u="none" cap="none" strike="noStrike">
                <a:solidFill>
                  <a:srgbClr val="2E3A47"/>
                </a:solidFill>
                <a:latin typeface="Calibri"/>
                <a:ea typeface="Calibri"/>
                <a:cs typeface="Calibri"/>
                <a:sym typeface="Calibri"/>
              </a:rPr>
              <a:t>Take action -- approve AI recommendation, override with rationale, or escalate to S&amp;OP</a:t>
            </a:r>
            <a:endParaRPr b="0" i="0" sz="750" u="none" cap="none" strike="noStrike">
              <a:solidFill>
                <a:schemeClr val="dk1"/>
              </a:solidFill>
              <a:latin typeface="Calibri"/>
              <a:ea typeface="Calibri"/>
              <a:cs typeface="Calibri"/>
              <a:sym typeface="Calibri"/>
            </a:endParaRPr>
          </a:p>
        </p:txBody>
      </p:sp>
      <p:pic>
        <p:nvPicPr>
          <p:cNvPr id="793" name="Google Shape;793;p19" title="Screen2-Recommendation Detail.png"/>
          <p:cNvPicPr preferRelativeResize="0"/>
          <p:nvPr/>
        </p:nvPicPr>
        <p:blipFill>
          <a:blip r:embed="rId3">
            <a:alphaModFix/>
          </a:blip>
          <a:stretch>
            <a:fillRect/>
          </a:stretch>
        </p:blipFill>
        <p:spPr>
          <a:xfrm>
            <a:off x="3496975" y="1209986"/>
            <a:ext cx="5521601" cy="3361124"/>
          </a:xfrm>
          <a:prstGeom prst="rect">
            <a:avLst/>
          </a:prstGeom>
          <a:noFill/>
          <a:ln>
            <a:noFill/>
          </a:ln>
        </p:spPr>
      </p:pic>
      <p:sp>
        <p:nvSpPr>
          <p:cNvPr id="794" name="Google Shape;794;p19"/>
          <p:cNvSpPr/>
          <p:nvPr/>
        </p:nvSpPr>
        <p:spPr>
          <a:xfrm>
            <a:off x="274325" y="749800"/>
            <a:ext cx="2834700" cy="7173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9"/>
          <p:cNvSpPr/>
          <p:nvPr/>
        </p:nvSpPr>
        <p:spPr>
          <a:xfrm>
            <a:off x="365750" y="768102"/>
            <a:ext cx="2688300" cy="621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b="1" i="1" lang="en-US" sz="880">
                <a:solidFill>
                  <a:srgbClr val="2E3A47"/>
                </a:solidFill>
                <a:latin typeface="Calibri"/>
                <a:ea typeface="Calibri"/>
                <a:cs typeface="Calibri"/>
                <a:sym typeface="Calibri"/>
              </a:rPr>
              <a:t>Purpose: </a:t>
            </a:r>
            <a:r>
              <a:rPr b="1" i="1" lang="en-US" sz="880" u="none" cap="none" strike="noStrike">
                <a:solidFill>
                  <a:srgbClr val="2E3A47"/>
                </a:solidFill>
                <a:latin typeface="Calibri"/>
                <a:ea typeface="Calibri"/>
                <a:cs typeface="Calibri"/>
                <a:sym typeface="Calibri"/>
              </a:rPr>
              <a:t>T</a:t>
            </a:r>
            <a:r>
              <a:rPr b="1" i="1" lang="en-US" sz="880">
                <a:solidFill>
                  <a:srgbClr val="2E3A47"/>
                </a:solidFill>
                <a:latin typeface="Calibri"/>
                <a:ea typeface="Calibri"/>
                <a:cs typeface="Calibri"/>
                <a:sym typeface="Calibri"/>
              </a:rPr>
              <a:t>The core decision screen. Enables the planner to evaluate AI recommendations using signal-level reasoning and inventory risk scenarios, and take action (approve, override, or escalate).</a:t>
            </a:r>
            <a:endParaRPr b="1" i="1" sz="880">
              <a:solidFill>
                <a:srgbClr val="2E3A47"/>
              </a:solidFill>
              <a:latin typeface="Calibri"/>
              <a:ea typeface="Calibri"/>
              <a:cs typeface="Calibri"/>
              <a:sym typeface="Calibri"/>
            </a:endParaRPr>
          </a:p>
          <a:p>
            <a:pPr indent="0" lvl="0" marL="0" marR="0" rtl="0" algn="l">
              <a:lnSpc>
                <a:spcPct val="120000"/>
              </a:lnSpc>
              <a:spcBef>
                <a:spcPts val="0"/>
              </a:spcBef>
              <a:spcAft>
                <a:spcPts val="0"/>
              </a:spcAft>
              <a:buClr>
                <a:srgbClr val="2E3A47"/>
              </a:buClr>
              <a:buSzPts val="780"/>
              <a:buFont typeface="Calibri"/>
              <a:buNone/>
            </a:pPr>
            <a:r>
              <a:t/>
            </a:r>
            <a:endParaRPr b="1" i="1" sz="880">
              <a:solidFill>
                <a:srgbClr val="2E3A47"/>
              </a:solidFill>
              <a:latin typeface="Calibri"/>
              <a:ea typeface="Calibri"/>
              <a:cs typeface="Calibri"/>
              <a:sym typeface="Calibri"/>
            </a:endParaRPr>
          </a:p>
        </p:txBody>
      </p:sp>
      <p:sp>
        <p:nvSpPr>
          <p:cNvPr id="796" name="Google Shape;796;p19"/>
          <p:cNvSpPr/>
          <p:nvPr/>
        </p:nvSpPr>
        <p:spPr>
          <a:xfrm>
            <a:off x="274325" y="4298934"/>
            <a:ext cx="2834700" cy="557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797" name="Google Shape;797;p19"/>
          <p:cNvSpPr/>
          <p:nvPr/>
        </p:nvSpPr>
        <p:spPr>
          <a:xfrm>
            <a:off x="402336" y="4335496"/>
            <a:ext cx="2651700" cy="38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lang="en-US" sz="850">
                <a:solidFill>
                  <a:srgbClr val="FFFFFF"/>
                </a:solidFill>
                <a:latin typeface="Calibri"/>
                <a:ea typeface="Calibri"/>
                <a:cs typeface="Calibri"/>
                <a:sym typeface="Calibri"/>
              </a:rPr>
              <a:t>Outcome: </a:t>
            </a:r>
            <a:r>
              <a:rPr lang="en-US" sz="850">
                <a:solidFill>
                  <a:srgbClr val="FFFFFF"/>
                </a:solidFill>
                <a:latin typeface="Calibri"/>
                <a:ea typeface="Calibri"/>
                <a:cs typeface="Calibri"/>
                <a:sym typeface="Calibri"/>
              </a:rPr>
              <a:t>Enables fast, explainable, and auditable decisions by shifting from intuition-based planning to evidence-driven, risk-aware decision-making</a:t>
            </a:r>
            <a:endParaRPr sz="850">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802" name="Shape 802"/>
        <p:cNvGrpSpPr/>
        <p:nvPr/>
      </p:nvGrpSpPr>
      <p:grpSpPr>
        <a:xfrm>
          <a:off x="0" y="0"/>
          <a:ext cx="0" cy="0"/>
          <a:chOff x="0" y="0"/>
          <a:chExt cx="0" cy="0"/>
        </a:xfrm>
      </p:grpSpPr>
      <p:sp>
        <p:nvSpPr>
          <p:cNvPr id="803" name="Google Shape;803;p20"/>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0"/>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UX: Override Panel</a:t>
            </a:r>
            <a:endParaRPr b="0" i="0" sz="2000" u="none" cap="none" strike="noStrike">
              <a:solidFill>
                <a:schemeClr val="dk1"/>
              </a:solidFill>
              <a:latin typeface="Calibri"/>
              <a:ea typeface="Calibri"/>
              <a:cs typeface="Calibri"/>
              <a:sym typeface="Calibri"/>
            </a:endParaRPr>
          </a:p>
        </p:txBody>
      </p:sp>
      <p:sp>
        <p:nvSpPr>
          <p:cNvPr id="806" name="Google Shape;806;p20"/>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808" name="Google Shape;808;p20"/>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17</a:t>
            </a:r>
            <a:endParaRPr b="0" i="0" sz="750" u="none" cap="none" strike="noStrike">
              <a:solidFill>
                <a:schemeClr val="dk1"/>
              </a:solidFill>
              <a:latin typeface="Calibri"/>
              <a:ea typeface="Calibri"/>
              <a:cs typeface="Calibri"/>
              <a:sym typeface="Calibri"/>
            </a:endParaRPr>
          </a:p>
        </p:txBody>
      </p:sp>
      <p:sp>
        <p:nvSpPr>
          <p:cNvPr id="809" name="Google Shape;809;p20"/>
          <p:cNvSpPr/>
          <p:nvPr/>
        </p:nvSpPr>
        <p:spPr>
          <a:xfrm>
            <a:off x="274325" y="749796"/>
            <a:ext cx="2834700" cy="6684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10" name="Google Shape;810;p20"/>
          <p:cNvSpPr/>
          <p:nvPr/>
        </p:nvSpPr>
        <p:spPr>
          <a:xfrm>
            <a:off x="365760" y="768096"/>
            <a:ext cx="2688336" cy="42062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i="1" lang="en-US" sz="880">
                <a:solidFill>
                  <a:srgbClr val="2E3A47"/>
                </a:solidFill>
                <a:latin typeface="Calibri"/>
                <a:ea typeface="Calibri"/>
                <a:cs typeface="Calibri"/>
                <a:sym typeface="Calibri"/>
              </a:rPr>
              <a:t>Purpose: </a:t>
            </a:r>
            <a:r>
              <a:rPr b="0" i="1" lang="en-US" sz="880" u="none" cap="none" strike="noStrike">
                <a:solidFill>
                  <a:srgbClr val="2E3A47"/>
                </a:solidFill>
                <a:latin typeface="Calibri"/>
                <a:ea typeface="Calibri"/>
                <a:cs typeface="Calibri"/>
                <a:sym typeface="Calibri"/>
              </a:rPr>
              <a:t>Enables planners to override AI recommendations with structured rationale and forecast adjustments, creating a complete audit trail and learning signal for the system.</a:t>
            </a:r>
            <a:endParaRPr b="0" i="0" sz="880" u="none" cap="none" strike="noStrike">
              <a:solidFill>
                <a:schemeClr val="dk1"/>
              </a:solidFill>
              <a:latin typeface="Calibri"/>
              <a:ea typeface="Calibri"/>
              <a:cs typeface="Calibri"/>
              <a:sym typeface="Calibri"/>
            </a:endParaRPr>
          </a:p>
        </p:txBody>
      </p:sp>
      <p:sp>
        <p:nvSpPr>
          <p:cNvPr id="811" name="Google Shape;811;p20"/>
          <p:cNvSpPr/>
          <p:nvPr/>
        </p:nvSpPr>
        <p:spPr>
          <a:xfrm>
            <a:off x="274320" y="1533810"/>
            <a:ext cx="2834700" cy="237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12" name="Google Shape;812;p20"/>
          <p:cNvSpPr/>
          <p:nvPr/>
        </p:nvSpPr>
        <p:spPr>
          <a:xfrm>
            <a:off x="365760" y="1533810"/>
            <a:ext cx="269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alibri"/>
              <a:buNone/>
            </a:pPr>
            <a:r>
              <a:rPr b="1" i="0" lang="en-US" sz="950" u="none" cap="none" strike="noStrike">
                <a:solidFill>
                  <a:srgbClr val="FFFFFF"/>
                </a:solidFill>
                <a:latin typeface="Calibri"/>
                <a:ea typeface="Calibri"/>
                <a:cs typeface="Calibri"/>
                <a:sym typeface="Calibri"/>
              </a:rPr>
              <a:t>Workflow</a:t>
            </a:r>
            <a:endParaRPr b="0" i="0" sz="950" u="none" cap="none" strike="noStrike">
              <a:solidFill>
                <a:schemeClr val="dk1"/>
              </a:solidFill>
              <a:latin typeface="Calibri"/>
              <a:ea typeface="Calibri"/>
              <a:cs typeface="Calibri"/>
              <a:sym typeface="Calibri"/>
            </a:endParaRPr>
          </a:p>
        </p:txBody>
      </p:sp>
      <p:sp>
        <p:nvSpPr>
          <p:cNvPr id="813" name="Google Shape;813;p20"/>
          <p:cNvSpPr/>
          <p:nvPr/>
        </p:nvSpPr>
        <p:spPr>
          <a:xfrm>
            <a:off x="274320" y="1808130"/>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14" name="Google Shape;814;p20"/>
          <p:cNvSpPr/>
          <p:nvPr/>
        </p:nvSpPr>
        <p:spPr>
          <a:xfrm>
            <a:off x="365760" y="1890426"/>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15" name="Google Shape;815;p20"/>
          <p:cNvSpPr/>
          <p:nvPr/>
        </p:nvSpPr>
        <p:spPr>
          <a:xfrm>
            <a:off x="365760" y="1890426"/>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816" name="Google Shape;816;p20"/>
          <p:cNvSpPr/>
          <p:nvPr/>
        </p:nvSpPr>
        <p:spPr>
          <a:xfrm>
            <a:off x="676656" y="1844706"/>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Select reason category -- classify override using standardized taxonomy (e.g., fleet change, supplier issue, AD update)</a:t>
            </a:r>
            <a:endParaRPr b="0" i="0" sz="850" u="none" cap="none" strike="noStrike">
              <a:solidFill>
                <a:schemeClr val="dk1"/>
              </a:solidFill>
              <a:latin typeface="Calibri"/>
              <a:ea typeface="Calibri"/>
              <a:cs typeface="Calibri"/>
              <a:sym typeface="Calibri"/>
            </a:endParaRPr>
          </a:p>
        </p:txBody>
      </p:sp>
      <p:sp>
        <p:nvSpPr>
          <p:cNvPr id="817" name="Google Shape;817;p20"/>
          <p:cNvSpPr/>
          <p:nvPr/>
        </p:nvSpPr>
        <p:spPr>
          <a:xfrm>
            <a:off x="274320" y="2228754"/>
            <a:ext cx="2834700" cy="4206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18" name="Google Shape;818;p20"/>
          <p:cNvSpPr/>
          <p:nvPr/>
        </p:nvSpPr>
        <p:spPr>
          <a:xfrm>
            <a:off x="365760" y="2311050"/>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19" name="Google Shape;819;p20"/>
          <p:cNvSpPr/>
          <p:nvPr/>
        </p:nvSpPr>
        <p:spPr>
          <a:xfrm>
            <a:off x="365760" y="2311050"/>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820" name="Google Shape;820;p20"/>
          <p:cNvSpPr/>
          <p:nvPr/>
        </p:nvSpPr>
        <p:spPr>
          <a:xfrm>
            <a:off x="676656" y="2265330"/>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Provide detailed rationale -- capture context behind the decision in structured, auditable form</a:t>
            </a:r>
            <a:endParaRPr b="0" i="0" sz="850" u="none" cap="none" strike="noStrike">
              <a:solidFill>
                <a:schemeClr val="dk1"/>
              </a:solidFill>
              <a:latin typeface="Calibri"/>
              <a:ea typeface="Calibri"/>
              <a:cs typeface="Calibri"/>
              <a:sym typeface="Calibri"/>
            </a:endParaRPr>
          </a:p>
        </p:txBody>
      </p:sp>
      <p:sp>
        <p:nvSpPr>
          <p:cNvPr id="821" name="Google Shape;821;p20"/>
          <p:cNvSpPr/>
          <p:nvPr/>
        </p:nvSpPr>
        <p:spPr>
          <a:xfrm>
            <a:off x="274320" y="2649378"/>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22" name="Google Shape;822;p20"/>
          <p:cNvSpPr/>
          <p:nvPr/>
        </p:nvSpPr>
        <p:spPr>
          <a:xfrm>
            <a:off x="365760" y="2731674"/>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23" name="Google Shape;823;p20"/>
          <p:cNvSpPr/>
          <p:nvPr/>
        </p:nvSpPr>
        <p:spPr>
          <a:xfrm>
            <a:off x="365760" y="2731674"/>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824" name="Google Shape;824;p20"/>
          <p:cNvSpPr/>
          <p:nvPr/>
        </p:nvSpPr>
        <p:spPr>
          <a:xfrm>
            <a:off x="676656" y="2685954"/>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Adjust forecast values -- modify monthly forecast based on planner judgment and domain knowledge</a:t>
            </a:r>
            <a:endParaRPr b="0" i="0" sz="850" u="none" cap="none" strike="noStrike">
              <a:solidFill>
                <a:schemeClr val="dk1"/>
              </a:solidFill>
              <a:latin typeface="Calibri"/>
              <a:ea typeface="Calibri"/>
              <a:cs typeface="Calibri"/>
              <a:sym typeface="Calibri"/>
            </a:endParaRPr>
          </a:p>
        </p:txBody>
      </p:sp>
      <p:sp>
        <p:nvSpPr>
          <p:cNvPr id="825" name="Google Shape;825;p20"/>
          <p:cNvSpPr/>
          <p:nvPr/>
        </p:nvSpPr>
        <p:spPr>
          <a:xfrm>
            <a:off x="274320" y="3070002"/>
            <a:ext cx="2834700" cy="4206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26" name="Google Shape;826;p20"/>
          <p:cNvSpPr/>
          <p:nvPr/>
        </p:nvSpPr>
        <p:spPr>
          <a:xfrm>
            <a:off x="365760" y="3152298"/>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27" name="Google Shape;827;p20"/>
          <p:cNvSpPr/>
          <p:nvPr/>
        </p:nvSpPr>
        <p:spPr>
          <a:xfrm>
            <a:off x="365760" y="3152298"/>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828" name="Google Shape;828;p20"/>
          <p:cNvSpPr/>
          <p:nvPr/>
        </p:nvSpPr>
        <p:spPr>
          <a:xfrm>
            <a:off x="676656" y="3106578"/>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Indicate confidence level -- record planner confidence to support future accuracy evaluation</a:t>
            </a:r>
            <a:endParaRPr b="0" i="0" sz="850" u="none" cap="none" strike="noStrike">
              <a:solidFill>
                <a:schemeClr val="dk1"/>
              </a:solidFill>
              <a:latin typeface="Calibri"/>
              <a:ea typeface="Calibri"/>
              <a:cs typeface="Calibri"/>
              <a:sym typeface="Calibri"/>
            </a:endParaRPr>
          </a:p>
        </p:txBody>
      </p:sp>
      <p:sp>
        <p:nvSpPr>
          <p:cNvPr id="829" name="Google Shape;829;p20"/>
          <p:cNvSpPr/>
          <p:nvPr/>
        </p:nvSpPr>
        <p:spPr>
          <a:xfrm>
            <a:off x="274320" y="3490626"/>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30" name="Google Shape;830;p20"/>
          <p:cNvSpPr/>
          <p:nvPr/>
        </p:nvSpPr>
        <p:spPr>
          <a:xfrm>
            <a:off x="365760" y="3572922"/>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31" name="Google Shape;831;p20"/>
          <p:cNvSpPr/>
          <p:nvPr/>
        </p:nvSpPr>
        <p:spPr>
          <a:xfrm>
            <a:off x="365760" y="3572922"/>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832" name="Google Shape;832;p20"/>
          <p:cNvSpPr/>
          <p:nvPr/>
        </p:nvSpPr>
        <p:spPr>
          <a:xfrm>
            <a:off x="676656" y="3527202"/>
            <a:ext cx="2340900" cy="365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Review audit trail preview and submit -- validate how the decision will be recorded before submitting</a:t>
            </a:r>
            <a:endParaRPr b="0" i="0" sz="850" u="none" cap="none" strike="noStrike">
              <a:solidFill>
                <a:schemeClr val="dk1"/>
              </a:solidFill>
              <a:latin typeface="Calibri"/>
              <a:ea typeface="Calibri"/>
              <a:cs typeface="Calibri"/>
              <a:sym typeface="Calibri"/>
            </a:endParaRPr>
          </a:p>
        </p:txBody>
      </p:sp>
      <p:sp>
        <p:nvSpPr>
          <p:cNvPr id="833" name="Google Shape;833;p20"/>
          <p:cNvSpPr/>
          <p:nvPr/>
        </p:nvSpPr>
        <p:spPr>
          <a:xfrm>
            <a:off x="274325" y="3966125"/>
            <a:ext cx="2834700" cy="6219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34" name="Google Shape;834;p20"/>
          <p:cNvSpPr/>
          <p:nvPr/>
        </p:nvSpPr>
        <p:spPr>
          <a:xfrm>
            <a:off x="402341" y="4015869"/>
            <a:ext cx="2651700" cy="522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lang="en-US" sz="850">
                <a:solidFill>
                  <a:srgbClr val="FFFFFF"/>
                </a:solidFill>
                <a:latin typeface="Calibri"/>
                <a:ea typeface="Calibri"/>
                <a:cs typeface="Calibri"/>
                <a:sym typeface="Calibri"/>
              </a:rPr>
              <a:t>Outcome: </a:t>
            </a:r>
            <a:r>
              <a:rPr b="0" i="0" lang="en-US" sz="850" u="none" cap="none" strike="noStrike">
                <a:solidFill>
                  <a:srgbClr val="FFFFFF"/>
                </a:solidFill>
                <a:latin typeface="Calibri"/>
                <a:ea typeface="Calibri"/>
                <a:cs typeface="Calibri"/>
                <a:sym typeface="Calibri"/>
              </a:rPr>
              <a:t>Creates a structured dataset of planner decisions, rationale, and outcomes, enabling continuous learning, FVA measurement, and long-term model improvement</a:t>
            </a:r>
            <a:endParaRPr b="0" i="0" sz="850" u="none" cap="none" strike="noStrike">
              <a:solidFill>
                <a:schemeClr val="dk1"/>
              </a:solidFill>
              <a:latin typeface="Calibri"/>
              <a:ea typeface="Calibri"/>
              <a:cs typeface="Calibri"/>
              <a:sym typeface="Calibri"/>
            </a:endParaRPr>
          </a:p>
        </p:txBody>
      </p:sp>
      <p:pic>
        <p:nvPicPr>
          <p:cNvPr id="835" name="Google Shape;835;p20" title="Screen3-Override Form.png"/>
          <p:cNvPicPr preferRelativeResize="0"/>
          <p:nvPr/>
        </p:nvPicPr>
        <p:blipFill>
          <a:blip r:embed="rId3">
            <a:alphaModFix/>
          </a:blip>
          <a:stretch>
            <a:fillRect/>
          </a:stretch>
        </p:blipFill>
        <p:spPr>
          <a:xfrm>
            <a:off x="3397000" y="1077750"/>
            <a:ext cx="5486477" cy="3339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840" name="Shape 840"/>
        <p:cNvGrpSpPr/>
        <p:nvPr/>
      </p:nvGrpSpPr>
      <p:grpSpPr>
        <a:xfrm>
          <a:off x="0" y="0"/>
          <a:ext cx="0" cy="0"/>
          <a:chOff x="0" y="0"/>
          <a:chExt cx="0" cy="0"/>
        </a:xfrm>
      </p:grpSpPr>
      <p:sp>
        <p:nvSpPr>
          <p:cNvPr id="841" name="Google Shape;841;p21"/>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1"/>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1"/>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UX: FVA Dashboard</a:t>
            </a:r>
            <a:endParaRPr b="0" i="0" sz="2000" u="none" cap="none" strike="noStrike">
              <a:solidFill>
                <a:schemeClr val="dk1"/>
              </a:solidFill>
              <a:latin typeface="Calibri"/>
              <a:ea typeface="Calibri"/>
              <a:cs typeface="Calibri"/>
              <a:sym typeface="Calibri"/>
            </a:endParaRPr>
          </a:p>
        </p:txBody>
      </p:sp>
      <p:sp>
        <p:nvSpPr>
          <p:cNvPr id="844" name="Google Shape;844;p21"/>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1"/>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846" name="Google Shape;846;p21"/>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18</a:t>
            </a:r>
            <a:endParaRPr b="0" i="0" sz="750" u="none" cap="none" strike="noStrike">
              <a:solidFill>
                <a:schemeClr val="dk1"/>
              </a:solidFill>
              <a:latin typeface="Calibri"/>
              <a:ea typeface="Calibri"/>
              <a:cs typeface="Calibri"/>
              <a:sym typeface="Calibri"/>
            </a:endParaRPr>
          </a:p>
        </p:txBody>
      </p:sp>
      <p:sp>
        <p:nvSpPr>
          <p:cNvPr id="847" name="Google Shape;847;p21"/>
          <p:cNvSpPr/>
          <p:nvPr/>
        </p:nvSpPr>
        <p:spPr>
          <a:xfrm>
            <a:off x="358875" y="763875"/>
            <a:ext cx="2834700" cy="684300"/>
          </a:xfrm>
          <a:prstGeom prst="rect">
            <a:avLst/>
          </a:prstGeom>
          <a:solidFill>
            <a:srgbClr val="EEF1F5"/>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48" name="Google Shape;848;p21"/>
          <p:cNvSpPr/>
          <p:nvPr/>
        </p:nvSpPr>
        <p:spPr>
          <a:xfrm>
            <a:off x="450315" y="791243"/>
            <a:ext cx="2688300" cy="629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3A47"/>
              </a:buClr>
              <a:buSzPts val="780"/>
              <a:buFont typeface="Calibri"/>
              <a:buNone/>
            </a:pPr>
            <a:r>
              <a:rPr i="1" lang="en-US" sz="880">
                <a:solidFill>
                  <a:srgbClr val="2E3A47"/>
                </a:solidFill>
                <a:latin typeface="Calibri"/>
                <a:ea typeface="Calibri"/>
                <a:cs typeface="Calibri"/>
                <a:sym typeface="Calibri"/>
              </a:rPr>
              <a:t>Purpose: </a:t>
            </a:r>
            <a:r>
              <a:rPr b="0" i="1" lang="en-US" sz="880" u="none" cap="none" strike="noStrike">
                <a:solidFill>
                  <a:srgbClr val="2E3A47"/>
                </a:solidFill>
                <a:latin typeface="Calibri"/>
                <a:ea typeface="Calibri"/>
                <a:cs typeface="Calibri"/>
                <a:sym typeface="Calibri"/>
              </a:rPr>
              <a:t>Provides visibility into whether AI recommendations or planner overrides are more accurate over time, enabling data-driven decision-making and continuous improvement.</a:t>
            </a:r>
            <a:endParaRPr b="0" i="0" sz="880" u="none" cap="none" strike="noStrike">
              <a:solidFill>
                <a:schemeClr val="dk1"/>
              </a:solidFill>
              <a:latin typeface="Calibri"/>
              <a:ea typeface="Calibri"/>
              <a:cs typeface="Calibri"/>
              <a:sym typeface="Calibri"/>
            </a:endParaRPr>
          </a:p>
        </p:txBody>
      </p:sp>
      <p:sp>
        <p:nvSpPr>
          <p:cNvPr id="849" name="Google Shape;849;p21"/>
          <p:cNvSpPr/>
          <p:nvPr/>
        </p:nvSpPr>
        <p:spPr>
          <a:xfrm>
            <a:off x="358870" y="1498560"/>
            <a:ext cx="2834700" cy="237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50" name="Google Shape;850;p21"/>
          <p:cNvSpPr/>
          <p:nvPr/>
        </p:nvSpPr>
        <p:spPr>
          <a:xfrm>
            <a:off x="450310" y="1498560"/>
            <a:ext cx="269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alibri"/>
              <a:buNone/>
            </a:pPr>
            <a:r>
              <a:rPr b="1" i="0" lang="en-US" sz="950" u="none" cap="none" strike="noStrike">
                <a:solidFill>
                  <a:srgbClr val="FFFFFF"/>
                </a:solidFill>
                <a:latin typeface="Calibri"/>
                <a:ea typeface="Calibri"/>
                <a:cs typeface="Calibri"/>
                <a:sym typeface="Calibri"/>
              </a:rPr>
              <a:t>Workflow</a:t>
            </a:r>
            <a:endParaRPr b="0" i="0" sz="950" u="none" cap="none" strike="noStrike">
              <a:solidFill>
                <a:schemeClr val="dk1"/>
              </a:solidFill>
              <a:latin typeface="Calibri"/>
              <a:ea typeface="Calibri"/>
              <a:cs typeface="Calibri"/>
              <a:sym typeface="Calibri"/>
            </a:endParaRPr>
          </a:p>
        </p:txBody>
      </p:sp>
      <p:sp>
        <p:nvSpPr>
          <p:cNvPr id="851" name="Google Shape;851;p21"/>
          <p:cNvSpPr/>
          <p:nvPr/>
        </p:nvSpPr>
        <p:spPr>
          <a:xfrm>
            <a:off x="358870" y="1772880"/>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52" name="Google Shape;852;p21"/>
          <p:cNvSpPr/>
          <p:nvPr/>
        </p:nvSpPr>
        <p:spPr>
          <a:xfrm>
            <a:off x="450310" y="1855176"/>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53" name="Google Shape;853;p21"/>
          <p:cNvSpPr/>
          <p:nvPr/>
        </p:nvSpPr>
        <p:spPr>
          <a:xfrm>
            <a:off x="450310" y="1855176"/>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854" name="Google Shape;854;p21"/>
          <p:cNvSpPr/>
          <p:nvPr/>
        </p:nvSpPr>
        <p:spPr>
          <a:xfrm>
            <a:off x="761206" y="1809456"/>
            <a:ext cx="23409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Understand performance at a glance -- review headline insight summarizing AI vs planner accuracy over selected time period</a:t>
            </a:r>
            <a:endParaRPr b="0" i="0" sz="850" u="none" cap="none" strike="noStrike">
              <a:solidFill>
                <a:schemeClr val="dk1"/>
              </a:solidFill>
              <a:latin typeface="Calibri"/>
              <a:ea typeface="Calibri"/>
              <a:cs typeface="Calibri"/>
              <a:sym typeface="Calibri"/>
            </a:endParaRPr>
          </a:p>
        </p:txBody>
      </p:sp>
      <p:sp>
        <p:nvSpPr>
          <p:cNvPr id="855" name="Google Shape;855;p21"/>
          <p:cNvSpPr/>
          <p:nvPr/>
        </p:nvSpPr>
        <p:spPr>
          <a:xfrm>
            <a:off x="358870" y="2193504"/>
            <a:ext cx="2834700" cy="4206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56" name="Google Shape;856;p21"/>
          <p:cNvSpPr/>
          <p:nvPr/>
        </p:nvSpPr>
        <p:spPr>
          <a:xfrm>
            <a:off x="450310" y="2275800"/>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57" name="Google Shape;857;p21"/>
          <p:cNvSpPr/>
          <p:nvPr/>
        </p:nvSpPr>
        <p:spPr>
          <a:xfrm>
            <a:off x="450310" y="2275800"/>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858" name="Google Shape;858;p21"/>
          <p:cNvSpPr/>
          <p:nvPr/>
        </p:nvSpPr>
        <p:spPr>
          <a:xfrm>
            <a:off x="761206" y="2230080"/>
            <a:ext cx="23409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Analyze accuracy trends over time -- compare AI, planner overrides, and statistical baseline across a rolling horizon</a:t>
            </a:r>
            <a:endParaRPr b="0" i="0" sz="850" u="none" cap="none" strike="noStrike">
              <a:solidFill>
                <a:schemeClr val="dk1"/>
              </a:solidFill>
              <a:latin typeface="Calibri"/>
              <a:ea typeface="Calibri"/>
              <a:cs typeface="Calibri"/>
              <a:sym typeface="Calibri"/>
            </a:endParaRPr>
          </a:p>
        </p:txBody>
      </p:sp>
      <p:sp>
        <p:nvSpPr>
          <p:cNvPr id="859" name="Google Shape;859;p21"/>
          <p:cNvSpPr/>
          <p:nvPr/>
        </p:nvSpPr>
        <p:spPr>
          <a:xfrm>
            <a:off x="358870" y="2614128"/>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60" name="Google Shape;860;p21"/>
          <p:cNvSpPr/>
          <p:nvPr/>
        </p:nvSpPr>
        <p:spPr>
          <a:xfrm>
            <a:off x="450310" y="2696424"/>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61" name="Google Shape;861;p21"/>
          <p:cNvSpPr/>
          <p:nvPr/>
        </p:nvSpPr>
        <p:spPr>
          <a:xfrm>
            <a:off x="450310" y="2696424"/>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862" name="Google Shape;862;p21"/>
          <p:cNvSpPr/>
          <p:nvPr/>
        </p:nvSpPr>
        <p:spPr>
          <a:xfrm>
            <a:off x="761206" y="2650704"/>
            <a:ext cx="23409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Identify strengths by demand type -- see where AI leads (e.g., scheduled maintenance) vs where planner judgment adds value</a:t>
            </a:r>
            <a:endParaRPr b="0" i="0" sz="850" u="none" cap="none" strike="noStrike">
              <a:solidFill>
                <a:schemeClr val="dk1"/>
              </a:solidFill>
              <a:latin typeface="Calibri"/>
              <a:ea typeface="Calibri"/>
              <a:cs typeface="Calibri"/>
              <a:sym typeface="Calibri"/>
            </a:endParaRPr>
          </a:p>
        </p:txBody>
      </p:sp>
      <p:sp>
        <p:nvSpPr>
          <p:cNvPr id="863" name="Google Shape;863;p21"/>
          <p:cNvSpPr/>
          <p:nvPr/>
        </p:nvSpPr>
        <p:spPr>
          <a:xfrm>
            <a:off x="358870" y="3034752"/>
            <a:ext cx="2834700" cy="420600"/>
          </a:xfrm>
          <a:prstGeom prst="rect">
            <a:avLst/>
          </a:prstGeom>
          <a:solidFill>
            <a:srgbClr val="F0F4F8"/>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64" name="Google Shape;864;p21"/>
          <p:cNvSpPr/>
          <p:nvPr/>
        </p:nvSpPr>
        <p:spPr>
          <a:xfrm>
            <a:off x="450310" y="3117048"/>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65" name="Google Shape;865;p21"/>
          <p:cNvSpPr/>
          <p:nvPr/>
        </p:nvSpPr>
        <p:spPr>
          <a:xfrm>
            <a:off x="450310" y="3117048"/>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866" name="Google Shape;866;p21"/>
          <p:cNvSpPr/>
          <p:nvPr/>
        </p:nvSpPr>
        <p:spPr>
          <a:xfrm>
            <a:off x="761206" y="3071328"/>
            <a:ext cx="23409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Review high-impact decisions - examine largest overrides and whether they improved or reduced forecast accuracy</a:t>
            </a:r>
            <a:endParaRPr b="0" i="0" sz="850" u="none" cap="none" strike="noStrike">
              <a:solidFill>
                <a:schemeClr val="dk1"/>
              </a:solidFill>
              <a:latin typeface="Calibri"/>
              <a:ea typeface="Calibri"/>
              <a:cs typeface="Calibri"/>
              <a:sym typeface="Calibri"/>
            </a:endParaRPr>
          </a:p>
        </p:txBody>
      </p:sp>
      <p:sp>
        <p:nvSpPr>
          <p:cNvPr id="867" name="Google Shape;867;p21"/>
          <p:cNvSpPr/>
          <p:nvPr/>
        </p:nvSpPr>
        <p:spPr>
          <a:xfrm>
            <a:off x="358870" y="3455376"/>
            <a:ext cx="2834700" cy="420600"/>
          </a:xfrm>
          <a:prstGeom prst="rect">
            <a:avLst/>
          </a:prstGeom>
          <a:solidFill>
            <a:srgbClr val="FFFFFF"/>
          </a:solidFill>
          <a:ln cap="flat" cmpd="sng" w="9525">
            <a:solidFill>
              <a:srgbClr val="D8D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68" name="Google Shape;868;p21"/>
          <p:cNvSpPr/>
          <p:nvPr/>
        </p:nvSpPr>
        <p:spPr>
          <a:xfrm>
            <a:off x="450310" y="3537672"/>
            <a:ext cx="237600" cy="237600"/>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69" name="Google Shape;869;p21"/>
          <p:cNvSpPr/>
          <p:nvPr/>
        </p:nvSpPr>
        <p:spPr>
          <a:xfrm>
            <a:off x="450310" y="3537672"/>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870" name="Google Shape;870;p21"/>
          <p:cNvSpPr/>
          <p:nvPr/>
        </p:nvSpPr>
        <p:spPr>
          <a:xfrm>
            <a:off x="761206" y="3491952"/>
            <a:ext cx="23409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A47"/>
              </a:buClr>
              <a:buSzPts val="750"/>
              <a:buFont typeface="Calibri"/>
              <a:buNone/>
            </a:pPr>
            <a:r>
              <a:rPr b="0" i="0" lang="en-US" sz="850" u="none" cap="none" strike="noStrike">
                <a:solidFill>
                  <a:srgbClr val="2E3A47"/>
                </a:solidFill>
                <a:latin typeface="Calibri"/>
                <a:ea typeface="Calibri"/>
                <a:cs typeface="Calibri"/>
                <a:sym typeface="Calibri"/>
              </a:rPr>
              <a:t>Detect systematic bias -- identify over- or under-forecasting patterns across demand categories</a:t>
            </a:r>
            <a:endParaRPr b="0" i="0" sz="850" u="none" cap="none" strike="noStrike">
              <a:solidFill>
                <a:schemeClr val="dk1"/>
              </a:solidFill>
              <a:latin typeface="Calibri"/>
              <a:ea typeface="Calibri"/>
              <a:cs typeface="Calibri"/>
              <a:sym typeface="Calibri"/>
            </a:endParaRPr>
          </a:p>
        </p:txBody>
      </p:sp>
      <p:sp>
        <p:nvSpPr>
          <p:cNvPr id="871" name="Google Shape;871;p21"/>
          <p:cNvSpPr/>
          <p:nvPr/>
        </p:nvSpPr>
        <p:spPr>
          <a:xfrm>
            <a:off x="358875" y="3930874"/>
            <a:ext cx="2834700" cy="6843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872" name="Google Shape;872;p21"/>
          <p:cNvSpPr/>
          <p:nvPr/>
        </p:nvSpPr>
        <p:spPr>
          <a:xfrm>
            <a:off x="486891" y="3985608"/>
            <a:ext cx="2651700" cy="57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0" i="0" lang="en-US" sz="850" u="none" cap="none" strike="noStrike">
                <a:solidFill>
                  <a:srgbClr val="FFFFFF"/>
                </a:solidFill>
                <a:latin typeface="Calibri"/>
                <a:ea typeface="Calibri"/>
                <a:cs typeface="Calibri"/>
                <a:sym typeface="Calibri"/>
              </a:rPr>
              <a:t>Builds trust through transparent performance measurement, enabling planners to improve decisions over time and guiding when to rely on AI vs human judgment</a:t>
            </a:r>
            <a:endParaRPr b="0" i="0" sz="850" u="none" cap="none" strike="noStrike">
              <a:solidFill>
                <a:schemeClr val="dk1"/>
              </a:solidFill>
              <a:latin typeface="Calibri"/>
              <a:ea typeface="Calibri"/>
              <a:cs typeface="Calibri"/>
              <a:sym typeface="Calibri"/>
            </a:endParaRPr>
          </a:p>
        </p:txBody>
      </p:sp>
      <p:pic>
        <p:nvPicPr>
          <p:cNvPr id="873" name="Google Shape;873;p21" title="Screen4-FVA Dashboard-part2.png"/>
          <p:cNvPicPr preferRelativeResize="0"/>
          <p:nvPr/>
        </p:nvPicPr>
        <p:blipFill rotWithShape="1">
          <a:blip r:embed="rId3">
            <a:alphaModFix/>
          </a:blip>
          <a:srcRect b="53104" l="0" r="0" t="0"/>
          <a:stretch/>
        </p:blipFill>
        <p:spPr>
          <a:xfrm>
            <a:off x="3853600" y="650632"/>
            <a:ext cx="4760701" cy="1358999"/>
          </a:xfrm>
          <a:prstGeom prst="rect">
            <a:avLst/>
          </a:prstGeom>
          <a:noFill/>
          <a:ln>
            <a:noFill/>
          </a:ln>
        </p:spPr>
      </p:pic>
      <p:pic>
        <p:nvPicPr>
          <p:cNvPr id="874" name="Google Shape;874;p21" title="Screen4-FVA Dashboard-part3.png"/>
          <p:cNvPicPr preferRelativeResize="0"/>
          <p:nvPr/>
        </p:nvPicPr>
        <p:blipFill>
          <a:blip r:embed="rId4">
            <a:alphaModFix/>
          </a:blip>
          <a:stretch>
            <a:fillRect/>
          </a:stretch>
        </p:blipFill>
        <p:spPr>
          <a:xfrm>
            <a:off x="3853600" y="2038425"/>
            <a:ext cx="4760701" cy="28979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5C"/>
        </a:solidFill>
      </p:bgPr>
    </p:bg>
    <p:spTree>
      <p:nvGrpSpPr>
        <p:cNvPr id="879" name="Shape 879"/>
        <p:cNvGrpSpPr/>
        <p:nvPr/>
      </p:nvGrpSpPr>
      <p:grpSpPr>
        <a:xfrm>
          <a:off x="0" y="0"/>
          <a:ext cx="0" cy="0"/>
          <a:chOff x="0" y="0"/>
          <a:chExt cx="0" cy="0"/>
        </a:xfrm>
      </p:grpSpPr>
      <p:sp>
        <p:nvSpPr>
          <p:cNvPr id="880" name="Google Shape;880;p22"/>
          <p:cNvSpPr/>
          <p:nvPr/>
        </p:nvSpPr>
        <p:spPr>
          <a:xfrm>
            <a:off x="0" y="0"/>
            <a:ext cx="9144000" cy="621792"/>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2"/>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2"/>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Why Partcast Wins</a:t>
            </a:r>
            <a:endParaRPr b="0" i="0" sz="2000" u="none" cap="none" strike="noStrike">
              <a:solidFill>
                <a:schemeClr val="dk1"/>
              </a:solidFill>
              <a:latin typeface="Calibri"/>
              <a:ea typeface="Calibri"/>
              <a:cs typeface="Calibri"/>
              <a:sym typeface="Calibri"/>
            </a:endParaRPr>
          </a:p>
        </p:txBody>
      </p:sp>
      <p:sp>
        <p:nvSpPr>
          <p:cNvPr id="883" name="Google Shape;883;p22"/>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2"/>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885" name="Google Shape;885;p22"/>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19</a:t>
            </a:r>
            <a:endParaRPr b="0" i="0" sz="750" u="none" cap="none" strike="noStrike">
              <a:solidFill>
                <a:schemeClr val="dk1"/>
              </a:solidFill>
              <a:latin typeface="Calibri"/>
              <a:ea typeface="Calibri"/>
              <a:cs typeface="Calibri"/>
              <a:sym typeface="Calibri"/>
            </a:endParaRPr>
          </a:p>
        </p:txBody>
      </p:sp>
      <p:sp>
        <p:nvSpPr>
          <p:cNvPr id="886" name="Google Shape;886;p22"/>
          <p:cNvSpPr/>
          <p:nvPr/>
        </p:nvSpPr>
        <p:spPr>
          <a:xfrm>
            <a:off x="0" y="0"/>
            <a:ext cx="9144000" cy="621792"/>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2"/>
          <p:cNvSpPr/>
          <p:nvPr/>
        </p:nvSpPr>
        <p:spPr>
          <a:xfrm>
            <a:off x="0" y="0"/>
            <a:ext cx="54864" cy="6217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2"/>
          <p:cNvSpPr/>
          <p:nvPr/>
        </p:nvSpPr>
        <p:spPr>
          <a:xfrm>
            <a:off x="201168" y="0"/>
            <a:ext cx="85039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Why Partcast Wins</a:t>
            </a:r>
            <a:endParaRPr b="0" i="0" sz="2000" u="none" cap="none" strike="noStrike">
              <a:solidFill>
                <a:schemeClr val="dk1"/>
              </a:solidFill>
              <a:latin typeface="Calibri"/>
              <a:ea typeface="Calibri"/>
              <a:cs typeface="Calibri"/>
              <a:sym typeface="Calibri"/>
            </a:endParaRPr>
          </a:p>
        </p:txBody>
      </p:sp>
      <p:sp>
        <p:nvSpPr>
          <p:cNvPr id="889" name="Google Shape;889;p22"/>
          <p:cNvSpPr/>
          <p:nvPr/>
        </p:nvSpPr>
        <p:spPr>
          <a:xfrm>
            <a:off x="0" y="4965192"/>
            <a:ext cx="9144000" cy="178308"/>
          </a:xfrm>
          <a:prstGeom prst="rect">
            <a:avLst/>
          </a:prstGeom>
          <a:solidFill>
            <a:srgbClr val="122840"/>
          </a:solidFill>
          <a:ln cap="flat" cmpd="sng" w="12700">
            <a:solidFill>
              <a:srgbClr val="1228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2"/>
          <p:cNvSpPr/>
          <p:nvPr/>
        </p:nvSpPr>
        <p:spPr>
          <a:xfrm>
            <a:off x="228600" y="4965192"/>
            <a:ext cx="274320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PARTCAST</a:t>
            </a:r>
            <a:endParaRPr b="0" i="0" sz="750" u="none" cap="none" strike="noStrike">
              <a:solidFill>
                <a:schemeClr val="dk1"/>
              </a:solidFill>
              <a:latin typeface="Calibri"/>
              <a:ea typeface="Calibri"/>
              <a:cs typeface="Calibri"/>
              <a:sym typeface="Calibri"/>
            </a:endParaRPr>
          </a:p>
        </p:txBody>
      </p:sp>
      <p:sp>
        <p:nvSpPr>
          <p:cNvPr id="891" name="Google Shape;891;p22"/>
          <p:cNvSpPr/>
          <p:nvPr/>
        </p:nvSpPr>
        <p:spPr>
          <a:xfrm>
            <a:off x="8686800" y="4965192"/>
            <a:ext cx="365760" cy="1783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750"/>
              <a:buFont typeface="Calibri"/>
              <a:buNone/>
            </a:pPr>
            <a:r>
              <a:rPr b="0" i="0" lang="en-US" sz="750" u="none" cap="none" strike="noStrike">
                <a:solidFill>
                  <a:srgbClr val="FFFFFF"/>
                </a:solidFill>
                <a:latin typeface="Calibri"/>
                <a:ea typeface="Calibri"/>
                <a:cs typeface="Calibri"/>
                <a:sym typeface="Calibri"/>
              </a:rPr>
              <a:t>19</a:t>
            </a:r>
            <a:endParaRPr b="0" i="0" sz="750" u="none" cap="none" strike="noStrike">
              <a:solidFill>
                <a:schemeClr val="dk1"/>
              </a:solidFill>
              <a:latin typeface="Calibri"/>
              <a:ea typeface="Calibri"/>
              <a:cs typeface="Calibri"/>
              <a:sym typeface="Calibri"/>
            </a:endParaRPr>
          </a:p>
        </p:txBody>
      </p:sp>
      <p:sp>
        <p:nvSpPr>
          <p:cNvPr id="892" name="Google Shape;892;p22"/>
          <p:cNvSpPr/>
          <p:nvPr/>
        </p:nvSpPr>
        <p:spPr>
          <a:xfrm>
            <a:off x="274320" y="749808"/>
            <a:ext cx="2834640" cy="1828800"/>
          </a:xfrm>
          <a:prstGeom prst="rect">
            <a:avLst/>
          </a:prstGeom>
          <a:solidFill>
            <a:srgbClr val="2A4E72"/>
          </a:solidFill>
          <a:ln cap="flat" cmpd="sng" w="9525">
            <a:solidFill>
              <a:srgbClr val="2E5070"/>
            </a:solidFill>
            <a:prstDash val="solid"/>
            <a:round/>
            <a:headEnd len="sm" w="sm" type="none"/>
            <a:tailEnd len="sm" w="sm" type="none"/>
          </a:ln>
          <a:effectLst>
            <a:outerShdw blurRad="1016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2"/>
          <p:cNvSpPr/>
          <p:nvPr/>
        </p:nvSpPr>
        <p:spPr>
          <a:xfrm>
            <a:off x="274320" y="749808"/>
            <a:ext cx="2834640"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2"/>
          <p:cNvSpPr/>
          <p:nvPr/>
        </p:nvSpPr>
        <p:spPr>
          <a:xfrm>
            <a:off x="2606040" y="822960"/>
            <a:ext cx="411480" cy="5029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A4E72"/>
              </a:buClr>
              <a:buSzPts val="3600"/>
              <a:buFont typeface="Calibri"/>
              <a:buNone/>
            </a:pPr>
            <a:r>
              <a:rPr b="1" i="0" lang="en-US" sz="3600" u="none" cap="none" strike="noStrike">
                <a:solidFill>
                  <a:srgbClr val="2A4E72"/>
                </a:solidFill>
                <a:latin typeface="Calibri"/>
                <a:ea typeface="Calibri"/>
                <a:cs typeface="Calibri"/>
                <a:sym typeface="Calibri"/>
              </a:rPr>
              <a:t>1</a:t>
            </a:r>
            <a:endParaRPr b="0" i="0" sz="3600" u="none" cap="none" strike="noStrike">
              <a:solidFill>
                <a:schemeClr val="dk1"/>
              </a:solidFill>
              <a:latin typeface="Calibri"/>
              <a:ea typeface="Calibri"/>
              <a:cs typeface="Calibri"/>
              <a:sym typeface="Calibri"/>
            </a:endParaRPr>
          </a:p>
        </p:txBody>
      </p:sp>
      <p:sp>
        <p:nvSpPr>
          <p:cNvPr id="895" name="Google Shape;895;p22"/>
          <p:cNvSpPr/>
          <p:nvPr/>
        </p:nvSpPr>
        <p:spPr>
          <a:xfrm>
            <a:off x="402336" y="859536"/>
            <a:ext cx="2212848" cy="43891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950"/>
              <a:buFont typeface="Calibri"/>
              <a:buNone/>
            </a:pPr>
            <a:r>
              <a:rPr b="1" i="0" lang="en-US" sz="1150" u="none" cap="none" strike="noStrike">
                <a:solidFill>
                  <a:srgbClr val="FFFFFF"/>
                </a:solidFill>
                <a:latin typeface="Calibri"/>
                <a:ea typeface="Calibri"/>
                <a:cs typeface="Calibri"/>
                <a:sym typeface="Calibri"/>
              </a:rPr>
              <a:t>Owns the planning workflow (not just data)</a:t>
            </a:r>
            <a:endParaRPr b="0" i="0" sz="1150" u="none" cap="none" strike="noStrike">
              <a:solidFill>
                <a:schemeClr val="dk1"/>
              </a:solidFill>
              <a:latin typeface="Calibri"/>
              <a:ea typeface="Calibri"/>
              <a:cs typeface="Calibri"/>
              <a:sym typeface="Calibri"/>
            </a:endParaRPr>
          </a:p>
        </p:txBody>
      </p:sp>
      <p:cxnSp>
        <p:nvCxnSpPr>
          <p:cNvPr id="896" name="Google Shape;896;p22"/>
          <p:cNvCxnSpPr/>
          <p:nvPr/>
        </p:nvCxnSpPr>
        <p:spPr>
          <a:xfrm>
            <a:off x="402336" y="1353312"/>
            <a:ext cx="2578608" cy="0"/>
          </a:xfrm>
          <a:prstGeom prst="straightConnector1">
            <a:avLst/>
          </a:prstGeom>
          <a:noFill/>
          <a:ln cap="flat" cmpd="sng" w="9525">
            <a:solidFill>
              <a:srgbClr val="2E5070"/>
            </a:solidFill>
            <a:prstDash val="solid"/>
            <a:round/>
            <a:headEnd len="sm" w="sm" type="none"/>
            <a:tailEnd len="sm" w="sm" type="none"/>
          </a:ln>
        </p:spPr>
      </p:cxnSp>
      <p:sp>
        <p:nvSpPr>
          <p:cNvPr id="897" name="Google Shape;897;p22"/>
          <p:cNvSpPr/>
          <p:nvPr/>
        </p:nvSpPr>
        <p:spPr>
          <a:xfrm>
            <a:off x="402336" y="1356005"/>
            <a:ext cx="2578500" cy="100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8C4DC"/>
              </a:buClr>
              <a:buSzPts val="800"/>
              <a:buFont typeface="Calibri"/>
              <a:buNone/>
            </a:pPr>
            <a:r>
              <a:rPr b="0" i="0" lang="en-US" sz="1000" u="none" cap="none" strike="noStrike">
                <a:solidFill>
                  <a:srgbClr val="A8C4DC"/>
                </a:solidFill>
                <a:latin typeface="Calibri"/>
                <a:ea typeface="Calibri"/>
                <a:cs typeface="Calibri"/>
                <a:sym typeface="Calibri"/>
              </a:rPr>
              <a:t>Partcast replaces the most critical and underserved workflow in MRO planning -- the demand review cycle. Instead of acting as a reporting layer, it becomes the system where planners evaluate, decide, and act, embedding directly into daily operations.</a:t>
            </a:r>
            <a:endParaRPr b="0" i="0" sz="1000" u="none" cap="none" strike="noStrike">
              <a:solidFill>
                <a:schemeClr val="dk1"/>
              </a:solidFill>
              <a:latin typeface="Calibri"/>
              <a:ea typeface="Calibri"/>
              <a:cs typeface="Calibri"/>
              <a:sym typeface="Calibri"/>
            </a:endParaRPr>
          </a:p>
        </p:txBody>
      </p:sp>
      <p:sp>
        <p:nvSpPr>
          <p:cNvPr id="898" name="Google Shape;898;p22"/>
          <p:cNvSpPr/>
          <p:nvPr/>
        </p:nvSpPr>
        <p:spPr>
          <a:xfrm>
            <a:off x="3291840" y="749808"/>
            <a:ext cx="2834640" cy="1828800"/>
          </a:xfrm>
          <a:prstGeom prst="rect">
            <a:avLst/>
          </a:prstGeom>
          <a:solidFill>
            <a:srgbClr val="2A4E72"/>
          </a:solidFill>
          <a:ln cap="flat" cmpd="sng" w="9525">
            <a:solidFill>
              <a:srgbClr val="2E5070"/>
            </a:solidFill>
            <a:prstDash val="solid"/>
            <a:round/>
            <a:headEnd len="sm" w="sm" type="none"/>
            <a:tailEnd len="sm" w="sm" type="none"/>
          </a:ln>
          <a:effectLst>
            <a:outerShdw blurRad="1016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2"/>
          <p:cNvSpPr/>
          <p:nvPr/>
        </p:nvSpPr>
        <p:spPr>
          <a:xfrm>
            <a:off x="3291840" y="749808"/>
            <a:ext cx="2834640"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2"/>
          <p:cNvSpPr/>
          <p:nvPr/>
        </p:nvSpPr>
        <p:spPr>
          <a:xfrm>
            <a:off x="5623560" y="822960"/>
            <a:ext cx="411480" cy="5029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A4E72"/>
              </a:buClr>
              <a:buSzPts val="3600"/>
              <a:buFont typeface="Calibri"/>
              <a:buNone/>
            </a:pPr>
            <a:r>
              <a:rPr b="1" i="0" lang="en-US" sz="3600" u="none" cap="none" strike="noStrike">
                <a:solidFill>
                  <a:srgbClr val="2A4E72"/>
                </a:solidFill>
                <a:latin typeface="Calibri"/>
                <a:ea typeface="Calibri"/>
                <a:cs typeface="Calibri"/>
                <a:sym typeface="Calibri"/>
              </a:rPr>
              <a:t>2</a:t>
            </a:r>
            <a:endParaRPr b="0" i="0" sz="3600" u="none" cap="none" strike="noStrike">
              <a:solidFill>
                <a:schemeClr val="dk1"/>
              </a:solidFill>
              <a:latin typeface="Calibri"/>
              <a:ea typeface="Calibri"/>
              <a:cs typeface="Calibri"/>
              <a:sym typeface="Calibri"/>
            </a:endParaRPr>
          </a:p>
        </p:txBody>
      </p:sp>
      <p:sp>
        <p:nvSpPr>
          <p:cNvPr id="901" name="Google Shape;901;p22"/>
          <p:cNvSpPr/>
          <p:nvPr/>
        </p:nvSpPr>
        <p:spPr>
          <a:xfrm>
            <a:off x="3419856" y="859536"/>
            <a:ext cx="2212848" cy="43891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950"/>
              <a:buFont typeface="Calibri"/>
              <a:buNone/>
            </a:pPr>
            <a:r>
              <a:rPr b="1" i="0" lang="en-US" sz="1150" u="none" cap="none" strike="noStrike">
                <a:solidFill>
                  <a:srgbClr val="FFFFFF"/>
                </a:solidFill>
                <a:latin typeface="Calibri"/>
                <a:ea typeface="Calibri"/>
                <a:cs typeface="Calibri"/>
                <a:sym typeface="Calibri"/>
              </a:rPr>
              <a:t>Builds a proprietary decision dataset</a:t>
            </a:r>
            <a:endParaRPr b="0" i="0" sz="1150" u="none" cap="none" strike="noStrike">
              <a:solidFill>
                <a:schemeClr val="dk1"/>
              </a:solidFill>
              <a:latin typeface="Calibri"/>
              <a:ea typeface="Calibri"/>
              <a:cs typeface="Calibri"/>
              <a:sym typeface="Calibri"/>
            </a:endParaRPr>
          </a:p>
        </p:txBody>
      </p:sp>
      <p:cxnSp>
        <p:nvCxnSpPr>
          <p:cNvPr id="902" name="Google Shape;902;p22"/>
          <p:cNvCxnSpPr/>
          <p:nvPr/>
        </p:nvCxnSpPr>
        <p:spPr>
          <a:xfrm>
            <a:off x="3419856" y="1353312"/>
            <a:ext cx="2578608" cy="0"/>
          </a:xfrm>
          <a:prstGeom prst="straightConnector1">
            <a:avLst/>
          </a:prstGeom>
          <a:noFill/>
          <a:ln cap="flat" cmpd="sng" w="9525">
            <a:solidFill>
              <a:srgbClr val="2E5070"/>
            </a:solidFill>
            <a:prstDash val="solid"/>
            <a:round/>
            <a:headEnd len="sm" w="sm" type="none"/>
            <a:tailEnd len="sm" w="sm" type="none"/>
          </a:ln>
        </p:spPr>
      </p:cxnSp>
      <p:sp>
        <p:nvSpPr>
          <p:cNvPr id="903" name="Google Shape;903;p22"/>
          <p:cNvSpPr/>
          <p:nvPr/>
        </p:nvSpPr>
        <p:spPr>
          <a:xfrm>
            <a:off x="3419856" y="1356005"/>
            <a:ext cx="2578500" cy="100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8C4DC"/>
              </a:buClr>
              <a:buSzPts val="800"/>
              <a:buFont typeface="Calibri"/>
              <a:buNone/>
            </a:pPr>
            <a:r>
              <a:rPr b="0" i="0" lang="en-US" sz="1000" u="none" cap="none" strike="noStrike">
                <a:solidFill>
                  <a:srgbClr val="A8C4DC"/>
                </a:solidFill>
                <a:latin typeface="Calibri"/>
                <a:ea typeface="Calibri"/>
                <a:cs typeface="Calibri"/>
                <a:sym typeface="Calibri"/>
              </a:rPr>
              <a:t>Every interaction generates structured data: demand signals (ADs, schedules, utilization), planner overrides and rationale, forecast vs actual outcomes. This creates a customer-specific dataset of decisions and outcomes that cannot be replicated without sustained usage.</a:t>
            </a:r>
            <a:endParaRPr b="0" i="0" sz="1000" u="none" cap="none" strike="noStrike">
              <a:solidFill>
                <a:schemeClr val="dk1"/>
              </a:solidFill>
              <a:latin typeface="Calibri"/>
              <a:ea typeface="Calibri"/>
              <a:cs typeface="Calibri"/>
              <a:sym typeface="Calibri"/>
            </a:endParaRPr>
          </a:p>
        </p:txBody>
      </p:sp>
      <p:sp>
        <p:nvSpPr>
          <p:cNvPr id="904" name="Google Shape;904;p22"/>
          <p:cNvSpPr/>
          <p:nvPr/>
        </p:nvSpPr>
        <p:spPr>
          <a:xfrm>
            <a:off x="6309360" y="749808"/>
            <a:ext cx="2560320" cy="1828800"/>
          </a:xfrm>
          <a:prstGeom prst="rect">
            <a:avLst/>
          </a:prstGeom>
          <a:solidFill>
            <a:srgbClr val="2A4E72"/>
          </a:solidFill>
          <a:ln cap="flat" cmpd="sng" w="9525">
            <a:solidFill>
              <a:srgbClr val="2E5070"/>
            </a:solidFill>
            <a:prstDash val="solid"/>
            <a:round/>
            <a:headEnd len="sm" w="sm" type="none"/>
            <a:tailEnd len="sm" w="sm" type="none"/>
          </a:ln>
          <a:effectLst>
            <a:outerShdw blurRad="1016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2"/>
          <p:cNvSpPr/>
          <p:nvPr/>
        </p:nvSpPr>
        <p:spPr>
          <a:xfrm>
            <a:off x="6309360" y="749808"/>
            <a:ext cx="2560320"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2"/>
          <p:cNvSpPr/>
          <p:nvPr/>
        </p:nvSpPr>
        <p:spPr>
          <a:xfrm>
            <a:off x="8366760" y="822960"/>
            <a:ext cx="411480" cy="5029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A4E72"/>
              </a:buClr>
              <a:buSzPts val="3600"/>
              <a:buFont typeface="Calibri"/>
              <a:buNone/>
            </a:pPr>
            <a:r>
              <a:rPr b="1" i="0" lang="en-US" sz="3600" u="none" cap="none" strike="noStrike">
                <a:solidFill>
                  <a:srgbClr val="2A4E72"/>
                </a:solidFill>
                <a:latin typeface="Calibri"/>
                <a:ea typeface="Calibri"/>
                <a:cs typeface="Calibri"/>
                <a:sym typeface="Calibri"/>
              </a:rPr>
              <a:t>3</a:t>
            </a:r>
            <a:endParaRPr b="0" i="0" sz="3600" u="none" cap="none" strike="noStrike">
              <a:solidFill>
                <a:schemeClr val="dk1"/>
              </a:solidFill>
              <a:latin typeface="Calibri"/>
              <a:ea typeface="Calibri"/>
              <a:cs typeface="Calibri"/>
              <a:sym typeface="Calibri"/>
            </a:endParaRPr>
          </a:p>
        </p:txBody>
      </p:sp>
      <p:sp>
        <p:nvSpPr>
          <p:cNvPr id="907" name="Google Shape;907;p22"/>
          <p:cNvSpPr/>
          <p:nvPr/>
        </p:nvSpPr>
        <p:spPr>
          <a:xfrm>
            <a:off x="6437376" y="859536"/>
            <a:ext cx="1938528" cy="43891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950"/>
              <a:buFont typeface="Calibri"/>
              <a:buNone/>
            </a:pPr>
            <a:r>
              <a:rPr b="1" i="0" lang="en-US" sz="1150" u="none" cap="none" strike="noStrike">
                <a:solidFill>
                  <a:srgbClr val="FFFFFF"/>
                </a:solidFill>
                <a:latin typeface="Calibri"/>
                <a:ea typeface="Calibri"/>
                <a:cs typeface="Calibri"/>
                <a:sym typeface="Calibri"/>
              </a:rPr>
              <a:t>Improves continuously through human-in-the-loop learning</a:t>
            </a:r>
            <a:endParaRPr b="0" i="0" sz="1150" u="none" cap="none" strike="noStrike">
              <a:solidFill>
                <a:schemeClr val="dk1"/>
              </a:solidFill>
              <a:latin typeface="Calibri"/>
              <a:ea typeface="Calibri"/>
              <a:cs typeface="Calibri"/>
              <a:sym typeface="Calibri"/>
            </a:endParaRPr>
          </a:p>
        </p:txBody>
      </p:sp>
      <p:cxnSp>
        <p:nvCxnSpPr>
          <p:cNvPr id="908" name="Google Shape;908;p22"/>
          <p:cNvCxnSpPr/>
          <p:nvPr/>
        </p:nvCxnSpPr>
        <p:spPr>
          <a:xfrm>
            <a:off x="6437376" y="1353312"/>
            <a:ext cx="2304288" cy="0"/>
          </a:xfrm>
          <a:prstGeom prst="straightConnector1">
            <a:avLst/>
          </a:prstGeom>
          <a:noFill/>
          <a:ln cap="flat" cmpd="sng" w="9525">
            <a:solidFill>
              <a:srgbClr val="2E5070"/>
            </a:solidFill>
            <a:prstDash val="solid"/>
            <a:round/>
            <a:headEnd len="sm" w="sm" type="none"/>
            <a:tailEnd len="sm" w="sm" type="none"/>
          </a:ln>
        </p:spPr>
      </p:cxnSp>
      <p:sp>
        <p:nvSpPr>
          <p:cNvPr id="909" name="Google Shape;909;p22"/>
          <p:cNvSpPr/>
          <p:nvPr/>
        </p:nvSpPr>
        <p:spPr>
          <a:xfrm>
            <a:off x="6437376" y="1356005"/>
            <a:ext cx="2304300" cy="100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8C4DC"/>
              </a:buClr>
              <a:buSzPts val="800"/>
              <a:buFont typeface="Calibri"/>
              <a:buNone/>
            </a:pPr>
            <a:r>
              <a:rPr b="0" i="0" lang="en-US" sz="1000" u="none" cap="none" strike="noStrike">
                <a:solidFill>
                  <a:srgbClr val="A8C4DC"/>
                </a:solidFill>
                <a:latin typeface="Calibri"/>
                <a:ea typeface="Calibri"/>
                <a:cs typeface="Calibri"/>
                <a:sym typeface="Calibri"/>
              </a:rPr>
              <a:t>The system learns from when planners override, when AI is correct, and where each approach performs better. Over time, this leads to higher forecast accuracy (FVA), better calibration of AI recommendations, and increasing planner trust and adoption.</a:t>
            </a:r>
            <a:endParaRPr b="0" i="0" sz="1000" u="none" cap="none" strike="noStrike">
              <a:solidFill>
                <a:schemeClr val="dk1"/>
              </a:solidFill>
              <a:latin typeface="Calibri"/>
              <a:ea typeface="Calibri"/>
              <a:cs typeface="Calibri"/>
              <a:sym typeface="Calibri"/>
            </a:endParaRPr>
          </a:p>
        </p:txBody>
      </p:sp>
      <p:sp>
        <p:nvSpPr>
          <p:cNvPr id="910" name="Google Shape;910;p22"/>
          <p:cNvSpPr/>
          <p:nvPr/>
        </p:nvSpPr>
        <p:spPr>
          <a:xfrm>
            <a:off x="274325" y="2743200"/>
            <a:ext cx="4251900" cy="1555800"/>
          </a:xfrm>
          <a:prstGeom prst="rect">
            <a:avLst/>
          </a:prstGeom>
          <a:solidFill>
            <a:srgbClr val="2A4E72"/>
          </a:solidFill>
          <a:ln cap="flat" cmpd="sng" w="9525">
            <a:solidFill>
              <a:srgbClr val="2E5070"/>
            </a:solidFill>
            <a:prstDash val="solid"/>
            <a:round/>
            <a:headEnd len="sm" w="sm" type="none"/>
            <a:tailEnd len="sm" w="sm" type="none"/>
          </a:ln>
          <a:effectLst>
            <a:outerShdw blurRad="1016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2"/>
          <p:cNvSpPr/>
          <p:nvPr/>
        </p:nvSpPr>
        <p:spPr>
          <a:xfrm>
            <a:off x="274320" y="2743200"/>
            <a:ext cx="4251960"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p:nvPr/>
        </p:nvSpPr>
        <p:spPr>
          <a:xfrm>
            <a:off x="4023360" y="2816352"/>
            <a:ext cx="411480" cy="5029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A4E72"/>
              </a:buClr>
              <a:buSzPts val="3600"/>
              <a:buFont typeface="Calibri"/>
              <a:buNone/>
            </a:pPr>
            <a:r>
              <a:rPr b="1" i="0" lang="en-US" sz="3600" u="none" cap="none" strike="noStrike">
                <a:solidFill>
                  <a:srgbClr val="2A4E72"/>
                </a:solidFill>
                <a:latin typeface="Calibri"/>
                <a:ea typeface="Calibri"/>
                <a:cs typeface="Calibri"/>
                <a:sym typeface="Calibri"/>
              </a:rPr>
              <a:t>4</a:t>
            </a:r>
            <a:endParaRPr b="0" i="0" sz="3600" u="none" cap="none" strike="noStrike">
              <a:solidFill>
                <a:schemeClr val="dk1"/>
              </a:solidFill>
              <a:latin typeface="Calibri"/>
              <a:ea typeface="Calibri"/>
              <a:cs typeface="Calibri"/>
              <a:sym typeface="Calibri"/>
            </a:endParaRPr>
          </a:p>
        </p:txBody>
      </p:sp>
      <p:sp>
        <p:nvSpPr>
          <p:cNvPr id="913" name="Google Shape;913;p22"/>
          <p:cNvSpPr/>
          <p:nvPr/>
        </p:nvSpPr>
        <p:spPr>
          <a:xfrm>
            <a:off x="402336" y="2852928"/>
            <a:ext cx="3630168" cy="43891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950"/>
              <a:buFont typeface="Calibri"/>
              <a:buNone/>
            </a:pPr>
            <a:r>
              <a:rPr b="1" i="0" lang="en-US" sz="1150" u="none" cap="none" strike="noStrike">
                <a:solidFill>
                  <a:srgbClr val="FFFFFF"/>
                </a:solidFill>
                <a:latin typeface="Calibri"/>
                <a:ea typeface="Calibri"/>
                <a:cs typeface="Calibri"/>
                <a:sym typeface="Calibri"/>
              </a:rPr>
              <a:t>Creates durable switching costs through workflow and trust</a:t>
            </a:r>
            <a:endParaRPr b="0" i="0" sz="1150" u="none" cap="none" strike="noStrike">
              <a:solidFill>
                <a:schemeClr val="dk1"/>
              </a:solidFill>
              <a:latin typeface="Calibri"/>
              <a:ea typeface="Calibri"/>
              <a:cs typeface="Calibri"/>
              <a:sym typeface="Calibri"/>
            </a:endParaRPr>
          </a:p>
        </p:txBody>
      </p:sp>
      <p:cxnSp>
        <p:nvCxnSpPr>
          <p:cNvPr id="914" name="Google Shape;914;p22"/>
          <p:cNvCxnSpPr/>
          <p:nvPr/>
        </p:nvCxnSpPr>
        <p:spPr>
          <a:xfrm>
            <a:off x="402336" y="3346704"/>
            <a:ext cx="3995928" cy="0"/>
          </a:xfrm>
          <a:prstGeom prst="straightConnector1">
            <a:avLst/>
          </a:prstGeom>
          <a:noFill/>
          <a:ln cap="flat" cmpd="sng" w="9525">
            <a:solidFill>
              <a:srgbClr val="2E5070"/>
            </a:solidFill>
            <a:prstDash val="solid"/>
            <a:round/>
            <a:headEnd len="sm" w="sm" type="none"/>
            <a:tailEnd len="sm" w="sm" type="none"/>
          </a:ln>
        </p:spPr>
      </p:cxnSp>
      <p:sp>
        <p:nvSpPr>
          <p:cNvPr id="915" name="Google Shape;915;p22"/>
          <p:cNvSpPr/>
          <p:nvPr/>
        </p:nvSpPr>
        <p:spPr>
          <a:xfrm>
            <a:off x="402336" y="3293030"/>
            <a:ext cx="3996000" cy="100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8C4DC"/>
              </a:buClr>
              <a:buSzPts val="800"/>
              <a:buFont typeface="Calibri"/>
              <a:buNone/>
            </a:pPr>
            <a:r>
              <a:rPr b="0" i="0" lang="en-US" sz="1000" u="none" cap="none" strike="noStrike">
                <a:solidFill>
                  <a:srgbClr val="A8C4DC"/>
                </a:solidFill>
                <a:latin typeface="Calibri"/>
                <a:ea typeface="Calibri"/>
                <a:cs typeface="Calibri"/>
                <a:sym typeface="Calibri"/>
              </a:rPr>
              <a:t>Once embedded: planning cycles depend on Partcast outputs, S&amp;OP processes align around its recommendations, historical decisions and rationale are stored within the system. Switching away means losing accumulated learning, audit history, and decision context.</a:t>
            </a:r>
            <a:endParaRPr b="0" i="0" sz="1000" u="none" cap="none" strike="noStrike">
              <a:solidFill>
                <a:schemeClr val="dk1"/>
              </a:solidFill>
              <a:latin typeface="Calibri"/>
              <a:ea typeface="Calibri"/>
              <a:cs typeface="Calibri"/>
              <a:sym typeface="Calibri"/>
            </a:endParaRPr>
          </a:p>
        </p:txBody>
      </p:sp>
      <p:sp>
        <p:nvSpPr>
          <p:cNvPr id="916" name="Google Shape;916;p22"/>
          <p:cNvSpPr/>
          <p:nvPr/>
        </p:nvSpPr>
        <p:spPr>
          <a:xfrm>
            <a:off x="4709165" y="2743200"/>
            <a:ext cx="4251900" cy="1555800"/>
          </a:xfrm>
          <a:prstGeom prst="rect">
            <a:avLst/>
          </a:prstGeom>
          <a:solidFill>
            <a:srgbClr val="2A4E72"/>
          </a:solidFill>
          <a:ln cap="flat" cmpd="sng" w="9525">
            <a:solidFill>
              <a:srgbClr val="2E5070"/>
            </a:solidFill>
            <a:prstDash val="solid"/>
            <a:round/>
            <a:headEnd len="sm" w="sm" type="none"/>
            <a:tailEnd len="sm" w="sm" type="none"/>
          </a:ln>
          <a:effectLst>
            <a:outerShdw blurRad="1016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2"/>
          <p:cNvSpPr/>
          <p:nvPr/>
        </p:nvSpPr>
        <p:spPr>
          <a:xfrm>
            <a:off x="4709160" y="2743200"/>
            <a:ext cx="4251960" cy="548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2"/>
          <p:cNvSpPr/>
          <p:nvPr/>
        </p:nvSpPr>
        <p:spPr>
          <a:xfrm>
            <a:off x="8458200" y="2816352"/>
            <a:ext cx="411480" cy="5029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A4E72"/>
              </a:buClr>
              <a:buSzPts val="3600"/>
              <a:buFont typeface="Calibri"/>
              <a:buNone/>
            </a:pPr>
            <a:r>
              <a:rPr b="1" i="0" lang="en-US" sz="3600" u="none" cap="none" strike="noStrike">
                <a:solidFill>
                  <a:srgbClr val="2A4E72"/>
                </a:solidFill>
                <a:latin typeface="Calibri"/>
                <a:ea typeface="Calibri"/>
                <a:cs typeface="Calibri"/>
                <a:sym typeface="Calibri"/>
              </a:rPr>
              <a:t>5</a:t>
            </a:r>
            <a:endParaRPr b="0" i="0" sz="3600" u="none" cap="none" strike="noStrike">
              <a:solidFill>
                <a:schemeClr val="dk1"/>
              </a:solidFill>
              <a:latin typeface="Calibri"/>
              <a:ea typeface="Calibri"/>
              <a:cs typeface="Calibri"/>
              <a:sym typeface="Calibri"/>
            </a:endParaRPr>
          </a:p>
        </p:txBody>
      </p:sp>
      <p:sp>
        <p:nvSpPr>
          <p:cNvPr id="919" name="Google Shape;919;p22"/>
          <p:cNvSpPr/>
          <p:nvPr/>
        </p:nvSpPr>
        <p:spPr>
          <a:xfrm>
            <a:off x="4837176" y="2852928"/>
            <a:ext cx="3630168" cy="43891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950"/>
              <a:buFont typeface="Calibri"/>
              <a:buNone/>
            </a:pPr>
            <a:r>
              <a:rPr b="1" i="0" lang="en-US" sz="1150" u="none" cap="none" strike="noStrike">
                <a:solidFill>
                  <a:srgbClr val="FFFFFF"/>
                </a:solidFill>
                <a:latin typeface="Calibri"/>
                <a:ea typeface="Calibri"/>
                <a:cs typeface="Calibri"/>
                <a:sym typeface="Calibri"/>
              </a:rPr>
              <a:t>Expands from wedge to platform</a:t>
            </a:r>
            <a:endParaRPr b="0" i="0" sz="1150" u="none" cap="none" strike="noStrike">
              <a:solidFill>
                <a:schemeClr val="dk1"/>
              </a:solidFill>
              <a:latin typeface="Calibri"/>
              <a:ea typeface="Calibri"/>
              <a:cs typeface="Calibri"/>
              <a:sym typeface="Calibri"/>
            </a:endParaRPr>
          </a:p>
        </p:txBody>
      </p:sp>
      <p:cxnSp>
        <p:nvCxnSpPr>
          <p:cNvPr id="920" name="Google Shape;920;p22"/>
          <p:cNvCxnSpPr/>
          <p:nvPr/>
        </p:nvCxnSpPr>
        <p:spPr>
          <a:xfrm>
            <a:off x="4837176" y="3346704"/>
            <a:ext cx="3995928" cy="0"/>
          </a:xfrm>
          <a:prstGeom prst="straightConnector1">
            <a:avLst/>
          </a:prstGeom>
          <a:noFill/>
          <a:ln cap="flat" cmpd="sng" w="9525">
            <a:solidFill>
              <a:srgbClr val="2E5070"/>
            </a:solidFill>
            <a:prstDash val="solid"/>
            <a:round/>
            <a:headEnd len="sm" w="sm" type="none"/>
            <a:tailEnd len="sm" w="sm" type="none"/>
          </a:ln>
        </p:spPr>
      </p:cxnSp>
      <p:sp>
        <p:nvSpPr>
          <p:cNvPr id="921" name="Google Shape;921;p22"/>
          <p:cNvSpPr/>
          <p:nvPr/>
        </p:nvSpPr>
        <p:spPr>
          <a:xfrm>
            <a:off x="4837176" y="3293030"/>
            <a:ext cx="3996000" cy="100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8C4DC"/>
              </a:buClr>
              <a:buSzPts val="800"/>
              <a:buFont typeface="Calibri"/>
              <a:buNone/>
            </a:pPr>
            <a:r>
              <a:rPr b="0" i="0" lang="en-US" sz="1000" u="none" cap="none" strike="noStrike">
                <a:solidFill>
                  <a:srgbClr val="A8C4DC"/>
                </a:solidFill>
                <a:latin typeface="Calibri"/>
                <a:ea typeface="Calibri"/>
                <a:cs typeface="Calibri"/>
                <a:sym typeface="Calibri"/>
              </a:rPr>
              <a:t>Starting with demand review, Partcast expands into supply matching and AOG risk management, S&amp;OP decision support, and continuous, agent-driven planning. This creates a path from single workflow to core planning platform.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